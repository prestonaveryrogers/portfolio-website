
<file path=[Content_Types].xml><?xml version="1.0" encoding="utf-8"?>
<Types xmlns="http://schemas.openxmlformats.org/package/2006/content-types">
  <Default Extension="emf" ContentType="image/x-emf"/>
  <Default Extension="gif" ContentType="image/gif"/>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39" r:id="rId4"/>
    <p:sldMasterId id="2147483792" r:id="rId5"/>
  </p:sldMasterIdLst>
  <p:notesMasterIdLst>
    <p:notesMasterId r:id="rId27"/>
  </p:notesMasterIdLst>
  <p:handoutMasterIdLst>
    <p:handoutMasterId r:id="rId28"/>
  </p:handoutMasterIdLst>
  <p:sldIdLst>
    <p:sldId id="36969" r:id="rId6"/>
    <p:sldId id="2098149153" r:id="rId7"/>
    <p:sldId id="2098149156" r:id="rId8"/>
    <p:sldId id="2098149243" r:id="rId9"/>
    <p:sldId id="2098149158" r:id="rId10"/>
    <p:sldId id="2098149150" r:id="rId11"/>
    <p:sldId id="2098149242" r:id="rId12"/>
    <p:sldId id="2098149155" r:id="rId13"/>
    <p:sldId id="2098149651" r:id="rId14"/>
    <p:sldId id="2098149652" r:id="rId15"/>
    <p:sldId id="2098149140" r:id="rId16"/>
    <p:sldId id="2098149146" r:id="rId17"/>
    <p:sldId id="2098149238" r:id="rId18"/>
    <p:sldId id="2098149239" r:id="rId19"/>
    <p:sldId id="2098149144" r:id="rId20"/>
    <p:sldId id="2098149143" r:id="rId21"/>
    <p:sldId id="2098149145" r:id="rId22"/>
    <p:sldId id="2098149147" r:id="rId23"/>
    <p:sldId id="6607" r:id="rId24"/>
    <p:sldId id="6606" r:id="rId25"/>
    <p:sldId id="6608"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3E5A8E9-A561-4B5B-8FA1-F048E52F9892}">
          <p14:sldIdLst>
            <p14:sldId id="36969"/>
            <p14:sldId id="2098149153"/>
            <p14:sldId id="2098149156"/>
            <p14:sldId id="2098149243"/>
            <p14:sldId id="2098149158"/>
            <p14:sldId id="2098149150"/>
            <p14:sldId id="2098149242"/>
            <p14:sldId id="2098149155"/>
            <p14:sldId id="2098149651"/>
            <p14:sldId id="2098149652"/>
            <p14:sldId id="2098149140"/>
            <p14:sldId id="2098149146"/>
            <p14:sldId id="2098149238"/>
            <p14:sldId id="2098149239"/>
            <p14:sldId id="2098149144"/>
            <p14:sldId id="2098149143"/>
            <p14:sldId id="2098149145"/>
            <p14:sldId id="2098149147"/>
            <p14:sldId id="6607"/>
            <p14:sldId id="6606"/>
            <p14:sldId id="660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reen, William M (US 352A)" initials="GWM(3" lastIdx="1" clrIdx="0">
    <p:extLst>
      <p:ext uri="{19B8F6BF-5375-455C-9EA6-DF929625EA0E}">
        <p15:presenceInfo xmlns:p15="http://schemas.microsoft.com/office/powerpoint/2012/main" userId="S-1-5-21-1608413684-1126320247-1535859923-10318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A91FB"/>
    <a:srgbClr val="D30606"/>
    <a:srgbClr val="FFFFFF"/>
    <a:srgbClr val="093C8E"/>
    <a:srgbClr val="CCCC00"/>
    <a:srgbClr val="F29000"/>
    <a:srgbClr val="D10100"/>
    <a:srgbClr val="416EED"/>
    <a:srgbClr val="FF0000"/>
    <a:srgbClr val="D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981" autoAdjust="0"/>
    <p:restoredTop sz="94694"/>
  </p:normalViewPr>
  <p:slideViewPr>
    <p:cSldViewPr snapToGrid="0">
      <p:cViewPr varScale="1">
        <p:scale>
          <a:sx n="171" d="100"/>
          <a:sy n="171" d="100"/>
        </p:scale>
        <p:origin x="132" y="204"/>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handoutMaster" Target="handoutMasters/handout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 Target="slides/slide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2124117-2056-F04A-9DC1-DAF80AA3809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E5C68E7-4825-434A-9CDF-FD932A5E49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4D5ABFE-584F-F04D-BC99-C1ACD68CCFEE}" type="datetimeFigureOut">
              <a:rPr lang="en-US" smtClean="0"/>
              <a:t>12/7/2023</a:t>
            </a:fld>
            <a:endParaRPr lang="en-US"/>
          </a:p>
        </p:txBody>
      </p:sp>
      <p:sp>
        <p:nvSpPr>
          <p:cNvPr id="4" name="Footer Placeholder 3">
            <a:extLst>
              <a:ext uri="{FF2B5EF4-FFF2-40B4-BE49-F238E27FC236}">
                <a16:creationId xmlns:a16="http://schemas.microsoft.com/office/drawing/2014/main" id="{CC90449E-2ACE-1F45-B81D-525049DE911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Presentation Title</a:t>
            </a:r>
          </a:p>
        </p:txBody>
      </p:sp>
      <p:sp>
        <p:nvSpPr>
          <p:cNvPr id="5" name="Slide Number Placeholder 4">
            <a:extLst>
              <a:ext uri="{FF2B5EF4-FFF2-40B4-BE49-F238E27FC236}">
                <a16:creationId xmlns:a16="http://schemas.microsoft.com/office/drawing/2014/main" id="{3A261855-0205-944B-B8ED-2F08B876EAB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63CDCC0-C608-3C4D-970A-3912D6692722}" type="slidenum">
              <a:rPr lang="en-US" smtClean="0"/>
              <a:t>‹#›</a:t>
            </a:fld>
            <a:endParaRPr lang="en-US"/>
          </a:p>
        </p:txBody>
      </p:sp>
    </p:spTree>
    <p:extLst>
      <p:ext uri="{BB962C8B-B14F-4D97-AF65-F5344CB8AC3E}">
        <p14:creationId xmlns:p14="http://schemas.microsoft.com/office/powerpoint/2010/main" val="3345832633"/>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5BAD06-80BF-B747-B2B2-2646110899A4}" type="datetimeFigureOut">
              <a:rPr lang="en-US" smtClean="0"/>
              <a:t>12/7/2023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Presentation Title</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8E94A1-7C40-8946-AD2E-519DF92826D0}" type="slidenum">
              <a:rPr lang="en-US" smtClean="0"/>
              <a:t>‹#›</a:t>
            </a:fld>
            <a:endParaRPr lang="en-US"/>
          </a:p>
        </p:txBody>
      </p:sp>
    </p:spTree>
    <p:extLst>
      <p:ext uri="{BB962C8B-B14F-4D97-AF65-F5344CB8AC3E}">
        <p14:creationId xmlns:p14="http://schemas.microsoft.com/office/powerpoint/2010/main" val="1098769857"/>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64Hz with 6RTI delay met stability margins at exactly this pose.</a:t>
            </a:r>
          </a:p>
        </p:txBody>
      </p:sp>
      <p:sp>
        <p:nvSpPr>
          <p:cNvPr id="4" name="Footer Placeholder 3"/>
          <p:cNvSpPr>
            <a:spLocks noGrp="1"/>
          </p:cNvSpPr>
          <p:nvPr>
            <p:ph type="ftr" sz="quarter" idx="4"/>
          </p:nvPr>
        </p:nvSpPr>
        <p:spPr/>
        <p:txBody>
          <a:bodyPr/>
          <a:lstStyle/>
          <a:p>
            <a:r>
              <a:rPr lang="en-US"/>
              <a:t>Presentation Title</a:t>
            </a:r>
          </a:p>
        </p:txBody>
      </p:sp>
      <p:sp>
        <p:nvSpPr>
          <p:cNvPr id="5" name="Slide Number Placeholder 4"/>
          <p:cNvSpPr>
            <a:spLocks noGrp="1"/>
          </p:cNvSpPr>
          <p:nvPr>
            <p:ph type="sldNum" sz="quarter" idx="5"/>
          </p:nvPr>
        </p:nvSpPr>
        <p:spPr/>
        <p:txBody>
          <a:bodyPr/>
          <a:lstStyle/>
          <a:p>
            <a:fld id="{988E94A1-7C40-8946-AD2E-519DF92826D0}" type="slidenum">
              <a:rPr lang="en-US" smtClean="0"/>
              <a:t>6</a:t>
            </a:fld>
            <a:endParaRPr lang="en-US"/>
          </a:p>
        </p:txBody>
      </p:sp>
    </p:spTree>
    <p:extLst>
      <p:ext uri="{BB962C8B-B14F-4D97-AF65-F5344CB8AC3E}">
        <p14:creationId xmlns:p14="http://schemas.microsoft.com/office/powerpoint/2010/main" val="12422531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Relevant comment, step 2 could actually be done with “Force Regulation” just as easily as Active Compliance, which would eliminate one of our two control modes and simplify to just “Force Regulation”, which is really just heritage enforced deflection done slightly faster</a:t>
            </a:r>
          </a:p>
        </p:txBody>
      </p:sp>
      <p:sp>
        <p:nvSpPr>
          <p:cNvPr id="4" name="Footer Placeholder 3"/>
          <p:cNvSpPr>
            <a:spLocks noGrp="1"/>
          </p:cNvSpPr>
          <p:nvPr>
            <p:ph type="ftr" sz="quarter" idx="4"/>
          </p:nvPr>
        </p:nvSpPr>
        <p:spPr/>
        <p:txBody>
          <a:bodyPr/>
          <a:lstStyle/>
          <a:p>
            <a:r>
              <a:rPr lang="en-US"/>
              <a:t>Presentation Title</a:t>
            </a:r>
          </a:p>
        </p:txBody>
      </p:sp>
      <p:sp>
        <p:nvSpPr>
          <p:cNvPr id="5" name="Slide Number Placeholder 4"/>
          <p:cNvSpPr>
            <a:spLocks noGrp="1"/>
          </p:cNvSpPr>
          <p:nvPr>
            <p:ph type="sldNum" sz="quarter" idx="5"/>
          </p:nvPr>
        </p:nvSpPr>
        <p:spPr/>
        <p:txBody>
          <a:bodyPr/>
          <a:lstStyle/>
          <a:p>
            <a:fld id="{988E94A1-7C40-8946-AD2E-519DF92826D0}" type="slidenum">
              <a:rPr lang="en-US" smtClean="0"/>
              <a:t>9</a:t>
            </a:fld>
            <a:endParaRPr lang="en-US"/>
          </a:p>
        </p:txBody>
      </p:sp>
    </p:spTree>
    <p:extLst>
      <p:ext uri="{BB962C8B-B14F-4D97-AF65-F5344CB8AC3E}">
        <p14:creationId xmlns:p14="http://schemas.microsoft.com/office/powerpoint/2010/main" val="21915630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r>
              <a:rPr lang="en-US"/>
              <a:t>Presentation Title</a:t>
            </a:r>
          </a:p>
        </p:txBody>
      </p:sp>
      <p:sp>
        <p:nvSpPr>
          <p:cNvPr id="5" name="Slide Number Placeholder 4"/>
          <p:cNvSpPr>
            <a:spLocks noGrp="1"/>
          </p:cNvSpPr>
          <p:nvPr>
            <p:ph type="sldNum" sz="quarter" idx="5"/>
          </p:nvPr>
        </p:nvSpPr>
        <p:spPr/>
        <p:txBody>
          <a:bodyPr/>
          <a:lstStyle/>
          <a:p>
            <a:fld id="{988E94A1-7C40-8946-AD2E-519DF92826D0}" type="slidenum">
              <a:rPr lang="en-US" smtClean="0"/>
              <a:t>14</a:t>
            </a:fld>
            <a:endParaRPr lang="en-US"/>
          </a:p>
        </p:txBody>
      </p:sp>
    </p:spTree>
    <p:extLst>
      <p:ext uri="{BB962C8B-B14F-4D97-AF65-F5344CB8AC3E}">
        <p14:creationId xmlns:p14="http://schemas.microsoft.com/office/powerpoint/2010/main" val="375461202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310.png"/><Relationship Id="rId1" Type="http://schemas.openxmlformats.org/officeDocument/2006/relationships/slideMaster" Target="../slideMasters/slideMaster2.xml"/><Relationship Id="rId6" Type="http://schemas.openxmlformats.org/officeDocument/2006/relationships/image" Target="../media/image70.png"/><Relationship Id="rId5" Type="http://schemas.openxmlformats.org/officeDocument/2006/relationships/image" Target="../media/image6.png"/><Relationship Id="rId4" Type="http://schemas.openxmlformats.org/officeDocument/2006/relationships/image" Target="../media/image50.png"/></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slideMaster" Target="../slideMasters/slideMaster2.xml"/><Relationship Id="rId6" Type="http://schemas.openxmlformats.org/officeDocument/2006/relationships/image" Target="../media/image70.png"/><Relationship Id="rId11" Type="http://schemas.openxmlformats.org/officeDocument/2006/relationships/image" Target="../media/image16.png"/><Relationship Id="rId5" Type="http://schemas.openxmlformats.org/officeDocument/2006/relationships/image" Target="../media/image11.png"/><Relationship Id="rId10" Type="http://schemas.openxmlformats.org/officeDocument/2006/relationships/image" Target="../media/image15.png"/><Relationship Id="rId4" Type="http://schemas.openxmlformats.org/officeDocument/2006/relationships/image" Target="../media/image100.png"/><Relationship Id="rId9" Type="http://schemas.openxmlformats.org/officeDocument/2006/relationships/image" Target="../media/image14.png"/></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22.png"/><Relationship Id="rId3" Type="http://schemas.openxmlformats.org/officeDocument/2006/relationships/image" Target="../media/image9.png"/><Relationship Id="rId7" Type="http://schemas.openxmlformats.org/officeDocument/2006/relationships/image" Target="../media/image17.png"/><Relationship Id="rId12" Type="http://schemas.openxmlformats.org/officeDocument/2006/relationships/image" Target="../media/image21.png"/><Relationship Id="rId2" Type="http://schemas.openxmlformats.org/officeDocument/2006/relationships/image" Target="../media/image8.png"/><Relationship Id="rId1" Type="http://schemas.openxmlformats.org/officeDocument/2006/relationships/slideMaster" Target="../slideMasters/slideMaster2.xml"/><Relationship Id="rId6" Type="http://schemas.openxmlformats.org/officeDocument/2006/relationships/image" Target="../media/image70.png"/><Relationship Id="rId11" Type="http://schemas.openxmlformats.org/officeDocument/2006/relationships/image" Target="../media/image20.png"/><Relationship Id="rId5" Type="http://schemas.openxmlformats.org/officeDocument/2006/relationships/image" Target="../media/image11.png"/><Relationship Id="rId10" Type="http://schemas.openxmlformats.org/officeDocument/2006/relationships/image" Target="../media/image19.png"/><Relationship Id="rId4" Type="http://schemas.openxmlformats.org/officeDocument/2006/relationships/image" Target="../media/image100.png"/><Relationship Id="rId9" Type="http://schemas.openxmlformats.org/officeDocument/2006/relationships/image" Target="../media/image18.png"/><Relationship Id="rId14" Type="http://schemas.openxmlformats.org/officeDocument/2006/relationships/image" Target="../media/image23.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24.png"/><Relationship Id="rId1" Type="http://schemas.openxmlformats.org/officeDocument/2006/relationships/slideMaster" Target="../slideMasters/slideMaster2.xml"/><Relationship Id="rId4" Type="http://schemas.openxmlformats.org/officeDocument/2006/relationships/image" Target="../media/image25.gi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_Slide">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F44AE38C-0FAA-4413-9162-AEA75E3ABAC2}"/>
              </a:ext>
            </a:extLst>
          </p:cNvPr>
          <p:cNvPicPr>
            <a:picLocks noChangeAspect="1"/>
          </p:cNvPicPr>
          <p:nvPr userDrawn="1"/>
        </p:nvPicPr>
        <p:blipFill>
          <a:blip r:embed="rId2"/>
          <a:stretch>
            <a:fillRect/>
          </a:stretch>
        </p:blipFill>
        <p:spPr>
          <a:xfrm>
            <a:off x="0" y="0"/>
            <a:ext cx="9141291" cy="5143500"/>
          </a:xfrm>
          <a:prstGeom prst="rect">
            <a:avLst/>
          </a:prstGeom>
        </p:spPr>
      </p:pic>
      <p:sp>
        <p:nvSpPr>
          <p:cNvPr id="4" name="Rectangle">
            <a:extLst>
              <a:ext uri="{FF2B5EF4-FFF2-40B4-BE49-F238E27FC236}">
                <a16:creationId xmlns:a16="http://schemas.microsoft.com/office/drawing/2014/main" id="{2C560D5A-6704-0193-551D-8314C24F8FDE}"/>
              </a:ext>
            </a:extLst>
          </p:cNvPr>
          <p:cNvSpPr/>
          <p:nvPr userDrawn="1"/>
        </p:nvSpPr>
        <p:spPr>
          <a:xfrm rot="10800000">
            <a:off x="0" y="5239631"/>
            <a:ext cx="12192000" cy="1684871"/>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5" name="Rectangle 4">
            <a:extLst>
              <a:ext uri="{FF2B5EF4-FFF2-40B4-BE49-F238E27FC236}">
                <a16:creationId xmlns:a16="http://schemas.microsoft.com/office/drawing/2014/main" id="{6E74CA93-F895-DE31-C4AA-00A2F70BB871}"/>
              </a:ext>
            </a:extLst>
          </p:cNvPr>
          <p:cNvSpPr/>
          <p:nvPr userDrawn="1"/>
        </p:nvSpPr>
        <p:spPr>
          <a:xfrm>
            <a:off x="3048" y="5131024"/>
            <a:ext cx="8275413" cy="147872"/>
          </a:xfrm>
          <a:prstGeom prst="rect">
            <a:avLst/>
          </a:prstGeom>
          <a:solidFill>
            <a:srgbClr val="0417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5">
            <a:extLst>
              <a:ext uri="{FF2B5EF4-FFF2-40B4-BE49-F238E27FC236}">
                <a16:creationId xmlns:a16="http://schemas.microsoft.com/office/drawing/2014/main" id="{67DD6AA0-88B1-FA3A-14A6-D8FB85A01063}"/>
              </a:ext>
            </a:extLst>
          </p:cNvPr>
          <p:cNvSpPr/>
          <p:nvPr userDrawn="1"/>
        </p:nvSpPr>
        <p:spPr>
          <a:xfrm>
            <a:off x="7082463" y="-1941"/>
            <a:ext cx="5109537" cy="6858000"/>
          </a:xfrm>
          <a:custGeom>
            <a:avLst/>
            <a:gdLst>
              <a:gd name="connsiteX0" fmla="*/ 0 w 5109537"/>
              <a:gd name="connsiteY0" fmla="*/ 0 h 6858000"/>
              <a:gd name="connsiteX1" fmla="*/ 1504946 w 5109537"/>
              <a:gd name="connsiteY1" fmla="*/ 0 h 6858000"/>
              <a:gd name="connsiteX2" fmla="*/ 4170245 w 5109537"/>
              <a:gd name="connsiteY2" fmla="*/ 0 h 6858000"/>
              <a:gd name="connsiteX3" fmla="*/ 5109537 w 5109537"/>
              <a:gd name="connsiteY3" fmla="*/ 0 h 6858000"/>
              <a:gd name="connsiteX4" fmla="*/ 5109537 w 5109537"/>
              <a:gd name="connsiteY4" fmla="*/ 6858000 h 6858000"/>
              <a:gd name="connsiteX5" fmla="*/ 4170245 w 5109537"/>
              <a:gd name="connsiteY5" fmla="*/ 6858000 h 6858000"/>
              <a:gd name="connsiteX6" fmla="*/ 1504946 w 5109537"/>
              <a:gd name="connsiteY6" fmla="*/ 6858000 h 6858000"/>
              <a:gd name="connsiteX7" fmla="*/ 0 w 5109537"/>
              <a:gd name="connsiteY7" fmla="*/ 6858000 h 6858000"/>
              <a:gd name="connsiteX8" fmla="*/ 1360722 w 5109537"/>
              <a:gd name="connsiteY8" fmla="*/ 3468091 h 6858000"/>
              <a:gd name="connsiteX9" fmla="*/ 0 w 5109537"/>
              <a:gd name="connsiteY9"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09537" h="6858000">
                <a:moveTo>
                  <a:pt x="0" y="0"/>
                </a:moveTo>
                <a:lnTo>
                  <a:pt x="1504946" y="0"/>
                </a:lnTo>
                <a:lnTo>
                  <a:pt x="4170245" y="0"/>
                </a:lnTo>
                <a:lnTo>
                  <a:pt x="5109537" y="0"/>
                </a:lnTo>
                <a:lnTo>
                  <a:pt x="5109537" y="6858000"/>
                </a:lnTo>
                <a:lnTo>
                  <a:pt x="4170245" y="6858000"/>
                </a:lnTo>
                <a:lnTo>
                  <a:pt x="1504946" y="6858000"/>
                </a:lnTo>
                <a:lnTo>
                  <a:pt x="0" y="6858000"/>
                </a:lnTo>
                <a:cubicBezTo>
                  <a:pt x="460914" y="6858000"/>
                  <a:pt x="1360722" y="5361585"/>
                  <a:pt x="1360722" y="3468091"/>
                </a:cubicBezTo>
                <a:cubicBezTo>
                  <a:pt x="1360722" y="1574597"/>
                  <a:pt x="460914" y="0"/>
                  <a:pt x="0" y="0"/>
                </a:cubicBezTo>
                <a:close/>
              </a:path>
            </a:pathLst>
          </a:custGeom>
          <a:solidFill>
            <a:srgbClr val="04324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Title 1">
            <a:extLst>
              <a:ext uri="{FF2B5EF4-FFF2-40B4-BE49-F238E27FC236}">
                <a16:creationId xmlns:a16="http://schemas.microsoft.com/office/drawing/2014/main" id="{AB1D45ED-9B70-752A-C468-459D07374E07}"/>
              </a:ext>
            </a:extLst>
          </p:cNvPr>
          <p:cNvSpPr>
            <a:spLocks noGrp="1"/>
          </p:cNvSpPr>
          <p:nvPr>
            <p:ph type="ctrTitle" hasCustomPrompt="1"/>
          </p:nvPr>
        </p:nvSpPr>
        <p:spPr>
          <a:xfrm>
            <a:off x="105043" y="5410824"/>
            <a:ext cx="7647479" cy="571007"/>
          </a:xfrm>
          <a:prstGeom prst="rect">
            <a:avLst/>
          </a:prstGeom>
          <a:ln>
            <a:noFill/>
          </a:ln>
        </p:spPr>
        <p:txBody>
          <a:bodyPr/>
          <a:lstStyle>
            <a:lvl1pPr marL="0" algn="l" defTabSz="914400" rtl="0" eaLnBrk="1" fontAlgn="base" latinLnBrk="0" hangingPunct="1">
              <a:spcBef>
                <a:spcPct val="0"/>
              </a:spcBef>
              <a:spcAft>
                <a:spcPct val="0"/>
              </a:spcAft>
              <a:defRPr lang="en-US" sz="4000" b="0" i="0"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1pPr>
          </a:lstStyle>
          <a:p>
            <a:r>
              <a:rPr lang="en-US"/>
              <a:t>Presentation Title</a:t>
            </a:r>
          </a:p>
        </p:txBody>
      </p:sp>
      <p:sp>
        <p:nvSpPr>
          <p:cNvPr id="8" name="Subtitle 2">
            <a:extLst>
              <a:ext uri="{FF2B5EF4-FFF2-40B4-BE49-F238E27FC236}">
                <a16:creationId xmlns:a16="http://schemas.microsoft.com/office/drawing/2014/main" id="{B0202230-F2CD-0A8E-7A20-6BF651622BF5}"/>
              </a:ext>
            </a:extLst>
          </p:cNvPr>
          <p:cNvSpPr>
            <a:spLocks noGrp="1"/>
          </p:cNvSpPr>
          <p:nvPr>
            <p:ph type="subTitle" idx="1" hasCustomPrompt="1"/>
          </p:nvPr>
        </p:nvSpPr>
        <p:spPr>
          <a:xfrm>
            <a:off x="8135668" y="5107670"/>
            <a:ext cx="3832585" cy="414936"/>
          </a:xfrm>
          <a:prstGeom prst="rect">
            <a:avLst/>
          </a:prstGeom>
          <a:ln>
            <a:noFill/>
          </a:ln>
        </p:spPr>
        <p:txBody>
          <a:bodyPr anchor="ctr">
            <a:noAutofit/>
          </a:bodyPr>
          <a:lstStyle>
            <a:lvl1pPr marL="0" indent="0" algn="r">
              <a:buNone/>
              <a:defRPr lang="en-US" sz="2800" b="0" i="0" kern="0" cap="none" spc="200" baseline="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Name</a:t>
            </a:r>
          </a:p>
        </p:txBody>
      </p:sp>
      <p:sp>
        <p:nvSpPr>
          <p:cNvPr id="10" name="Text Placeholder 2">
            <a:extLst>
              <a:ext uri="{FF2B5EF4-FFF2-40B4-BE49-F238E27FC236}">
                <a16:creationId xmlns:a16="http://schemas.microsoft.com/office/drawing/2014/main" id="{7404E887-F272-F7A6-9ED7-AE80D0811636}"/>
              </a:ext>
            </a:extLst>
          </p:cNvPr>
          <p:cNvSpPr>
            <a:spLocks noGrp="1"/>
          </p:cNvSpPr>
          <p:nvPr>
            <p:ph type="body" sz="quarter" idx="12" hasCustomPrompt="1"/>
          </p:nvPr>
        </p:nvSpPr>
        <p:spPr>
          <a:xfrm>
            <a:off x="7921487" y="5497667"/>
            <a:ext cx="4046768" cy="368754"/>
          </a:xfrm>
          <a:prstGeom prst="rect">
            <a:avLst/>
          </a:prstGeom>
        </p:spPr>
        <p:txBody>
          <a:bodyPr anchor="ctr">
            <a:noAutofit/>
          </a:bodyPr>
          <a:lstStyle>
            <a:lvl1pPr marL="0" indent="0" algn="r">
              <a:buNone/>
              <a:defRPr lang="en-US" sz="2400" b="0" i="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marL="0" lvl="0" indent="0" algn="r" rtl="0" eaLnBrk="1" fontAlgn="base" hangingPunct="1">
              <a:spcBef>
                <a:spcPct val="20000"/>
              </a:spcBef>
              <a:spcAft>
                <a:spcPct val="0"/>
              </a:spcAft>
              <a:buSzPct val="75000"/>
              <a:buNone/>
            </a:pPr>
            <a:r>
              <a:rPr lang="en-US"/>
              <a:t>Date</a:t>
            </a:r>
          </a:p>
        </p:txBody>
      </p:sp>
      <p:sp>
        <p:nvSpPr>
          <p:cNvPr id="11" name="Text Placeholder 5">
            <a:extLst>
              <a:ext uri="{FF2B5EF4-FFF2-40B4-BE49-F238E27FC236}">
                <a16:creationId xmlns:a16="http://schemas.microsoft.com/office/drawing/2014/main" id="{1AC4C519-12CA-B065-00A5-B81041B017EF}"/>
              </a:ext>
            </a:extLst>
          </p:cNvPr>
          <p:cNvSpPr>
            <a:spLocks noGrp="1"/>
          </p:cNvSpPr>
          <p:nvPr>
            <p:ph type="body" sz="quarter" idx="13" hasCustomPrompt="1"/>
          </p:nvPr>
        </p:nvSpPr>
        <p:spPr>
          <a:xfrm>
            <a:off x="7629600" y="6276599"/>
            <a:ext cx="4338653" cy="253088"/>
          </a:xfrm>
          <a:prstGeom prst="rect">
            <a:avLst/>
          </a:prstGeom>
        </p:spPr>
        <p:txBody>
          <a:bodyPr>
            <a:noAutofit/>
          </a:bodyPr>
          <a:lstStyle>
            <a:lvl1pPr marL="0" indent="0" algn="r">
              <a:buNone/>
              <a:defRPr lang="en-US" sz="1400" b="0" i="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marL="0" lvl="0" indent="0" algn="r" rtl="0" eaLnBrk="1" fontAlgn="base" hangingPunct="1">
              <a:spcBef>
                <a:spcPct val="20000"/>
              </a:spcBef>
              <a:spcAft>
                <a:spcPct val="0"/>
              </a:spcAft>
              <a:buSzPct val="75000"/>
              <a:buNone/>
            </a:pPr>
            <a:r>
              <a:rPr lang="en-US"/>
              <a:t>Alfresco Link (if applicable)</a:t>
            </a:r>
          </a:p>
        </p:txBody>
      </p:sp>
      <p:sp>
        <p:nvSpPr>
          <p:cNvPr id="13" name="Text Placeholder 13">
            <a:extLst>
              <a:ext uri="{FF2B5EF4-FFF2-40B4-BE49-F238E27FC236}">
                <a16:creationId xmlns:a16="http://schemas.microsoft.com/office/drawing/2014/main" id="{75F68089-C78E-A403-33B1-4C9821AB440B}"/>
              </a:ext>
            </a:extLst>
          </p:cNvPr>
          <p:cNvSpPr>
            <a:spLocks noGrp="1"/>
          </p:cNvSpPr>
          <p:nvPr>
            <p:ph type="body" sz="quarter" idx="14" hasCustomPrompt="1"/>
          </p:nvPr>
        </p:nvSpPr>
        <p:spPr>
          <a:xfrm>
            <a:off x="353221" y="6060763"/>
            <a:ext cx="7128099" cy="484187"/>
          </a:xfrm>
          <a:prstGeom prst="rect">
            <a:avLst/>
          </a:prstGeom>
        </p:spPr>
        <p:txBody>
          <a:bodyPr/>
          <a:lstStyle>
            <a:lvl1pPr marL="0" indent="0">
              <a:buNone/>
              <a:defRPr lang="en-US" sz="2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1pPr>
            <a:lvl2pPr marL="457200" indent="0">
              <a:buNone/>
              <a:defRPr lang="en-US" sz="1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2pPr>
            <a:lvl3pPr marL="914400" indent="0">
              <a:buNone/>
              <a:defRPr lang="en-US" sz="1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3pPr>
            <a:lvl4pPr marL="1371600" indent="0">
              <a:buNone/>
              <a:defRPr lang="en-US" sz="1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4pPr>
            <a:lvl5pPr marL="1828800" indent="0">
              <a:buNone/>
              <a:defRPr lang="en-US" sz="1400" b="0" i="0"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5pPr>
          </a:lstStyle>
          <a:p>
            <a:pPr lvl="0"/>
            <a:r>
              <a:rPr lang="en-US"/>
              <a:t>Subtitle</a:t>
            </a:r>
          </a:p>
        </p:txBody>
      </p:sp>
      <p:grpSp>
        <p:nvGrpSpPr>
          <p:cNvPr id="14" name="Group 13">
            <a:extLst>
              <a:ext uri="{FF2B5EF4-FFF2-40B4-BE49-F238E27FC236}">
                <a16:creationId xmlns:a16="http://schemas.microsoft.com/office/drawing/2014/main" id="{C87A6FD0-2815-0B85-43F8-511CCB091673}"/>
              </a:ext>
            </a:extLst>
          </p:cNvPr>
          <p:cNvGrpSpPr/>
          <p:nvPr userDrawn="1"/>
        </p:nvGrpSpPr>
        <p:grpSpPr>
          <a:xfrm>
            <a:off x="8135669" y="314380"/>
            <a:ext cx="4823051" cy="4414815"/>
            <a:chOff x="8135669" y="372569"/>
            <a:chExt cx="4823051" cy="4414815"/>
          </a:xfrm>
        </p:grpSpPr>
        <p:sp>
          <p:nvSpPr>
            <p:cNvPr id="15" name="Title 1">
              <a:extLst>
                <a:ext uri="{FF2B5EF4-FFF2-40B4-BE49-F238E27FC236}">
                  <a16:creationId xmlns:a16="http://schemas.microsoft.com/office/drawing/2014/main" id="{6CF0B1C5-0252-B69B-E217-045942A52902}"/>
                </a:ext>
              </a:extLst>
            </p:cNvPr>
            <p:cNvSpPr txBox="1">
              <a:spLocks/>
            </p:cNvSpPr>
            <p:nvPr userDrawn="1"/>
          </p:nvSpPr>
          <p:spPr bwMode="auto">
            <a:xfrm>
              <a:off x="8458895" y="372569"/>
              <a:ext cx="2815962" cy="153924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l">
                <a:lnSpc>
                  <a:spcPts val="1800"/>
                </a:lnSpc>
                <a:spcBef>
                  <a:spcPts val="0"/>
                </a:spcBef>
              </a:pPr>
              <a:r>
                <a:rPr lang="en-US" sz="2000" b="1" i="0" kern="0" spc="0" baseline="0" dirty="0">
                  <a:solidFill>
                    <a:schemeClr val="bg1"/>
                  </a:solidFill>
                  <a:latin typeface="Microgramma D Extended" pitchFamily="2" charset="77"/>
                  <a:ea typeface="Helvetica Neue" panose="02000503000000020004" pitchFamily="2" charset="0"/>
                  <a:cs typeface="Helvetica Neue" panose="02000503000000020004" pitchFamily="2" charset="0"/>
                </a:rPr>
                <a:t>MARS</a:t>
              </a:r>
            </a:p>
            <a:p>
              <a:pPr algn="l">
                <a:lnSpc>
                  <a:spcPts val="1800"/>
                </a:lnSpc>
                <a:spcBef>
                  <a:spcPts val="0"/>
                </a:spcBef>
              </a:pPr>
              <a:r>
                <a:rPr lang="en-US" sz="2000" b="1" i="0" kern="0" spc="0" baseline="0" dirty="0">
                  <a:solidFill>
                    <a:schemeClr val="bg1"/>
                  </a:solidFill>
                  <a:latin typeface="Microgramma D Extended" pitchFamily="2" charset="77"/>
                  <a:ea typeface="Helvetica Neue" panose="02000503000000020004" pitchFamily="2" charset="0"/>
                  <a:cs typeface="Helvetica Neue" panose="02000503000000020004" pitchFamily="2" charset="0"/>
                </a:rPr>
                <a:t>SAMPLE</a:t>
              </a:r>
            </a:p>
            <a:p>
              <a:pPr algn="l">
                <a:lnSpc>
                  <a:spcPts val="1800"/>
                </a:lnSpc>
                <a:spcBef>
                  <a:spcPts val="0"/>
                </a:spcBef>
              </a:pPr>
              <a:r>
                <a:rPr lang="en-US" sz="2000" b="1" i="0" kern="0" spc="0" baseline="0" dirty="0">
                  <a:solidFill>
                    <a:schemeClr val="bg1"/>
                  </a:solidFill>
                  <a:latin typeface="Microgramma D Extended" pitchFamily="2" charset="77"/>
                  <a:ea typeface="Helvetica Neue" panose="02000503000000020004" pitchFamily="2" charset="0"/>
                  <a:cs typeface="Helvetica Neue" panose="02000503000000020004" pitchFamily="2" charset="0"/>
                </a:rPr>
                <a:t>RETURN</a:t>
              </a:r>
            </a:p>
          </p:txBody>
        </p:sp>
        <p:grpSp>
          <p:nvGrpSpPr>
            <p:cNvPr id="16" name="Group 15">
              <a:extLst>
                <a:ext uri="{FF2B5EF4-FFF2-40B4-BE49-F238E27FC236}">
                  <a16:creationId xmlns:a16="http://schemas.microsoft.com/office/drawing/2014/main" id="{85C385F8-4A32-4FCE-7F7F-BC06E91B00CC}"/>
                </a:ext>
              </a:extLst>
            </p:cNvPr>
            <p:cNvGrpSpPr/>
            <p:nvPr userDrawn="1"/>
          </p:nvGrpSpPr>
          <p:grpSpPr>
            <a:xfrm>
              <a:off x="8135669" y="374511"/>
              <a:ext cx="4823051" cy="4412873"/>
              <a:chOff x="8135669" y="533535"/>
              <a:chExt cx="4823051" cy="4412873"/>
            </a:xfrm>
          </p:grpSpPr>
          <p:sp>
            <p:nvSpPr>
              <p:cNvPr id="21" name="Title 1">
                <a:extLst>
                  <a:ext uri="{FF2B5EF4-FFF2-40B4-BE49-F238E27FC236}">
                    <a16:creationId xmlns:a16="http://schemas.microsoft.com/office/drawing/2014/main" id="{89D8C392-4A8B-22D0-C7F4-1606B114CB28}"/>
                  </a:ext>
                </a:extLst>
              </p:cNvPr>
              <p:cNvSpPr txBox="1">
                <a:spLocks/>
              </p:cNvSpPr>
              <p:nvPr userDrawn="1"/>
            </p:nvSpPr>
            <p:spPr bwMode="auto">
              <a:xfrm>
                <a:off x="8135669" y="3561287"/>
                <a:ext cx="4338761" cy="138512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marL="0" algn="ctr" defTabSz="914400" rtl="0" eaLnBrk="1" fontAlgn="base" latinLnBrk="0" hangingPunct="1">
                  <a:lnSpc>
                    <a:spcPts val="2400"/>
                  </a:lnSpc>
                  <a:spcBef>
                    <a:spcPts val="0"/>
                  </a:spcBef>
                  <a:spcAft>
                    <a:spcPct val="0"/>
                  </a:spcAft>
                </a:pPr>
                <a:endParaRPr lang="en-US" sz="32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endParaRPr>
              </a:p>
            </p:txBody>
          </p:sp>
          <p:pic>
            <p:nvPicPr>
              <p:cNvPr id="23" name="Picture 22">
                <a:extLst>
                  <a:ext uri="{FF2B5EF4-FFF2-40B4-BE49-F238E27FC236}">
                    <a16:creationId xmlns:a16="http://schemas.microsoft.com/office/drawing/2014/main" id="{1BAE2A3F-364D-3109-F0C4-8B1D3EF6F492}"/>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9486369" y="1903513"/>
                <a:ext cx="1637359" cy="1569517"/>
              </a:xfrm>
              <a:prstGeom prst="rect">
                <a:avLst/>
              </a:prstGeom>
            </p:spPr>
          </p:pic>
          <p:grpSp>
            <p:nvGrpSpPr>
              <p:cNvPr id="27" name="Group 26">
                <a:extLst>
                  <a:ext uri="{FF2B5EF4-FFF2-40B4-BE49-F238E27FC236}">
                    <a16:creationId xmlns:a16="http://schemas.microsoft.com/office/drawing/2014/main" id="{3122EFA9-75A2-76C8-A8AA-43BF4667B507}"/>
                  </a:ext>
                </a:extLst>
              </p:cNvPr>
              <p:cNvGrpSpPr/>
              <p:nvPr userDrawn="1"/>
            </p:nvGrpSpPr>
            <p:grpSpPr>
              <a:xfrm>
                <a:off x="8418100" y="533535"/>
                <a:ext cx="4540620" cy="1539248"/>
                <a:chOff x="8418100" y="533535"/>
                <a:chExt cx="4540620" cy="1539248"/>
              </a:xfrm>
            </p:grpSpPr>
            <p:pic>
              <p:nvPicPr>
                <p:cNvPr id="28" name="Picture 27">
                  <a:extLst>
                    <a:ext uri="{FF2B5EF4-FFF2-40B4-BE49-F238E27FC236}">
                      <a16:creationId xmlns:a16="http://schemas.microsoft.com/office/drawing/2014/main" id="{BF5B5C35-D7FD-A35D-99F9-5C7EEE6B399C}"/>
                    </a:ext>
                  </a:extLst>
                </p:cNvPr>
                <p:cNvPicPr>
                  <a:picLocks noChangeAspect="1"/>
                </p:cNvPicPr>
                <p:nvPr userDrawn="1"/>
              </p:nvPicPr>
              <p:blipFill rotWithShape="1">
                <a:blip r:embed="rId4"/>
                <a:srcRect l="42971" b="73521"/>
                <a:stretch/>
              </p:blipFill>
              <p:spPr>
                <a:xfrm>
                  <a:off x="8418100" y="641036"/>
                  <a:ext cx="1521120" cy="291360"/>
                </a:xfrm>
                <a:prstGeom prst="rect">
                  <a:avLst/>
                </a:prstGeom>
              </p:spPr>
            </p:pic>
            <p:sp>
              <p:nvSpPr>
                <p:cNvPr id="29" name="Title 1">
                  <a:extLst>
                    <a:ext uri="{FF2B5EF4-FFF2-40B4-BE49-F238E27FC236}">
                      <a16:creationId xmlns:a16="http://schemas.microsoft.com/office/drawing/2014/main" id="{AE16F418-0661-46D9-F675-DDFA987C2945}"/>
                    </a:ext>
                  </a:extLst>
                </p:cNvPr>
                <p:cNvSpPr txBox="1">
                  <a:spLocks/>
                </p:cNvSpPr>
                <p:nvPr userDrawn="1"/>
              </p:nvSpPr>
              <p:spPr bwMode="auto">
                <a:xfrm>
                  <a:off x="10142758" y="533535"/>
                  <a:ext cx="2815962" cy="153924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RETRIEVAL</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LANDER</a:t>
                  </a:r>
                </a:p>
              </p:txBody>
            </p:sp>
          </p:grpSp>
        </p:grpSp>
      </p:grpSp>
      <p:sp>
        <p:nvSpPr>
          <p:cNvPr id="25" name="TextBox 24">
            <a:extLst>
              <a:ext uri="{FF2B5EF4-FFF2-40B4-BE49-F238E27FC236}">
                <a16:creationId xmlns:a16="http://schemas.microsoft.com/office/drawing/2014/main" id="{636FB7F3-95AF-1CFD-92A4-5528F7E1452A}"/>
              </a:ext>
            </a:extLst>
          </p:cNvPr>
          <p:cNvSpPr txBox="1"/>
          <p:nvPr userDrawn="1"/>
        </p:nvSpPr>
        <p:spPr>
          <a:xfrm>
            <a:off x="1989364" y="6662456"/>
            <a:ext cx="8213272" cy="200055"/>
          </a:xfrm>
          <a:prstGeom prst="rect">
            <a:avLst/>
          </a:prstGeom>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b="0" i="0" kern="1200">
                <a:solidFill>
                  <a:schemeClr val="bg1"/>
                </a:solidFill>
                <a:latin typeface="+mn-lt"/>
                <a:ea typeface="+mn-ea"/>
                <a:cs typeface="Arial Narrow" panose="020B0604020202020204" pitchFamily="34" charset="0"/>
              </a:rPr>
              <a:t>The technical data in this document is controlled under the U.S. Export Regulations; release to foreign persons may require an export authorization.</a:t>
            </a:r>
          </a:p>
        </p:txBody>
      </p:sp>
      <p:sp>
        <p:nvSpPr>
          <p:cNvPr id="31" name="Text Placeholder 30">
            <a:extLst>
              <a:ext uri="{FF2B5EF4-FFF2-40B4-BE49-F238E27FC236}">
                <a16:creationId xmlns:a16="http://schemas.microsoft.com/office/drawing/2014/main" id="{0EB82534-7DA4-4B8E-B297-D7F77F45373C}"/>
              </a:ext>
            </a:extLst>
          </p:cNvPr>
          <p:cNvSpPr>
            <a:spLocks noGrp="1"/>
          </p:cNvSpPr>
          <p:nvPr>
            <p:ph type="body" sz="quarter" idx="15" hasCustomPrompt="1"/>
          </p:nvPr>
        </p:nvSpPr>
        <p:spPr>
          <a:xfrm>
            <a:off x="8961438" y="3344863"/>
            <a:ext cx="2659062" cy="1568450"/>
          </a:xfrm>
          <a:prstGeom prst="rect">
            <a:avLst/>
          </a:prstGeom>
        </p:spPr>
        <p:txBody>
          <a:bodyPr anchor="ctr"/>
          <a:lstStyle>
            <a:lvl1pPr marL="0" indent="0" algn="ctr">
              <a:buNone/>
              <a:defRPr>
                <a:solidFill>
                  <a:schemeClr val="bg1"/>
                </a:solidFill>
                <a:latin typeface="Helvetica Neue Light" panose="02000403000000020004"/>
              </a:defRPr>
            </a:lvl1pPr>
            <a:lvl2pPr marL="457200" indent="0">
              <a:buNone/>
              <a:defRPr>
                <a:solidFill>
                  <a:schemeClr val="bg1"/>
                </a:solidFill>
                <a:latin typeface="Helvetica Neue Light" panose="02000403000000020004"/>
              </a:defRPr>
            </a:lvl2pPr>
            <a:lvl3pPr marL="914400" indent="0">
              <a:buNone/>
              <a:defRPr>
                <a:solidFill>
                  <a:schemeClr val="bg1"/>
                </a:solidFill>
                <a:latin typeface="Helvetica Neue Light" panose="02000403000000020004"/>
              </a:defRPr>
            </a:lvl3pPr>
            <a:lvl4pPr marL="1371600" indent="0">
              <a:buNone/>
              <a:defRPr>
                <a:solidFill>
                  <a:schemeClr val="bg1"/>
                </a:solidFill>
                <a:latin typeface="Helvetica Neue Light" panose="02000403000000020004"/>
              </a:defRPr>
            </a:lvl4pPr>
            <a:lvl5pPr marL="1828800" indent="0">
              <a:buNone/>
              <a:defRPr>
                <a:solidFill>
                  <a:schemeClr val="bg1"/>
                </a:solidFill>
                <a:latin typeface="Helvetica Neue Light" panose="02000403000000020004"/>
              </a:defRPr>
            </a:lvl5pPr>
          </a:lstStyle>
          <a:p>
            <a:pPr lvl="0"/>
            <a:r>
              <a:rPr lang="en-US"/>
              <a:t>Org/Subsystem</a:t>
            </a:r>
          </a:p>
        </p:txBody>
      </p:sp>
      <p:sp>
        <p:nvSpPr>
          <p:cNvPr id="33" name="Text Placeholder 32">
            <a:extLst>
              <a:ext uri="{FF2B5EF4-FFF2-40B4-BE49-F238E27FC236}">
                <a16:creationId xmlns:a16="http://schemas.microsoft.com/office/drawing/2014/main" id="{666DBD93-91DF-4387-91BD-E480DBAF46BD}"/>
              </a:ext>
            </a:extLst>
          </p:cNvPr>
          <p:cNvSpPr>
            <a:spLocks noGrp="1"/>
          </p:cNvSpPr>
          <p:nvPr>
            <p:ph type="body" sz="quarter" idx="16" hasCustomPrompt="1"/>
          </p:nvPr>
        </p:nvSpPr>
        <p:spPr>
          <a:xfrm>
            <a:off x="7854950" y="5865318"/>
            <a:ext cx="4113213" cy="436220"/>
          </a:xfrm>
          <a:prstGeom prst="rect">
            <a:avLst/>
          </a:prstGeom>
        </p:spPr>
        <p:txBody>
          <a:bodyPr/>
          <a:lstStyle>
            <a:lvl1pPr marL="0" indent="0" algn="r">
              <a:buNone/>
              <a:defRPr sz="2400">
                <a:solidFill>
                  <a:schemeClr val="bg1"/>
                </a:solidFill>
                <a:latin typeface="Helvetica Neue Light" panose="02000403000000020004"/>
              </a:defRPr>
            </a:lvl1pPr>
          </a:lstStyle>
          <a:p>
            <a:pPr lvl="0"/>
            <a:r>
              <a:rPr lang="en-US"/>
              <a:t>LRR #</a:t>
            </a:r>
          </a:p>
        </p:txBody>
      </p:sp>
    </p:spTree>
    <p:extLst>
      <p:ext uri="{BB962C8B-B14F-4D97-AF65-F5344CB8AC3E}">
        <p14:creationId xmlns:p14="http://schemas.microsoft.com/office/powerpoint/2010/main" val="25444691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Content_White">
    <p:spTree>
      <p:nvGrpSpPr>
        <p:cNvPr id="1" name=""/>
        <p:cNvGrpSpPr/>
        <p:nvPr/>
      </p:nvGrpSpPr>
      <p:grpSpPr>
        <a:xfrm>
          <a:off x="0" y="0"/>
          <a:ext cx="0" cy="0"/>
          <a:chOff x="0" y="0"/>
          <a:chExt cx="0" cy="0"/>
        </a:xfrm>
      </p:grpSpPr>
      <p:sp>
        <p:nvSpPr>
          <p:cNvPr id="11" name="Text Placeholder 5">
            <a:extLst>
              <a:ext uri="{FF2B5EF4-FFF2-40B4-BE49-F238E27FC236}">
                <a16:creationId xmlns:a16="http://schemas.microsoft.com/office/drawing/2014/main" id="{EC16571D-E859-6E81-4544-D50739D3CF43}"/>
              </a:ext>
            </a:extLst>
          </p:cNvPr>
          <p:cNvSpPr>
            <a:spLocks noGrp="1"/>
          </p:cNvSpPr>
          <p:nvPr>
            <p:ph type="body" sz="quarter" idx="17"/>
          </p:nvPr>
        </p:nvSpPr>
        <p:spPr>
          <a:xfrm>
            <a:off x="276224" y="1188630"/>
            <a:ext cx="11619213" cy="5253445"/>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a:extLst>
              <a:ext uri="{FF2B5EF4-FFF2-40B4-BE49-F238E27FC236}">
                <a16:creationId xmlns:a16="http://schemas.microsoft.com/office/drawing/2014/main" id="{234196D0-81BD-BBAF-F907-AE35B133A976}"/>
              </a:ext>
            </a:extLst>
          </p:cNvPr>
          <p:cNvSpPr/>
          <p:nvPr userDrawn="1"/>
        </p:nvSpPr>
        <p:spPr>
          <a:xfrm rot="10800000">
            <a:off x="0" y="708348"/>
            <a:ext cx="12192000" cy="54854"/>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8" name="Title 1">
            <a:extLst>
              <a:ext uri="{FF2B5EF4-FFF2-40B4-BE49-F238E27FC236}">
                <a16:creationId xmlns:a16="http://schemas.microsoft.com/office/drawing/2014/main" id="{6F99A813-7772-E0A6-7105-52C3B074B525}"/>
              </a:ext>
            </a:extLst>
          </p:cNvPr>
          <p:cNvSpPr>
            <a:spLocks noGrp="1"/>
          </p:cNvSpPr>
          <p:nvPr>
            <p:ph type="title"/>
          </p:nvPr>
        </p:nvSpPr>
        <p:spPr>
          <a:xfrm>
            <a:off x="276352" y="154160"/>
            <a:ext cx="10280279" cy="552594"/>
          </a:xfrm>
          <a:prstGeom prst="rect">
            <a:avLst/>
          </a:prstGeom>
        </p:spPr>
        <p:txBody>
          <a:bodyPr/>
          <a:lstStyle>
            <a:lvl1pPr>
              <a:defRPr sz="2800" b="1" i="0">
                <a:solidFill>
                  <a:schemeClr val="tx1"/>
                </a:solidFill>
                <a:latin typeface="+mj-lt"/>
                <a:ea typeface="Helvetica Neue" panose="02000503000000020004" pitchFamily="2" charset="0"/>
                <a:cs typeface="Helvetica Neue" panose="02000503000000020004" pitchFamily="2" charset="0"/>
              </a:defRPr>
            </a:lvl1pPr>
          </a:lstStyle>
          <a:p>
            <a:endParaRPr lang="en-US" dirty="0"/>
          </a:p>
        </p:txBody>
      </p:sp>
      <p:sp>
        <p:nvSpPr>
          <p:cNvPr id="3" name="Date Placeholder 2">
            <a:extLst>
              <a:ext uri="{FF2B5EF4-FFF2-40B4-BE49-F238E27FC236}">
                <a16:creationId xmlns:a16="http://schemas.microsoft.com/office/drawing/2014/main" id="{DBAE480F-46B2-0868-D262-A94070222F01}"/>
              </a:ext>
            </a:extLst>
          </p:cNvPr>
          <p:cNvSpPr>
            <a:spLocks noGrp="1"/>
          </p:cNvSpPr>
          <p:nvPr>
            <p:ph type="dt" sz="half" idx="18"/>
          </p:nvPr>
        </p:nvSpPr>
        <p:spPr/>
        <p:txBody>
          <a:bodyPr/>
          <a:lstStyle>
            <a:lvl1pPr>
              <a:defRPr>
                <a:solidFill>
                  <a:schemeClr val="accent2"/>
                </a:solidFill>
              </a:defRPr>
            </a:lvl1pPr>
          </a:lstStyle>
          <a:p>
            <a:r>
              <a:rPr lang="en-US"/>
              <a:t>DD/MM/YYYY</a:t>
            </a:r>
          </a:p>
        </p:txBody>
      </p:sp>
      <p:sp>
        <p:nvSpPr>
          <p:cNvPr id="4" name="Footer Placeholder 3">
            <a:extLst>
              <a:ext uri="{FF2B5EF4-FFF2-40B4-BE49-F238E27FC236}">
                <a16:creationId xmlns:a16="http://schemas.microsoft.com/office/drawing/2014/main" id="{707FD23D-174A-9A41-4E5E-77B09AA05BD1}"/>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DC2BCD1C-4A16-74E3-EC14-52F384D7695D}"/>
              </a:ext>
            </a:extLst>
          </p:cNvPr>
          <p:cNvSpPr>
            <a:spLocks noGrp="1"/>
          </p:cNvSpPr>
          <p:nvPr>
            <p:ph type="sldNum" sz="quarter" idx="20"/>
          </p:nvPr>
        </p:nvSpPr>
        <p:spPr/>
        <p:txBody>
          <a:bodyPr/>
          <a:lstStyle>
            <a:lvl1pPr>
              <a:defRPr>
                <a:solidFill>
                  <a:schemeClr val="accent2"/>
                </a:solidFill>
              </a:defRPr>
            </a:lvl1pPr>
          </a:lstStyle>
          <a:p>
            <a:fld id="{2D04F4CF-F641-6E4E-8F87-8EB8AA2BFA51}" type="slidenum">
              <a:rPr lang="en-US" smtClean="0"/>
              <a:pPr/>
              <a:t>‹#›</a:t>
            </a:fld>
            <a:endParaRPr lang="en-US"/>
          </a:p>
        </p:txBody>
      </p:sp>
      <p:grpSp>
        <p:nvGrpSpPr>
          <p:cNvPr id="23" name="Group 22">
            <a:extLst>
              <a:ext uri="{FF2B5EF4-FFF2-40B4-BE49-F238E27FC236}">
                <a16:creationId xmlns:a16="http://schemas.microsoft.com/office/drawing/2014/main" id="{ADC812BE-4444-071E-4759-0A05CE72DDF2}"/>
              </a:ext>
            </a:extLst>
          </p:cNvPr>
          <p:cNvGrpSpPr/>
          <p:nvPr userDrawn="1"/>
        </p:nvGrpSpPr>
        <p:grpSpPr>
          <a:xfrm>
            <a:off x="10308566" y="70818"/>
            <a:ext cx="1877335" cy="578242"/>
            <a:chOff x="10308566" y="70818"/>
            <a:chExt cx="1877335" cy="578242"/>
          </a:xfrm>
        </p:grpSpPr>
        <p:sp>
          <p:nvSpPr>
            <p:cNvPr id="2" name="Title 1">
              <a:extLst>
                <a:ext uri="{FF2B5EF4-FFF2-40B4-BE49-F238E27FC236}">
                  <a16:creationId xmlns:a16="http://schemas.microsoft.com/office/drawing/2014/main" id="{01B8DABD-E51C-D5C6-D854-46CE8843454E}"/>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21" name="Picture 20">
              <a:extLst>
                <a:ext uri="{FF2B5EF4-FFF2-40B4-BE49-F238E27FC236}">
                  <a16:creationId xmlns:a16="http://schemas.microsoft.com/office/drawing/2014/main" id="{BD33C681-283F-F830-1F62-C4E47BADA1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1458021" y="70818"/>
              <a:ext cx="727880" cy="578242"/>
            </a:xfrm>
            <a:prstGeom prst="rect">
              <a:avLst/>
            </a:prstGeom>
          </p:spPr>
        </p:pic>
      </p:grpSp>
      <p:sp>
        <p:nvSpPr>
          <p:cNvPr id="15" name="TextBox 14">
            <a:extLst>
              <a:ext uri="{FF2B5EF4-FFF2-40B4-BE49-F238E27FC236}">
                <a16:creationId xmlns:a16="http://schemas.microsoft.com/office/drawing/2014/main" id="{CF01766B-AFCF-8CB9-A3A8-CFD7100BC1BF}"/>
              </a:ext>
            </a:extLst>
          </p:cNvPr>
          <p:cNvSpPr txBox="1"/>
          <p:nvPr userDrawn="1"/>
        </p:nvSpPr>
        <p:spPr>
          <a:xfrm>
            <a:off x="276224" y="770575"/>
            <a:ext cx="10280407" cy="276999"/>
          </a:xfrm>
          <a:prstGeom prst="rect">
            <a:avLst/>
          </a:prstGeom>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93C8E"/>
                </a:solidFill>
              </a:rPr>
              <a:t>MSR-SRL-STS In-Contact Manipulation</a:t>
            </a:r>
          </a:p>
        </p:txBody>
      </p:sp>
    </p:spTree>
    <p:extLst>
      <p:ext uri="{BB962C8B-B14F-4D97-AF65-F5344CB8AC3E}">
        <p14:creationId xmlns:p14="http://schemas.microsoft.com/office/powerpoint/2010/main" val="629294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Content_White_Two_Section">
    <p:spTree>
      <p:nvGrpSpPr>
        <p:cNvPr id="1" name=""/>
        <p:cNvGrpSpPr/>
        <p:nvPr/>
      </p:nvGrpSpPr>
      <p:grpSpPr>
        <a:xfrm>
          <a:off x="0" y="0"/>
          <a:ext cx="0" cy="0"/>
          <a:chOff x="0" y="0"/>
          <a:chExt cx="0" cy="0"/>
        </a:xfrm>
      </p:grpSpPr>
      <p:sp>
        <p:nvSpPr>
          <p:cNvPr id="11" name="Text Placeholder 5">
            <a:extLst>
              <a:ext uri="{FF2B5EF4-FFF2-40B4-BE49-F238E27FC236}">
                <a16:creationId xmlns:a16="http://schemas.microsoft.com/office/drawing/2014/main" id="{EC16571D-E859-6E81-4544-D50739D3CF43}"/>
              </a:ext>
            </a:extLst>
          </p:cNvPr>
          <p:cNvSpPr>
            <a:spLocks noGrp="1"/>
          </p:cNvSpPr>
          <p:nvPr>
            <p:ph type="body" sz="quarter" idx="17"/>
          </p:nvPr>
        </p:nvSpPr>
        <p:spPr>
          <a:xfrm>
            <a:off x="276224" y="1188630"/>
            <a:ext cx="5700033" cy="5253445"/>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a:extLst>
              <a:ext uri="{FF2B5EF4-FFF2-40B4-BE49-F238E27FC236}">
                <a16:creationId xmlns:a16="http://schemas.microsoft.com/office/drawing/2014/main" id="{234196D0-81BD-BBAF-F907-AE35B133A976}"/>
              </a:ext>
            </a:extLst>
          </p:cNvPr>
          <p:cNvSpPr/>
          <p:nvPr userDrawn="1"/>
        </p:nvSpPr>
        <p:spPr>
          <a:xfrm rot="10800000">
            <a:off x="0" y="708348"/>
            <a:ext cx="12192000" cy="54854"/>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8" name="Title 1">
            <a:extLst>
              <a:ext uri="{FF2B5EF4-FFF2-40B4-BE49-F238E27FC236}">
                <a16:creationId xmlns:a16="http://schemas.microsoft.com/office/drawing/2014/main" id="{6F99A813-7772-E0A6-7105-52C3B074B525}"/>
              </a:ext>
            </a:extLst>
          </p:cNvPr>
          <p:cNvSpPr>
            <a:spLocks noGrp="1"/>
          </p:cNvSpPr>
          <p:nvPr>
            <p:ph type="title"/>
          </p:nvPr>
        </p:nvSpPr>
        <p:spPr>
          <a:xfrm>
            <a:off x="276352" y="154160"/>
            <a:ext cx="10280279" cy="552594"/>
          </a:xfrm>
          <a:prstGeom prst="rect">
            <a:avLst/>
          </a:prstGeom>
        </p:spPr>
        <p:txBody>
          <a:bodyPr/>
          <a:lstStyle>
            <a:lvl1pPr>
              <a:defRPr sz="2800" b="1" i="0">
                <a:solidFill>
                  <a:schemeClr val="tx1"/>
                </a:solidFill>
                <a:latin typeface="+mj-lt"/>
                <a:ea typeface="Helvetica Neue" panose="02000503000000020004" pitchFamily="2" charset="0"/>
                <a:cs typeface="Helvetica Neue" panose="02000503000000020004" pitchFamily="2" charset="0"/>
              </a:defRPr>
            </a:lvl1pPr>
          </a:lstStyle>
          <a:p>
            <a:endParaRPr lang="en-US" dirty="0"/>
          </a:p>
        </p:txBody>
      </p:sp>
      <p:sp>
        <p:nvSpPr>
          <p:cNvPr id="3" name="Date Placeholder 2">
            <a:extLst>
              <a:ext uri="{FF2B5EF4-FFF2-40B4-BE49-F238E27FC236}">
                <a16:creationId xmlns:a16="http://schemas.microsoft.com/office/drawing/2014/main" id="{DBAE480F-46B2-0868-D262-A94070222F01}"/>
              </a:ext>
            </a:extLst>
          </p:cNvPr>
          <p:cNvSpPr>
            <a:spLocks noGrp="1"/>
          </p:cNvSpPr>
          <p:nvPr>
            <p:ph type="dt" sz="half" idx="18"/>
          </p:nvPr>
        </p:nvSpPr>
        <p:spPr/>
        <p:txBody>
          <a:bodyPr/>
          <a:lstStyle>
            <a:lvl1pPr>
              <a:defRPr>
                <a:solidFill>
                  <a:schemeClr val="accent2"/>
                </a:solidFill>
              </a:defRPr>
            </a:lvl1pPr>
          </a:lstStyle>
          <a:p>
            <a:r>
              <a:rPr lang="en-US"/>
              <a:t>DD/MM/YYYY</a:t>
            </a:r>
          </a:p>
        </p:txBody>
      </p:sp>
      <p:sp>
        <p:nvSpPr>
          <p:cNvPr id="4" name="Footer Placeholder 3">
            <a:extLst>
              <a:ext uri="{FF2B5EF4-FFF2-40B4-BE49-F238E27FC236}">
                <a16:creationId xmlns:a16="http://schemas.microsoft.com/office/drawing/2014/main" id="{707FD23D-174A-9A41-4E5E-77B09AA05BD1}"/>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DC2BCD1C-4A16-74E3-EC14-52F384D7695D}"/>
              </a:ext>
            </a:extLst>
          </p:cNvPr>
          <p:cNvSpPr>
            <a:spLocks noGrp="1"/>
          </p:cNvSpPr>
          <p:nvPr>
            <p:ph type="sldNum" sz="quarter" idx="20"/>
          </p:nvPr>
        </p:nvSpPr>
        <p:spPr/>
        <p:txBody>
          <a:bodyPr/>
          <a:lstStyle>
            <a:lvl1pPr>
              <a:defRPr>
                <a:solidFill>
                  <a:schemeClr val="accent2"/>
                </a:solidFill>
              </a:defRPr>
            </a:lvl1pPr>
          </a:lstStyle>
          <a:p>
            <a:fld id="{2D04F4CF-F641-6E4E-8F87-8EB8AA2BFA51}" type="slidenum">
              <a:rPr lang="en-US" smtClean="0"/>
              <a:pPr/>
              <a:t>‹#›</a:t>
            </a:fld>
            <a:endParaRPr lang="en-US"/>
          </a:p>
        </p:txBody>
      </p:sp>
      <p:sp>
        <p:nvSpPr>
          <p:cNvPr id="7" name="Text Placeholder 5">
            <a:extLst>
              <a:ext uri="{FF2B5EF4-FFF2-40B4-BE49-F238E27FC236}">
                <a16:creationId xmlns:a16="http://schemas.microsoft.com/office/drawing/2014/main" id="{43A4570B-60C6-FC5F-1F80-7E7040C51F6A}"/>
              </a:ext>
            </a:extLst>
          </p:cNvPr>
          <p:cNvSpPr>
            <a:spLocks noGrp="1"/>
          </p:cNvSpPr>
          <p:nvPr>
            <p:ph type="body" sz="quarter" idx="21"/>
          </p:nvPr>
        </p:nvSpPr>
        <p:spPr>
          <a:xfrm>
            <a:off x="6215744" y="1185383"/>
            <a:ext cx="5700033" cy="5253445"/>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7732FE89-B0B9-B9F4-CF4F-796C44744397}"/>
              </a:ext>
            </a:extLst>
          </p:cNvPr>
          <p:cNvCxnSpPr>
            <a:cxnSpLocks/>
          </p:cNvCxnSpPr>
          <p:nvPr userDrawn="1"/>
        </p:nvCxnSpPr>
        <p:spPr>
          <a:xfrm>
            <a:off x="6096000" y="797216"/>
            <a:ext cx="0" cy="5806440"/>
          </a:xfrm>
          <a:prstGeom prst="line">
            <a:avLst/>
          </a:prstGeom>
          <a:ln w="1905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A25BFE45-5032-43C6-9ED6-8F92AB48D27E}"/>
              </a:ext>
            </a:extLst>
          </p:cNvPr>
          <p:cNvGrpSpPr/>
          <p:nvPr userDrawn="1"/>
        </p:nvGrpSpPr>
        <p:grpSpPr>
          <a:xfrm>
            <a:off x="10308566" y="70818"/>
            <a:ext cx="1877335" cy="578242"/>
            <a:chOff x="10308566" y="70818"/>
            <a:chExt cx="1877335" cy="578242"/>
          </a:xfrm>
        </p:grpSpPr>
        <p:sp>
          <p:nvSpPr>
            <p:cNvPr id="17" name="Title 1">
              <a:extLst>
                <a:ext uri="{FF2B5EF4-FFF2-40B4-BE49-F238E27FC236}">
                  <a16:creationId xmlns:a16="http://schemas.microsoft.com/office/drawing/2014/main" id="{E6BABC16-79D8-4465-B014-DFEFB18B7378}"/>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18" name="Picture 17">
              <a:extLst>
                <a:ext uri="{FF2B5EF4-FFF2-40B4-BE49-F238E27FC236}">
                  <a16:creationId xmlns:a16="http://schemas.microsoft.com/office/drawing/2014/main" id="{18CDA597-85D1-44ED-B196-39CED80F7AF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1458021" y="70818"/>
              <a:ext cx="727880" cy="578242"/>
            </a:xfrm>
            <a:prstGeom prst="rect">
              <a:avLst/>
            </a:prstGeom>
          </p:spPr>
        </p:pic>
      </p:grpSp>
      <p:sp>
        <p:nvSpPr>
          <p:cNvPr id="2" name="TextBox 1">
            <a:extLst>
              <a:ext uri="{FF2B5EF4-FFF2-40B4-BE49-F238E27FC236}">
                <a16:creationId xmlns:a16="http://schemas.microsoft.com/office/drawing/2014/main" id="{70FC944D-E132-2855-38FC-CE3BD1177BCE}"/>
              </a:ext>
            </a:extLst>
          </p:cNvPr>
          <p:cNvSpPr txBox="1"/>
          <p:nvPr userDrawn="1"/>
        </p:nvSpPr>
        <p:spPr>
          <a:xfrm>
            <a:off x="276224" y="770575"/>
            <a:ext cx="10280407" cy="276999"/>
          </a:xfrm>
          <a:prstGeom prst="rect">
            <a:avLst/>
          </a:prstGeom>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93C8E"/>
                </a:solidFill>
              </a:rPr>
              <a:t>MSR-SRL-STS In-Contact Manipulation</a:t>
            </a:r>
          </a:p>
        </p:txBody>
      </p:sp>
    </p:spTree>
    <p:extLst>
      <p:ext uri="{BB962C8B-B14F-4D97-AF65-F5344CB8AC3E}">
        <p14:creationId xmlns:p14="http://schemas.microsoft.com/office/powerpoint/2010/main" val="32404020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Content_White_Quandrant">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234196D0-81BD-BBAF-F907-AE35B133A976}"/>
              </a:ext>
            </a:extLst>
          </p:cNvPr>
          <p:cNvSpPr/>
          <p:nvPr userDrawn="1"/>
        </p:nvSpPr>
        <p:spPr>
          <a:xfrm rot="10800000">
            <a:off x="0" y="708348"/>
            <a:ext cx="12192000" cy="54854"/>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8" name="Title 1">
            <a:extLst>
              <a:ext uri="{FF2B5EF4-FFF2-40B4-BE49-F238E27FC236}">
                <a16:creationId xmlns:a16="http://schemas.microsoft.com/office/drawing/2014/main" id="{6F99A813-7772-E0A6-7105-52C3B074B525}"/>
              </a:ext>
            </a:extLst>
          </p:cNvPr>
          <p:cNvSpPr>
            <a:spLocks noGrp="1"/>
          </p:cNvSpPr>
          <p:nvPr>
            <p:ph type="title"/>
          </p:nvPr>
        </p:nvSpPr>
        <p:spPr>
          <a:xfrm>
            <a:off x="276352" y="154160"/>
            <a:ext cx="10280279" cy="552594"/>
          </a:xfrm>
          <a:prstGeom prst="rect">
            <a:avLst/>
          </a:prstGeom>
        </p:spPr>
        <p:txBody>
          <a:bodyPr/>
          <a:lstStyle>
            <a:lvl1pPr>
              <a:defRPr sz="2800" b="1" i="0">
                <a:solidFill>
                  <a:schemeClr val="tx1"/>
                </a:solidFill>
                <a:latin typeface="+mj-lt"/>
                <a:ea typeface="Helvetica Neue" panose="02000503000000020004" pitchFamily="2" charset="0"/>
                <a:cs typeface="Helvetica Neue" panose="02000503000000020004" pitchFamily="2" charset="0"/>
              </a:defRPr>
            </a:lvl1pPr>
          </a:lstStyle>
          <a:p>
            <a:endParaRPr lang="en-US" dirty="0"/>
          </a:p>
        </p:txBody>
      </p:sp>
      <p:sp>
        <p:nvSpPr>
          <p:cNvPr id="3" name="Date Placeholder 2">
            <a:extLst>
              <a:ext uri="{FF2B5EF4-FFF2-40B4-BE49-F238E27FC236}">
                <a16:creationId xmlns:a16="http://schemas.microsoft.com/office/drawing/2014/main" id="{DBAE480F-46B2-0868-D262-A94070222F01}"/>
              </a:ext>
            </a:extLst>
          </p:cNvPr>
          <p:cNvSpPr>
            <a:spLocks noGrp="1"/>
          </p:cNvSpPr>
          <p:nvPr>
            <p:ph type="dt" sz="half" idx="18"/>
          </p:nvPr>
        </p:nvSpPr>
        <p:spPr/>
        <p:txBody>
          <a:bodyPr/>
          <a:lstStyle>
            <a:lvl1pPr>
              <a:defRPr>
                <a:solidFill>
                  <a:schemeClr val="accent2"/>
                </a:solidFill>
              </a:defRPr>
            </a:lvl1pPr>
          </a:lstStyle>
          <a:p>
            <a:r>
              <a:rPr lang="en-US"/>
              <a:t>DD/MM/YYYY</a:t>
            </a:r>
          </a:p>
        </p:txBody>
      </p:sp>
      <p:sp>
        <p:nvSpPr>
          <p:cNvPr id="4" name="Footer Placeholder 3">
            <a:extLst>
              <a:ext uri="{FF2B5EF4-FFF2-40B4-BE49-F238E27FC236}">
                <a16:creationId xmlns:a16="http://schemas.microsoft.com/office/drawing/2014/main" id="{707FD23D-174A-9A41-4E5E-77B09AA05BD1}"/>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DC2BCD1C-4A16-74E3-EC14-52F384D7695D}"/>
              </a:ext>
            </a:extLst>
          </p:cNvPr>
          <p:cNvSpPr>
            <a:spLocks noGrp="1"/>
          </p:cNvSpPr>
          <p:nvPr>
            <p:ph type="sldNum" sz="quarter" idx="20"/>
          </p:nvPr>
        </p:nvSpPr>
        <p:spPr/>
        <p:txBody>
          <a:bodyPr/>
          <a:lstStyle>
            <a:lvl1pPr>
              <a:defRPr>
                <a:solidFill>
                  <a:schemeClr val="accent2"/>
                </a:solidFill>
              </a:defRPr>
            </a:lvl1pPr>
          </a:lstStyle>
          <a:p>
            <a:fld id="{2D04F4CF-F641-6E4E-8F87-8EB8AA2BFA51}" type="slidenum">
              <a:rPr lang="en-US" smtClean="0"/>
              <a:pPr/>
              <a:t>‹#›</a:t>
            </a:fld>
            <a:endParaRPr lang="en-US"/>
          </a:p>
        </p:txBody>
      </p:sp>
      <p:cxnSp>
        <p:nvCxnSpPr>
          <p:cNvPr id="10" name="Straight Connector 9">
            <a:extLst>
              <a:ext uri="{FF2B5EF4-FFF2-40B4-BE49-F238E27FC236}">
                <a16:creationId xmlns:a16="http://schemas.microsoft.com/office/drawing/2014/main" id="{7732FE89-B0B9-B9F4-CF4F-796C44744397}"/>
              </a:ext>
            </a:extLst>
          </p:cNvPr>
          <p:cNvCxnSpPr>
            <a:cxnSpLocks/>
          </p:cNvCxnSpPr>
          <p:nvPr userDrawn="1"/>
        </p:nvCxnSpPr>
        <p:spPr>
          <a:xfrm>
            <a:off x="6096000" y="797216"/>
            <a:ext cx="0" cy="5806440"/>
          </a:xfrm>
          <a:prstGeom prst="line">
            <a:avLst/>
          </a:prstGeom>
          <a:ln w="1905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95550965-41A1-8ACE-E468-EDC52EDB0925}"/>
              </a:ext>
            </a:extLst>
          </p:cNvPr>
          <p:cNvCxnSpPr>
            <a:cxnSpLocks/>
          </p:cNvCxnSpPr>
          <p:nvPr userDrawn="1"/>
        </p:nvCxnSpPr>
        <p:spPr>
          <a:xfrm flipH="1">
            <a:off x="111062" y="3812721"/>
            <a:ext cx="11969876" cy="0"/>
          </a:xfrm>
          <a:prstGeom prst="line">
            <a:avLst/>
          </a:prstGeom>
          <a:ln w="1905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0" name="Text Placeholder 5">
            <a:extLst>
              <a:ext uri="{FF2B5EF4-FFF2-40B4-BE49-F238E27FC236}">
                <a16:creationId xmlns:a16="http://schemas.microsoft.com/office/drawing/2014/main" id="{035395A8-796C-3CC3-4E9C-1DC73E2B38C1}"/>
              </a:ext>
            </a:extLst>
          </p:cNvPr>
          <p:cNvSpPr>
            <a:spLocks noGrp="1"/>
          </p:cNvSpPr>
          <p:nvPr>
            <p:ph type="body" sz="quarter" idx="21"/>
          </p:nvPr>
        </p:nvSpPr>
        <p:spPr>
          <a:xfrm>
            <a:off x="276223" y="1184137"/>
            <a:ext cx="5700033" cy="2411144"/>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Text Placeholder 5">
            <a:extLst>
              <a:ext uri="{FF2B5EF4-FFF2-40B4-BE49-F238E27FC236}">
                <a16:creationId xmlns:a16="http://schemas.microsoft.com/office/drawing/2014/main" id="{13986505-4721-406A-C917-FE93A29AFB84}"/>
              </a:ext>
            </a:extLst>
          </p:cNvPr>
          <p:cNvSpPr>
            <a:spLocks noGrp="1"/>
          </p:cNvSpPr>
          <p:nvPr>
            <p:ph type="body" sz="quarter" idx="22"/>
          </p:nvPr>
        </p:nvSpPr>
        <p:spPr>
          <a:xfrm>
            <a:off x="276222" y="4030931"/>
            <a:ext cx="5700033" cy="2411144"/>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5">
            <a:extLst>
              <a:ext uri="{FF2B5EF4-FFF2-40B4-BE49-F238E27FC236}">
                <a16:creationId xmlns:a16="http://schemas.microsoft.com/office/drawing/2014/main" id="{66FD14AB-2502-0F02-D959-4299D826A926}"/>
              </a:ext>
            </a:extLst>
          </p:cNvPr>
          <p:cNvSpPr>
            <a:spLocks noGrp="1"/>
          </p:cNvSpPr>
          <p:nvPr>
            <p:ph type="body" sz="quarter" idx="23"/>
          </p:nvPr>
        </p:nvSpPr>
        <p:spPr>
          <a:xfrm>
            <a:off x="6215743" y="1184137"/>
            <a:ext cx="5700033" cy="2411144"/>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Text Placeholder 5">
            <a:extLst>
              <a:ext uri="{FF2B5EF4-FFF2-40B4-BE49-F238E27FC236}">
                <a16:creationId xmlns:a16="http://schemas.microsoft.com/office/drawing/2014/main" id="{6F25E2FB-D12D-FB29-2A9F-B0AF03E59333}"/>
              </a:ext>
            </a:extLst>
          </p:cNvPr>
          <p:cNvSpPr>
            <a:spLocks noGrp="1"/>
          </p:cNvSpPr>
          <p:nvPr>
            <p:ph type="body" sz="quarter" idx="24"/>
          </p:nvPr>
        </p:nvSpPr>
        <p:spPr>
          <a:xfrm>
            <a:off x="6215743" y="4027479"/>
            <a:ext cx="5700033" cy="2411144"/>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7" name="Group 16">
            <a:extLst>
              <a:ext uri="{FF2B5EF4-FFF2-40B4-BE49-F238E27FC236}">
                <a16:creationId xmlns:a16="http://schemas.microsoft.com/office/drawing/2014/main" id="{7850A117-52ED-4B58-A0C9-E281751AB22F}"/>
              </a:ext>
            </a:extLst>
          </p:cNvPr>
          <p:cNvGrpSpPr/>
          <p:nvPr userDrawn="1"/>
        </p:nvGrpSpPr>
        <p:grpSpPr>
          <a:xfrm>
            <a:off x="10308566" y="70818"/>
            <a:ext cx="1877335" cy="578242"/>
            <a:chOff x="10308566" y="70818"/>
            <a:chExt cx="1877335" cy="578242"/>
          </a:xfrm>
        </p:grpSpPr>
        <p:sp>
          <p:nvSpPr>
            <p:cNvPr id="18" name="Title 1">
              <a:extLst>
                <a:ext uri="{FF2B5EF4-FFF2-40B4-BE49-F238E27FC236}">
                  <a16:creationId xmlns:a16="http://schemas.microsoft.com/office/drawing/2014/main" id="{05243F4C-DE12-4C1B-84ED-259FAF35DB2D}"/>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19" name="Picture 18">
              <a:extLst>
                <a:ext uri="{FF2B5EF4-FFF2-40B4-BE49-F238E27FC236}">
                  <a16:creationId xmlns:a16="http://schemas.microsoft.com/office/drawing/2014/main" id="{1EF61D09-CA18-4B16-847A-C03A709E862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1458021" y="70818"/>
              <a:ext cx="727880" cy="578242"/>
            </a:xfrm>
            <a:prstGeom prst="rect">
              <a:avLst/>
            </a:prstGeom>
          </p:spPr>
        </p:pic>
      </p:grpSp>
      <p:sp>
        <p:nvSpPr>
          <p:cNvPr id="2" name="TextBox 1">
            <a:extLst>
              <a:ext uri="{FF2B5EF4-FFF2-40B4-BE49-F238E27FC236}">
                <a16:creationId xmlns:a16="http://schemas.microsoft.com/office/drawing/2014/main" id="{DB8E3EAA-E78B-FED5-F427-7A2B03E7EC97}"/>
              </a:ext>
            </a:extLst>
          </p:cNvPr>
          <p:cNvSpPr txBox="1"/>
          <p:nvPr userDrawn="1"/>
        </p:nvSpPr>
        <p:spPr>
          <a:xfrm>
            <a:off x="276224" y="770575"/>
            <a:ext cx="10280407" cy="276999"/>
          </a:xfrm>
          <a:prstGeom prst="rect">
            <a:avLst/>
          </a:prstGeom>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93C8E"/>
                </a:solidFill>
              </a:rPr>
              <a:t>MSR-SRL-STS In-Contact Manipulation</a:t>
            </a:r>
          </a:p>
        </p:txBody>
      </p:sp>
    </p:spTree>
    <p:extLst>
      <p:ext uri="{BB962C8B-B14F-4D97-AF65-F5344CB8AC3E}">
        <p14:creationId xmlns:p14="http://schemas.microsoft.com/office/powerpoint/2010/main" val="42518275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Content_White_Text_and_Picture">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DDC5C295-FB9A-C2F7-D237-B56589FF4C8A}"/>
              </a:ext>
            </a:extLst>
          </p:cNvPr>
          <p:cNvSpPr>
            <a:spLocks noGrp="1"/>
          </p:cNvSpPr>
          <p:nvPr>
            <p:ph type="pic" sz="quarter" idx="22"/>
          </p:nvPr>
        </p:nvSpPr>
        <p:spPr>
          <a:xfrm>
            <a:off x="6215742" y="1175972"/>
            <a:ext cx="5700033" cy="5266103"/>
          </a:xfrm>
          <a:prstGeom prst="rect">
            <a:avLst/>
          </a:prstGeom>
        </p:spPr>
        <p:txBody>
          <a:bodyPr/>
          <a:lstStyle>
            <a:lvl1pPr>
              <a:defRPr sz="2000"/>
            </a:lvl1pPr>
          </a:lstStyle>
          <a:p>
            <a:endParaRPr lang="en-US"/>
          </a:p>
        </p:txBody>
      </p:sp>
      <p:sp>
        <p:nvSpPr>
          <p:cNvPr id="11" name="Text Placeholder 5">
            <a:extLst>
              <a:ext uri="{FF2B5EF4-FFF2-40B4-BE49-F238E27FC236}">
                <a16:creationId xmlns:a16="http://schemas.microsoft.com/office/drawing/2014/main" id="{EC16571D-E859-6E81-4544-D50739D3CF43}"/>
              </a:ext>
            </a:extLst>
          </p:cNvPr>
          <p:cNvSpPr>
            <a:spLocks noGrp="1"/>
          </p:cNvSpPr>
          <p:nvPr>
            <p:ph type="body" sz="quarter" idx="17"/>
          </p:nvPr>
        </p:nvSpPr>
        <p:spPr>
          <a:xfrm>
            <a:off x="276224" y="1188630"/>
            <a:ext cx="5700033" cy="5253445"/>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a:extLst>
              <a:ext uri="{FF2B5EF4-FFF2-40B4-BE49-F238E27FC236}">
                <a16:creationId xmlns:a16="http://schemas.microsoft.com/office/drawing/2014/main" id="{234196D0-81BD-BBAF-F907-AE35B133A976}"/>
              </a:ext>
            </a:extLst>
          </p:cNvPr>
          <p:cNvSpPr/>
          <p:nvPr userDrawn="1"/>
        </p:nvSpPr>
        <p:spPr>
          <a:xfrm rot="10800000">
            <a:off x="0" y="708348"/>
            <a:ext cx="12192000" cy="54854"/>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8" name="Title 1">
            <a:extLst>
              <a:ext uri="{FF2B5EF4-FFF2-40B4-BE49-F238E27FC236}">
                <a16:creationId xmlns:a16="http://schemas.microsoft.com/office/drawing/2014/main" id="{6F99A813-7772-E0A6-7105-52C3B074B525}"/>
              </a:ext>
            </a:extLst>
          </p:cNvPr>
          <p:cNvSpPr>
            <a:spLocks noGrp="1"/>
          </p:cNvSpPr>
          <p:nvPr>
            <p:ph type="title"/>
          </p:nvPr>
        </p:nvSpPr>
        <p:spPr>
          <a:xfrm>
            <a:off x="276352" y="154160"/>
            <a:ext cx="10280279" cy="552594"/>
          </a:xfrm>
          <a:prstGeom prst="rect">
            <a:avLst/>
          </a:prstGeom>
        </p:spPr>
        <p:txBody>
          <a:bodyPr/>
          <a:lstStyle>
            <a:lvl1pPr>
              <a:defRPr sz="2800" b="1" i="0">
                <a:solidFill>
                  <a:schemeClr val="tx1"/>
                </a:solidFill>
                <a:latin typeface="+mj-lt"/>
                <a:ea typeface="Helvetica Neue" panose="02000503000000020004" pitchFamily="2" charset="0"/>
                <a:cs typeface="Helvetica Neue" panose="02000503000000020004" pitchFamily="2" charset="0"/>
              </a:defRPr>
            </a:lvl1pPr>
          </a:lstStyle>
          <a:p>
            <a:endParaRPr lang="en-US" dirty="0"/>
          </a:p>
        </p:txBody>
      </p:sp>
      <p:sp>
        <p:nvSpPr>
          <p:cNvPr id="3" name="Date Placeholder 2">
            <a:extLst>
              <a:ext uri="{FF2B5EF4-FFF2-40B4-BE49-F238E27FC236}">
                <a16:creationId xmlns:a16="http://schemas.microsoft.com/office/drawing/2014/main" id="{DBAE480F-46B2-0868-D262-A94070222F01}"/>
              </a:ext>
            </a:extLst>
          </p:cNvPr>
          <p:cNvSpPr>
            <a:spLocks noGrp="1"/>
          </p:cNvSpPr>
          <p:nvPr>
            <p:ph type="dt" sz="half" idx="18"/>
          </p:nvPr>
        </p:nvSpPr>
        <p:spPr/>
        <p:txBody>
          <a:bodyPr/>
          <a:lstStyle>
            <a:lvl1pPr>
              <a:defRPr>
                <a:solidFill>
                  <a:schemeClr val="accent2"/>
                </a:solidFill>
              </a:defRPr>
            </a:lvl1pPr>
          </a:lstStyle>
          <a:p>
            <a:r>
              <a:rPr lang="en-US"/>
              <a:t>DD/MM/YYYY</a:t>
            </a:r>
          </a:p>
        </p:txBody>
      </p:sp>
      <p:sp>
        <p:nvSpPr>
          <p:cNvPr id="4" name="Footer Placeholder 3">
            <a:extLst>
              <a:ext uri="{FF2B5EF4-FFF2-40B4-BE49-F238E27FC236}">
                <a16:creationId xmlns:a16="http://schemas.microsoft.com/office/drawing/2014/main" id="{707FD23D-174A-9A41-4E5E-77B09AA05BD1}"/>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DC2BCD1C-4A16-74E3-EC14-52F384D7695D}"/>
              </a:ext>
            </a:extLst>
          </p:cNvPr>
          <p:cNvSpPr>
            <a:spLocks noGrp="1"/>
          </p:cNvSpPr>
          <p:nvPr>
            <p:ph type="sldNum" sz="quarter" idx="20"/>
          </p:nvPr>
        </p:nvSpPr>
        <p:spPr/>
        <p:txBody>
          <a:bodyPr/>
          <a:lstStyle>
            <a:lvl1pPr>
              <a:defRPr>
                <a:solidFill>
                  <a:schemeClr val="accent2"/>
                </a:solidFill>
              </a:defRPr>
            </a:lvl1pPr>
          </a:lstStyle>
          <a:p>
            <a:fld id="{2D04F4CF-F641-6E4E-8F87-8EB8AA2BFA51}" type="slidenum">
              <a:rPr lang="en-US" smtClean="0"/>
              <a:pPr/>
              <a:t>‹#›</a:t>
            </a:fld>
            <a:endParaRPr lang="en-US"/>
          </a:p>
        </p:txBody>
      </p:sp>
      <p:grpSp>
        <p:nvGrpSpPr>
          <p:cNvPr id="17" name="Group 16">
            <a:extLst>
              <a:ext uri="{FF2B5EF4-FFF2-40B4-BE49-F238E27FC236}">
                <a16:creationId xmlns:a16="http://schemas.microsoft.com/office/drawing/2014/main" id="{C29DE0F4-AD47-47BE-862C-519D78552208}"/>
              </a:ext>
            </a:extLst>
          </p:cNvPr>
          <p:cNvGrpSpPr/>
          <p:nvPr userDrawn="1"/>
        </p:nvGrpSpPr>
        <p:grpSpPr>
          <a:xfrm>
            <a:off x="10308566" y="70818"/>
            <a:ext cx="1877335" cy="578242"/>
            <a:chOff x="10308566" y="70818"/>
            <a:chExt cx="1877335" cy="578242"/>
          </a:xfrm>
        </p:grpSpPr>
        <p:sp>
          <p:nvSpPr>
            <p:cNvPr id="18" name="Title 1">
              <a:extLst>
                <a:ext uri="{FF2B5EF4-FFF2-40B4-BE49-F238E27FC236}">
                  <a16:creationId xmlns:a16="http://schemas.microsoft.com/office/drawing/2014/main" id="{0E3E2FF2-73B8-43EC-A3F3-A06CBBBC4734}"/>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19" name="Picture 18">
              <a:extLst>
                <a:ext uri="{FF2B5EF4-FFF2-40B4-BE49-F238E27FC236}">
                  <a16:creationId xmlns:a16="http://schemas.microsoft.com/office/drawing/2014/main" id="{9D7651F3-624D-4C8A-A702-4E8EFFF174F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1458021" y="70818"/>
              <a:ext cx="727880" cy="578242"/>
            </a:xfrm>
            <a:prstGeom prst="rect">
              <a:avLst/>
            </a:prstGeom>
          </p:spPr>
        </p:pic>
      </p:grpSp>
      <p:sp>
        <p:nvSpPr>
          <p:cNvPr id="2" name="TextBox 1">
            <a:extLst>
              <a:ext uri="{FF2B5EF4-FFF2-40B4-BE49-F238E27FC236}">
                <a16:creationId xmlns:a16="http://schemas.microsoft.com/office/drawing/2014/main" id="{8E841271-7B5D-79A1-3A89-74FBA8BFCDEE}"/>
              </a:ext>
            </a:extLst>
          </p:cNvPr>
          <p:cNvSpPr txBox="1"/>
          <p:nvPr userDrawn="1"/>
        </p:nvSpPr>
        <p:spPr>
          <a:xfrm>
            <a:off x="276224" y="770575"/>
            <a:ext cx="10280407" cy="276999"/>
          </a:xfrm>
          <a:prstGeom prst="rect">
            <a:avLst/>
          </a:prstGeom>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93C8E"/>
                </a:solidFill>
              </a:rPr>
              <a:t>MSR-SRL-STS In-Contact Manipulation</a:t>
            </a:r>
          </a:p>
        </p:txBody>
      </p:sp>
    </p:spTree>
    <p:extLst>
      <p:ext uri="{BB962C8B-B14F-4D97-AF65-F5344CB8AC3E}">
        <p14:creationId xmlns:p14="http://schemas.microsoft.com/office/powerpoint/2010/main" val="248544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Title_Only_White">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234196D0-81BD-BBAF-F907-AE35B133A976}"/>
              </a:ext>
            </a:extLst>
          </p:cNvPr>
          <p:cNvSpPr/>
          <p:nvPr userDrawn="1"/>
        </p:nvSpPr>
        <p:spPr>
          <a:xfrm rot="10800000">
            <a:off x="0" y="708348"/>
            <a:ext cx="12192000" cy="54854"/>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8" name="Title 1">
            <a:extLst>
              <a:ext uri="{FF2B5EF4-FFF2-40B4-BE49-F238E27FC236}">
                <a16:creationId xmlns:a16="http://schemas.microsoft.com/office/drawing/2014/main" id="{6F99A813-7772-E0A6-7105-52C3B074B525}"/>
              </a:ext>
            </a:extLst>
          </p:cNvPr>
          <p:cNvSpPr>
            <a:spLocks noGrp="1"/>
          </p:cNvSpPr>
          <p:nvPr>
            <p:ph type="title"/>
          </p:nvPr>
        </p:nvSpPr>
        <p:spPr>
          <a:xfrm>
            <a:off x="276352" y="154160"/>
            <a:ext cx="10280279" cy="552594"/>
          </a:xfrm>
          <a:prstGeom prst="rect">
            <a:avLst/>
          </a:prstGeom>
        </p:spPr>
        <p:txBody>
          <a:bodyPr/>
          <a:lstStyle>
            <a:lvl1pPr>
              <a:defRPr sz="2800" b="1" i="0">
                <a:solidFill>
                  <a:schemeClr val="tx1"/>
                </a:solidFill>
                <a:latin typeface="+mj-lt"/>
                <a:ea typeface="Helvetica Neue" panose="02000503000000020004" pitchFamily="2" charset="0"/>
                <a:cs typeface="Helvetica Neue" panose="02000503000000020004" pitchFamily="2" charset="0"/>
              </a:defRPr>
            </a:lvl1pPr>
          </a:lstStyle>
          <a:p>
            <a:endParaRPr lang="en-US" dirty="0"/>
          </a:p>
        </p:txBody>
      </p:sp>
      <p:sp>
        <p:nvSpPr>
          <p:cNvPr id="3" name="Date Placeholder 2">
            <a:extLst>
              <a:ext uri="{FF2B5EF4-FFF2-40B4-BE49-F238E27FC236}">
                <a16:creationId xmlns:a16="http://schemas.microsoft.com/office/drawing/2014/main" id="{DBAE480F-46B2-0868-D262-A94070222F01}"/>
              </a:ext>
            </a:extLst>
          </p:cNvPr>
          <p:cNvSpPr>
            <a:spLocks noGrp="1"/>
          </p:cNvSpPr>
          <p:nvPr>
            <p:ph type="dt" sz="half" idx="18"/>
          </p:nvPr>
        </p:nvSpPr>
        <p:spPr/>
        <p:txBody>
          <a:bodyPr/>
          <a:lstStyle>
            <a:lvl1pPr>
              <a:defRPr>
                <a:solidFill>
                  <a:schemeClr val="accent2"/>
                </a:solidFill>
              </a:defRPr>
            </a:lvl1pPr>
          </a:lstStyle>
          <a:p>
            <a:r>
              <a:rPr lang="en-US"/>
              <a:t>DD/MM/YYYY</a:t>
            </a:r>
          </a:p>
        </p:txBody>
      </p:sp>
      <p:sp>
        <p:nvSpPr>
          <p:cNvPr id="4" name="Footer Placeholder 3">
            <a:extLst>
              <a:ext uri="{FF2B5EF4-FFF2-40B4-BE49-F238E27FC236}">
                <a16:creationId xmlns:a16="http://schemas.microsoft.com/office/drawing/2014/main" id="{707FD23D-174A-9A41-4E5E-77B09AA05BD1}"/>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DC2BCD1C-4A16-74E3-EC14-52F384D7695D}"/>
              </a:ext>
            </a:extLst>
          </p:cNvPr>
          <p:cNvSpPr>
            <a:spLocks noGrp="1"/>
          </p:cNvSpPr>
          <p:nvPr>
            <p:ph type="sldNum" sz="quarter" idx="20"/>
          </p:nvPr>
        </p:nvSpPr>
        <p:spPr/>
        <p:txBody>
          <a:bodyPr/>
          <a:lstStyle>
            <a:lvl1pPr>
              <a:defRPr>
                <a:solidFill>
                  <a:schemeClr val="accent2"/>
                </a:solidFill>
              </a:defRPr>
            </a:lvl1pPr>
          </a:lstStyle>
          <a:p>
            <a:fld id="{2D04F4CF-F641-6E4E-8F87-8EB8AA2BFA51}" type="slidenum">
              <a:rPr lang="en-US" smtClean="0"/>
              <a:pPr/>
              <a:t>‹#›</a:t>
            </a:fld>
            <a:endParaRPr lang="en-US"/>
          </a:p>
        </p:txBody>
      </p:sp>
      <p:grpSp>
        <p:nvGrpSpPr>
          <p:cNvPr id="11" name="Group 10">
            <a:extLst>
              <a:ext uri="{FF2B5EF4-FFF2-40B4-BE49-F238E27FC236}">
                <a16:creationId xmlns:a16="http://schemas.microsoft.com/office/drawing/2014/main" id="{5D428B9C-42C9-4095-9F62-FD562D5F2ED4}"/>
              </a:ext>
            </a:extLst>
          </p:cNvPr>
          <p:cNvGrpSpPr/>
          <p:nvPr userDrawn="1"/>
        </p:nvGrpSpPr>
        <p:grpSpPr>
          <a:xfrm>
            <a:off x="10308566" y="70818"/>
            <a:ext cx="1877335" cy="578242"/>
            <a:chOff x="10308566" y="70818"/>
            <a:chExt cx="1877335" cy="578242"/>
          </a:xfrm>
        </p:grpSpPr>
        <p:sp>
          <p:nvSpPr>
            <p:cNvPr id="13" name="Title 1">
              <a:extLst>
                <a:ext uri="{FF2B5EF4-FFF2-40B4-BE49-F238E27FC236}">
                  <a16:creationId xmlns:a16="http://schemas.microsoft.com/office/drawing/2014/main" id="{D4BB15C1-D86E-4019-B669-E94199D2606F}"/>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14" name="Picture 13">
              <a:extLst>
                <a:ext uri="{FF2B5EF4-FFF2-40B4-BE49-F238E27FC236}">
                  <a16:creationId xmlns:a16="http://schemas.microsoft.com/office/drawing/2014/main" id="{D7E10998-D290-4799-93B1-41B8ADE2BF4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1458021" y="70818"/>
              <a:ext cx="727880" cy="578242"/>
            </a:xfrm>
            <a:prstGeom prst="rect">
              <a:avLst/>
            </a:prstGeom>
          </p:spPr>
        </p:pic>
      </p:grpSp>
      <p:sp>
        <p:nvSpPr>
          <p:cNvPr id="2" name="TextBox 1">
            <a:extLst>
              <a:ext uri="{FF2B5EF4-FFF2-40B4-BE49-F238E27FC236}">
                <a16:creationId xmlns:a16="http://schemas.microsoft.com/office/drawing/2014/main" id="{D6D5ADC2-7069-1215-0531-30E546EDF79D}"/>
              </a:ext>
            </a:extLst>
          </p:cNvPr>
          <p:cNvSpPr txBox="1"/>
          <p:nvPr userDrawn="1"/>
        </p:nvSpPr>
        <p:spPr>
          <a:xfrm>
            <a:off x="276224" y="770575"/>
            <a:ext cx="10280407" cy="276999"/>
          </a:xfrm>
          <a:prstGeom prst="rect">
            <a:avLst/>
          </a:prstGeom>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93C8E"/>
                </a:solidFill>
              </a:rPr>
              <a:t>MSR-SRL-STS In-Contact Manipulation</a:t>
            </a:r>
          </a:p>
        </p:txBody>
      </p:sp>
    </p:spTree>
    <p:extLst>
      <p:ext uri="{BB962C8B-B14F-4D97-AF65-F5344CB8AC3E}">
        <p14:creationId xmlns:p14="http://schemas.microsoft.com/office/powerpoint/2010/main" val="25198047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Blank_Whit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BAE480F-46B2-0868-D262-A94070222F01}"/>
              </a:ext>
            </a:extLst>
          </p:cNvPr>
          <p:cNvSpPr>
            <a:spLocks noGrp="1"/>
          </p:cNvSpPr>
          <p:nvPr>
            <p:ph type="dt" sz="half" idx="18"/>
          </p:nvPr>
        </p:nvSpPr>
        <p:spPr/>
        <p:txBody>
          <a:bodyPr/>
          <a:lstStyle>
            <a:lvl1pPr>
              <a:defRPr>
                <a:solidFill>
                  <a:schemeClr val="accent2"/>
                </a:solidFill>
              </a:defRPr>
            </a:lvl1pPr>
          </a:lstStyle>
          <a:p>
            <a:r>
              <a:rPr lang="en-US"/>
              <a:t>DD/MM/YYYY</a:t>
            </a:r>
          </a:p>
        </p:txBody>
      </p:sp>
      <p:sp>
        <p:nvSpPr>
          <p:cNvPr id="4" name="Footer Placeholder 3">
            <a:extLst>
              <a:ext uri="{FF2B5EF4-FFF2-40B4-BE49-F238E27FC236}">
                <a16:creationId xmlns:a16="http://schemas.microsoft.com/office/drawing/2014/main" id="{707FD23D-174A-9A41-4E5E-77B09AA05BD1}"/>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DC2BCD1C-4A16-74E3-EC14-52F384D7695D}"/>
              </a:ext>
            </a:extLst>
          </p:cNvPr>
          <p:cNvSpPr>
            <a:spLocks noGrp="1"/>
          </p:cNvSpPr>
          <p:nvPr>
            <p:ph type="sldNum" sz="quarter" idx="20"/>
          </p:nvPr>
        </p:nvSpPr>
        <p:spPr/>
        <p:txBody>
          <a:bodyPr/>
          <a:lstStyle>
            <a:lvl1pPr>
              <a:defRPr>
                <a:solidFill>
                  <a:schemeClr val="accent2"/>
                </a:solidFill>
              </a:defRPr>
            </a:lvl1pPr>
          </a:lstStyle>
          <a:p>
            <a:fld id="{2D04F4CF-F641-6E4E-8F87-8EB8AA2BFA51}" type="slidenum">
              <a:rPr lang="en-US" smtClean="0"/>
              <a:pPr/>
              <a:t>‹#›</a:t>
            </a:fld>
            <a:endParaRPr lang="en-US"/>
          </a:p>
        </p:txBody>
      </p:sp>
      <p:grpSp>
        <p:nvGrpSpPr>
          <p:cNvPr id="8" name="Group 7">
            <a:extLst>
              <a:ext uri="{FF2B5EF4-FFF2-40B4-BE49-F238E27FC236}">
                <a16:creationId xmlns:a16="http://schemas.microsoft.com/office/drawing/2014/main" id="{1D387BBD-7C36-4DBB-B48E-70948920FAE9}"/>
              </a:ext>
            </a:extLst>
          </p:cNvPr>
          <p:cNvGrpSpPr/>
          <p:nvPr userDrawn="1"/>
        </p:nvGrpSpPr>
        <p:grpSpPr>
          <a:xfrm>
            <a:off x="10308566" y="70818"/>
            <a:ext cx="1877335" cy="578242"/>
            <a:chOff x="10308566" y="70818"/>
            <a:chExt cx="1877335" cy="578242"/>
          </a:xfrm>
        </p:grpSpPr>
        <p:sp>
          <p:nvSpPr>
            <p:cNvPr id="11" name="Title 1">
              <a:extLst>
                <a:ext uri="{FF2B5EF4-FFF2-40B4-BE49-F238E27FC236}">
                  <a16:creationId xmlns:a16="http://schemas.microsoft.com/office/drawing/2014/main" id="{4CEF4AA6-E1BE-4BCC-9CC0-A24F0B92204B}"/>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14" name="Picture 13">
              <a:extLst>
                <a:ext uri="{FF2B5EF4-FFF2-40B4-BE49-F238E27FC236}">
                  <a16:creationId xmlns:a16="http://schemas.microsoft.com/office/drawing/2014/main" id="{A58AB975-B8A3-4D36-8D41-D57056CF58D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1458021" y="70818"/>
              <a:ext cx="727880" cy="578242"/>
            </a:xfrm>
            <a:prstGeom prst="rect">
              <a:avLst/>
            </a:prstGeom>
          </p:spPr>
        </p:pic>
      </p:grpSp>
    </p:spTree>
    <p:extLst>
      <p:ext uri="{BB962C8B-B14F-4D97-AF65-F5344CB8AC3E}">
        <p14:creationId xmlns:p14="http://schemas.microsoft.com/office/powerpoint/2010/main" val="30279175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Content_Multi">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A4EA522E-50E7-7BAF-2D71-DD182C535B6F}"/>
              </a:ext>
            </a:extLst>
          </p:cNvPr>
          <p:cNvSpPr/>
          <p:nvPr userDrawn="1"/>
        </p:nvSpPr>
        <p:spPr>
          <a:xfrm rot="10800000">
            <a:off x="0" y="1"/>
            <a:ext cx="12192000" cy="772301"/>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12" name="Rectangle 11">
            <a:extLst>
              <a:ext uri="{FF2B5EF4-FFF2-40B4-BE49-F238E27FC236}">
                <a16:creationId xmlns:a16="http://schemas.microsoft.com/office/drawing/2014/main" id="{3B037966-CEA8-53E2-A4D6-04DE14F2403E}"/>
              </a:ext>
            </a:extLst>
          </p:cNvPr>
          <p:cNvSpPr/>
          <p:nvPr userDrawn="1"/>
        </p:nvSpPr>
        <p:spPr>
          <a:xfrm>
            <a:off x="0" y="708770"/>
            <a:ext cx="12188952" cy="6353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0E0DC270-429D-22D1-6596-898C6B1A0400}"/>
              </a:ext>
            </a:extLst>
          </p:cNvPr>
          <p:cNvGrpSpPr/>
          <p:nvPr userDrawn="1"/>
        </p:nvGrpSpPr>
        <p:grpSpPr>
          <a:xfrm>
            <a:off x="0" y="1"/>
            <a:ext cx="486561" cy="708769"/>
            <a:chOff x="0" y="1"/>
            <a:chExt cx="1927002" cy="772302"/>
          </a:xfrm>
        </p:grpSpPr>
        <p:sp>
          <p:nvSpPr>
            <p:cNvPr id="13" name="Google Shape;77;p11">
              <a:extLst>
                <a:ext uri="{FF2B5EF4-FFF2-40B4-BE49-F238E27FC236}">
                  <a16:creationId xmlns:a16="http://schemas.microsoft.com/office/drawing/2014/main" id="{5DDD6E24-B686-B9A6-6A8E-FE9AB050C425}"/>
                </a:ext>
              </a:extLst>
            </p:cNvPr>
            <p:cNvSpPr/>
            <p:nvPr userDrawn="1"/>
          </p:nvSpPr>
          <p:spPr>
            <a:xfrm rot="10800000">
              <a:off x="0" y="1"/>
              <a:ext cx="1927002" cy="772302"/>
            </a:xfrm>
            <a:custGeom>
              <a:avLst/>
              <a:gdLst/>
              <a:ahLst/>
              <a:cxnLst/>
              <a:rect l="l" t="t" r="r" b="b"/>
              <a:pathLst>
                <a:path w="2569336" h="6858000" extrusionOk="0">
                  <a:moveTo>
                    <a:pt x="1256538" y="0"/>
                  </a:moveTo>
                  <a:cubicBezTo>
                    <a:pt x="1569466" y="775024"/>
                    <a:pt x="1729804" y="1603165"/>
                    <a:pt x="1728788" y="2438972"/>
                  </a:cubicBezTo>
                  <a:cubicBezTo>
                    <a:pt x="1728788" y="4144582"/>
                    <a:pt x="1073023" y="5696966"/>
                    <a:pt x="0" y="6858000"/>
                  </a:cubicBezTo>
                  <a:lnTo>
                    <a:pt x="2569337" y="6858000"/>
                  </a:lnTo>
                  <a:lnTo>
                    <a:pt x="2569337" y="0"/>
                  </a:ln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5" name="Google Shape;78;p11">
              <a:extLst>
                <a:ext uri="{FF2B5EF4-FFF2-40B4-BE49-F238E27FC236}">
                  <a16:creationId xmlns:a16="http://schemas.microsoft.com/office/drawing/2014/main" id="{3778FB58-9B15-2924-18A9-844E13D9DB83}"/>
                </a:ext>
              </a:extLst>
            </p:cNvPr>
            <p:cNvSpPr/>
            <p:nvPr userDrawn="1"/>
          </p:nvSpPr>
          <p:spPr>
            <a:xfrm rot="10800000">
              <a:off x="1" y="1"/>
              <a:ext cx="1777412" cy="772302"/>
            </a:xfrm>
            <a:custGeom>
              <a:avLst/>
              <a:gdLst/>
              <a:ahLst/>
              <a:cxnLst/>
              <a:rect l="l" t="t" r="r" b="b"/>
              <a:pathLst>
                <a:path w="2369883" h="6858000" extrusionOk="0">
                  <a:moveTo>
                    <a:pt x="0" y="0"/>
                  </a:moveTo>
                  <a:cubicBezTo>
                    <a:pt x="1144905" y="1173671"/>
                    <a:pt x="1850327" y="2777998"/>
                    <a:pt x="1850327" y="4547172"/>
                  </a:cubicBezTo>
                  <a:cubicBezTo>
                    <a:pt x="1851215" y="5336680"/>
                    <a:pt x="1708277" y="6119749"/>
                    <a:pt x="1428432" y="6858000"/>
                  </a:cubicBezTo>
                  <a:lnTo>
                    <a:pt x="2369883" y="6858000"/>
                  </a:lnTo>
                  <a:lnTo>
                    <a:pt x="2369883" y="0"/>
                  </a:ln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4" name="Google Shape;79;p11">
              <a:extLst>
                <a:ext uri="{FF2B5EF4-FFF2-40B4-BE49-F238E27FC236}">
                  <a16:creationId xmlns:a16="http://schemas.microsoft.com/office/drawing/2014/main" id="{80896E88-B96F-55D0-5CA9-B0A05F5383F2}"/>
                </a:ext>
              </a:extLst>
            </p:cNvPr>
            <p:cNvSpPr/>
            <p:nvPr userDrawn="1"/>
          </p:nvSpPr>
          <p:spPr>
            <a:xfrm rot="10800000">
              <a:off x="2" y="562981"/>
              <a:ext cx="1378553" cy="209322"/>
            </a:xfrm>
            <a:custGeom>
              <a:avLst/>
              <a:gdLst/>
              <a:ahLst/>
              <a:cxnLst/>
              <a:rect l="l" t="t" r="r" b="b"/>
              <a:pathLst>
                <a:path w="1838070" h="1858772" extrusionOk="0">
                  <a:moveTo>
                    <a:pt x="1838071" y="1858772"/>
                  </a:moveTo>
                  <a:lnTo>
                    <a:pt x="1838071" y="0"/>
                  </a:lnTo>
                  <a:lnTo>
                    <a:pt x="0" y="0"/>
                  </a:lnTo>
                  <a:cubicBezTo>
                    <a:pt x="731393" y="489734"/>
                    <a:pt x="1356551" y="1121924"/>
                    <a:pt x="1838071" y="1858772"/>
                  </a:cubicBez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grpSp>
      <p:sp>
        <p:nvSpPr>
          <p:cNvPr id="8" name="Title 1">
            <a:extLst>
              <a:ext uri="{FF2B5EF4-FFF2-40B4-BE49-F238E27FC236}">
                <a16:creationId xmlns:a16="http://schemas.microsoft.com/office/drawing/2014/main" id="{6F99A813-7772-E0A6-7105-52C3B074B525}"/>
              </a:ext>
            </a:extLst>
          </p:cNvPr>
          <p:cNvSpPr>
            <a:spLocks noGrp="1"/>
          </p:cNvSpPr>
          <p:nvPr userDrawn="1">
            <p:ph type="title"/>
          </p:nvPr>
        </p:nvSpPr>
        <p:spPr>
          <a:xfrm>
            <a:off x="276352" y="146654"/>
            <a:ext cx="10280279" cy="552594"/>
          </a:xfrm>
          <a:prstGeom prst="rect">
            <a:avLst/>
          </a:prstGeom>
        </p:spPr>
        <p:txBody>
          <a:bodyPr/>
          <a:lstStyle>
            <a:lvl1pPr>
              <a:defRPr sz="2800" b="1" i="0">
                <a:solidFill>
                  <a:schemeClr val="bg1"/>
                </a:solidFill>
                <a:latin typeface="+mj-lt"/>
                <a:ea typeface="Helvetica Neue" panose="02000503000000020004" pitchFamily="2" charset="0"/>
                <a:cs typeface="Helvetica Neue" panose="02000503000000020004" pitchFamily="2" charset="0"/>
              </a:defRPr>
            </a:lvl1pPr>
          </a:lstStyle>
          <a:p>
            <a:endParaRPr lang="en-US" dirty="0"/>
          </a:p>
        </p:txBody>
      </p:sp>
      <p:sp>
        <p:nvSpPr>
          <p:cNvPr id="6" name="Text Placeholder 5">
            <a:extLst>
              <a:ext uri="{FF2B5EF4-FFF2-40B4-BE49-F238E27FC236}">
                <a16:creationId xmlns:a16="http://schemas.microsoft.com/office/drawing/2014/main" id="{6FF420E7-81D4-BD58-9C49-2368D2B602AB}"/>
              </a:ext>
            </a:extLst>
          </p:cNvPr>
          <p:cNvSpPr>
            <a:spLocks noGrp="1"/>
          </p:cNvSpPr>
          <p:nvPr userDrawn="1">
            <p:ph type="body" sz="quarter" idx="17"/>
          </p:nvPr>
        </p:nvSpPr>
        <p:spPr>
          <a:xfrm>
            <a:off x="276224" y="1188630"/>
            <a:ext cx="11619213" cy="5253445"/>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5910E7-3E34-3017-D4F4-2BA14A2251D5}"/>
              </a:ext>
            </a:extLst>
          </p:cNvPr>
          <p:cNvSpPr>
            <a:spLocks noGrp="1"/>
          </p:cNvSpPr>
          <p:nvPr>
            <p:ph type="dt" sz="half" idx="18"/>
          </p:nvPr>
        </p:nvSpPr>
        <p:spPr/>
        <p:txBody>
          <a:bodyPr/>
          <a:lstStyle/>
          <a:p>
            <a:r>
              <a:rPr lang="en-US" dirty="0"/>
              <a:t>DD/MM/YYYY</a:t>
            </a:r>
          </a:p>
        </p:txBody>
      </p:sp>
      <p:sp>
        <p:nvSpPr>
          <p:cNvPr id="7" name="Footer Placeholder 6">
            <a:extLst>
              <a:ext uri="{FF2B5EF4-FFF2-40B4-BE49-F238E27FC236}">
                <a16:creationId xmlns:a16="http://schemas.microsoft.com/office/drawing/2014/main" id="{42737175-D1F3-BFBA-F430-CCC72E844EB6}"/>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4E7A0F9E-05B7-4076-82A5-63B81ECF51F7}"/>
              </a:ext>
            </a:extLst>
          </p:cNvPr>
          <p:cNvSpPr>
            <a:spLocks noGrp="1"/>
          </p:cNvSpPr>
          <p:nvPr>
            <p:ph type="sldNum" sz="quarter" idx="20"/>
          </p:nvPr>
        </p:nvSpPr>
        <p:spPr/>
        <p:txBody>
          <a:bodyPr/>
          <a:lstStyle/>
          <a:p>
            <a:fld id="{2D04F4CF-F641-6E4E-8F87-8EB8AA2BFA51}" type="slidenum">
              <a:rPr lang="en-US" smtClean="0"/>
              <a:pPr/>
              <a:t>‹#›</a:t>
            </a:fld>
            <a:endParaRPr lang="en-US"/>
          </a:p>
        </p:txBody>
      </p:sp>
      <p:grpSp>
        <p:nvGrpSpPr>
          <p:cNvPr id="17" name="Group 16">
            <a:extLst>
              <a:ext uri="{FF2B5EF4-FFF2-40B4-BE49-F238E27FC236}">
                <a16:creationId xmlns:a16="http://schemas.microsoft.com/office/drawing/2014/main" id="{0C49109A-EDAB-4DA9-83B8-C65D925E9FBB}"/>
              </a:ext>
            </a:extLst>
          </p:cNvPr>
          <p:cNvGrpSpPr/>
          <p:nvPr userDrawn="1"/>
        </p:nvGrpSpPr>
        <p:grpSpPr>
          <a:xfrm>
            <a:off x="10308566" y="70818"/>
            <a:ext cx="1877335" cy="578242"/>
            <a:chOff x="10308566" y="70818"/>
            <a:chExt cx="1877335" cy="578242"/>
          </a:xfrm>
        </p:grpSpPr>
        <p:sp>
          <p:nvSpPr>
            <p:cNvPr id="18" name="Title 1">
              <a:extLst>
                <a:ext uri="{FF2B5EF4-FFF2-40B4-BE49-F238E27FC236}">
                  <a16:creationId xmlns:a16="http://schemas.microsoft.com/office/drawing/2014/main" id="{280E32A1-0B2C-4ED5-945D-633B91C68AC9}"/>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19" name="Picture 18">
              <a:extLst>
                <a:ext uri="{FF2B5EF4-FFF2-40B4-BE49-F238E27FC236}">
                  <a16:creationId xmlns:a16="http://schemas.microsoft.com/office/drawing/2014/main" id="{351C9C17-8FD7-4A5A-80F7-7CB951DD738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1458021" y="70818"/>
              <a:ext cx="727880" cy="578242"/>
            </a:xfrm>
            <a:prstGeom prst="rect">
              <a:avLst/>
            </a:prstGeom>
          </p:spPr>
        </p:pic>
      </p:grpSp>
      <p:sp>
        <p:nvSpPr>
          <p:cNvPr id="2" name="TextBox 1">
            <a:extLst>
              <a:ext uri="{FF2B5EF4-FFF2-40B4-BE49-F238E27FC236}">
                <a16:creationId xmlns:a16="http://schemas.microsoft.com/office/drawing/2014/main" id="{3E598874-AE36-A75A-7D1C-982B7DA5BB41}"/>
              </a:ext>
            </a:extLst>
          </p:cNvPr>
          <p:cNvSpPr txBox="1"/>
          <p:nvPr userDrawn="1"/>
        </p:nvSpPr>
        <p:spPr>
          <a:xfrm>
            <a:off x="276224" y="770575"/>
            <a:ext cx="10280407" cy="276999"/>
          </a:xfrm>
          <a:prstGeom prst="rect">
            <a:avLst/>
          </a:prstGeom>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93C8E"/>
                </a:solidFill>
              </a:rPr>
              <a:t>MSR-SRL-STS In-Contact Manipulation</a:t>
            </a:r>
          </a:p>
        </p:txBody>
      </p:sp>
    </p:spTree>
    <p:extLst>
      <p:ext uri="{BB962C8B-B14F-4D97-AF65-F5344CB8AC3E}">
        <p14:creationId xmlns:p14="http://schemas.microsoft.com/office/powerpoint/2010/main" val="41827592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9_Content_Multi_Two_Section">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A4EA522E-50E7-7BAF-2D71-DD182C535B6F}"/>
              </a:ext>
            </a:extLst>
          </p:cNvPr>
          <p:cNvSpPr/>
          <p:nvPr userDrawn="1"/>
        </p:nvSpPr>
        <p:spPr>
          <a:xfrm rot="10800000">
            <a:off x="0" y="1"/>
            <a:ext cx="12192000" cy="772301"/>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12" name="Rectangle 11">
            <a:extLst>
              <a:ext uri="{FF2B5EF4-FFF2-40B4-BE49-F238E27FC236}">
                <a16:creationId xmlns:a16="http://schemas.microsoft.com/office/drawing/2014/main" id="{3B037966-CEA8-53E2-A4D6-04DE14F2403E}"/>
              </a:ext>
            </a:extLst>
          </p:cNvPr>
          <p:cNvSpPr/>
          <p:nvPr userDrawn="1"/>
        </p:nvSpPr>
        <p:spPr>
          <a:xfrm>
            <a:off x="0" y="708770"/>
            <a:ext cx="12188952" cy="6353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0E0DC270-429D-22D1-6596-898C6B1A0400}"/>
              </a:ext>
            </a:extLst>
          </p:cNvPr>
          <p:cNvGrpSpPr/>
          <p:nvPr userDrawn="1"/>
        </p:nvGrpSpPr>
        <p:grpSpPr>
          <a:xfrm>
            <a:off x="0" y="1"/>
            <a:ext cx="486561" cy="708769"/>
            <a:chOff x="0" y="1"/>
            <a:chExt cx="1927002" cy="772302"/>
          </a:xfrm>
        </p:grpSpPr>
        <p:sp>
          <p:nvSpPr>
            <p:cNvPr id="13" name="Google Shape;77;p11">
              <a:extLst>
                <a:ext uri="{FF2B5EF4-FFF2-40B4-BE49-F238E27FC236}">
                  <a16:creationId xmlns:a16="http://schemas.microsoft.com/office/drawing/2014/main" id="{5DDD6E24-B686-B9A6-6A8E-FE9AB050C425}"/>
                </a:ext>
              </a:extLst>
            </p:cNvPr>
            <p:cNvSpPr/>
            <p:nvPr userDrawn="1"/>
          </p:nvSpPr>
          <p:spPr>
            <a:xfrm rot="10800000">
              <a:off x="0" y="1"/>
              <a:ext cx="1927002" cy="772302"/>
            </a:xfrm>
            <a:custGeom>
              <a:avLst/>
              <a:gdLst/>
              <a:ahLst/>
              <a:cxnLst/>
              <a:rect l="l" t="t" r="r" b="b"/>
              <a:pathLst>
                <a:path w="2569336" h="6858000" extrusionOk="0">
                  <a:moveTo>
                    <a:pt x="1256538" y="0"/>
                  </a:moveTo>
                  <a:cubicBezTo>
                    <a:pt x="1569466" y="775024"/>
                    <a:pt x="1729804" y="1603165"/>
                    <a:pt x="1728788" y="2438972"/>
                  </a:cubicBezTo>
                  <a:cubicBezTo>
                    <a:pt x="1728788" y="4144582"/>
                    <a:pt x="1073023" y="5696966"/>
                    <a:pt x="0" y="6858000"/>
                  </a:cubicBezTo>
                  <a:lnTo>
                    <a:pt x="2569337" y="6858000"/>
                  </a:lnTo>
                  <a:lnTo>
                    <a:pt x="2569337" y="0"/>
                  </a:ln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5" name="Google Shape;78;p11">
              <a:extLst>
                <a:ext uri="{FF2B5EF4-FFF2-40B4-BE49-F238E27FC236}">
                  <a16:creationId xmlns:a16="http://schemas.microsoft.com/office/drawing/2014/main" id="{3778FB58-9B15-2924-18A9-844E13D9DB83}"/>
                </a:ext>
              </a:extLst>
            </p:cNvPr>
            <p:cNvSpPr/>
            <p:nvPr userDrawn="1"/>
          </p:nvSpPr>
          <p:spPr>
            <a:xfrm rot="10800000">
              <a:off x="1" y="1"/>
              <a:ext cx="1777412" cy="772302"/>
            </a:xfrm>
            <a:custGeom>
              <a:avLst/>
              <a:gdLst/>
              <a:ahLst/>
              <a:cxnLst/>
              <a:rect l="l" t="t" r="r" b="b"/>
              <a:pathLst>
                <a:path w="2369883" h="6858000" extrusionOk="0">
                  <a:moveTo>
                    <a:pt x="0" y="0"/>
                  </a:moveTo>
                  <a:cubicBezTo>
                    <a:pt x="1144905" y="1173671"/>
                    <a:pt x="1850327" y="2777998"/>
                    <a:pt x="1850327" y="4547172"/>
                  </a:cubicBezTo>
                  <a:cubicBezTo>
                    <a:pt x="1851215" y="5336680"/>
                    <a:pt x="1708277" y="6119749"/>
                    <a:pt x="1428432" y="6858000"/>
                  </a:cubicBezTo>
                  <a:lnTo>
                    <a:pt x="2369883" y="6858000"/>
                  </a:lnTo>
                  <a:lnTo>
                    <a:pt x="2369883" y="0"/>
                  </a:ln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4" name="Google Shape;79;p11">
              <a:extLst>
                <a:ext uri="{FF2B5EF4-FFF2-40B4-BE49-F238E27FC236}">
                  <a16:creationId xmlns:a16="http://schemas.microsoft.com/office/drawing/2014/main" id="{80896E88-B96F-55D0-5CA9-B0A05F5383F2}"/>
                </a:ext>
              </a:extLst>
            </p:cNvPr>
            <p:cNvSpPr/>
            <p:nvPr userDrawn="1"/>
          </p:nvSpPr>
          <p:spPr>
            <a:xfrm rot="10800000">
              <a:off x="2" y="562981"/>
              <a:ext cx="1378553" cy="209322"/>
            </a:xfrm>
            <a:custGeom>
              <a:avLst/>
              <a:gdLst/>
              <a:ahLst/>
              <a:cxnLst/>
              <a:rect l="l" t="t" r="r" b="b"/>
              <a:pathLst>
                <a:path w="1838070" h="1858772" extrusionOk="0">
                  <a:moveTo>
                    <a:pt x="1838071" y="1858772"/>
                  </a:moveTo>
                  <a:lnTo>
                    <a:pt x="1838071" y="0"/>
                  </a:lnTo>
                  <a:lnTo>
                    <a:pt x="0" y="0"/>
                  </a:lnTo>
                  <a:cubicBezTo>
                    <a:pt x="731393" y="489734"/>
                    <a:pt x="1356551" y="1121924"/>
                    <a:pt x="1838071" y="1858772"/>
                  </a:cubicBez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grpSp>
      <p:sp>
        <p:nvSpPr>
          <p:cNvPr id="8" name="Title 1">
            <a:extLst>
              <a:ext uri="{FF2B5EF4-FFF2-40B4-BE49-F238E27FC236}">
                <a16:creationId xmlns:a16="http://schemas.microsoft.com/office/drawing/2014/main" id="{6F99A813-7772-E0A6-7105-52C3B074B525}"/>
              </a:ext>
            </a:extLst>
          </p:cNvPr>
          <p:cNvSpPr>
            <a:spLocks noGrp="1"/>
          </p:cNvSpPr>
          <p:nvPr userDrawn="1">
            <p:ph type="title"/>
          </p:nvPr>
        </p:nvSpPr>
        <p:spPr>
          <a:xfrm>
            <a:off x="276352" y="146654"/>
            <a:ext cx="10280279" cy="552594"/>
          </a:xfrm>
          <a:prstGeom prst="rect">
            <a:avLst/>
          </a:prstGeom>
        </p:spPr>
        <p:txBody>
          <a:bodyPr/>
          <a:lstStyle>
            <a:lvl1pPr>
              <a:defRPr sz="2800" b="1" i="0">
                <a:solidFill>
                  <a:schemeClr val="bg1"/>
                </a:solidFill>
                <a:latin typeface="+mj-lt"/>
                <a:ea typeface="Helvetica Neue" panose="02000503000000020004" pitchFamily="2" charset="0"/>
                <a:cs typeface="Helvetica Neue" panose="02000503000000020004" pitchFamily="2" charset="0"/>
              </a:defRPr>
            </a:lvl1pPr>
          </a:lstStyle>
          <a:p>
            <a:endParaRPr lang="en-US" dirty="0"/>
          </a:p>
        </p:txBody>
      </p:sp>
      <p:sp>
        <p:nvSpPr>
          <p:cNvPr id="4" name="Date Placeholder 3">
            <a:extLst>
              <a:ext uri="{FF2B5EF4-FFF2-40B4-BE49-F238E27FC236}">
                <a16:creationId xmlns:a16="http://schemas.microsoft.com/office/drawing/2014/main" id="{C55910E7-3E34-3017-D4F4-2BA14A2251D5}"/>
              </a:ext>
            </a:extLst>
          </p:cNvPr>
          <p:cNvSpPr>
            <a:spLocks noGrp="1"/>
          </p:cNvSpPr>
          <p:nvPr>
            <p:ph type="dt" sz="half" idx="18"/>
          </p:nvPr>
        </p:nvSpPr>
        <p:spPr/>
        <p:txBody>
          <a:bodyPr/>
          <a:lstStyle/>
          <a:p>
            <a:r>
              <a:rPr lang="en-US"/>
              <a:t>DD/MM/YYYY</a:t>
            </a:r>
          </a:p>
        </p:txBody>
      </p:sp>
      <p:sp>
        <p:nvSpPr>
          <p:cNvPr id="7" name="Footer Placeholder 6">
            <a:extLst>
              <a:ext uri="{FF2B5EF4-FFF2-40B4-BE49-F238E27FC236}">
                <a16:creationId xmlns:a16="http://schemas.microsoft.com/office/drawing/2014/main" id="{42737175-D1F3-BFBA-F430-CCC72E844EB6}"/>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4E7A0F9E-05B7-4076-82A5-63B81ECF51F7}"/>
              </a:ext>
            </a:extLst>
          </p:cNvPr>
          <p:cNvSpPr>
            <a:spLocks noGrp="1"/>
          </p:cNvSpPr>
          <p:nvPr>
            <p:ph type="sldNum" sz="quarter" idx="20"/>
          </p:nvPr>
        </p:nvSpPr>
        <p:spPr/>
        <p:txBody>
          <a:bodyPr/>
          <a:lstStyle/>
          <a:p>
            <a:fld id="{2D04F4CF-F641-6E4E-8F87-8EB8AA2BFA51}" type="slidenum">
              <a:rPr lang="en-US" smtClean="0"/>
              <a:pPr/>
              <a:t>‹#›</a:t>
            </a:fld>
            <a:endParaRPr lang="en-US"/>
          </a:p>
        </p:txBody>
      </p:sp>
      <p:sp>
        <p:nvSpPr>
          <p:cNvPr id="2" name="Text Placeholder 5">
            <a:extLst>
              <a:ext uri="{FF2B5EF4-FFF2-40B4-BE49-F238E27FC236}">
                <a16:creationId xmlns:a16="http://schemas.microsoft.com/office/drawing/2014/main" id="{DF4D316A-BA27-2CDA-E6DA-B2FBA93BD3CE}"/>
              </a:ext>
            </a:extLst>
          </p:cNvPr>
          <p:cNvSpPr>
            <a:spLocks noGrp="1"/>
          </p:cNvSpPr>
          <p:nvPr>
            <p:ph type="body" sz="quarter" idx="17"/>
          </p:nvPr>
        </p:nvSpPr>
        <p:spPr>
          <a:xfrm>
            <a:off x="276224" y="1188630"/>
            <a:ext cx="5700033" cy="5253445"/>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Straight Connector 10">
            <a:extLst>
              <a:ext uri="{FF2B5EF4-FFF2-40B4-BE49-F238E27FC236}">
                <a16:creationId xmlns:a16="http://schemas.microsoft.com/office/drawing/2014/main" id="{C03787DC-06EB-A69E-CA90-8F56F73F4CA4}"/>
              </a:ext>
            </a:extLst>
          </p:cNvPr>
          <p:cNvCxnSpPr>
            <a:cxnSpLocks/>
          </p:cNvCxnSpPr>
          <p:nvPr userDrawn="1"/>
        </p:nvCxnSpPr>
        <p:spPr>
          <a:xfrm>
            <a:off x="6096000" y="797216"/>
            <a:ext cx="0" cy="5806440"/>
          </a:xfrm>
          <a:prstGeom prst="line">
            <a:avLst/>
          </a:prstGeom>
          <a:ln w="1905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7" name="Text Placeholder 5">
            <a:extLst>
              <a:ext uri="{FF2B5EF4-FFF2-40B4-BE49-F238E27FC236}">
                <a16:creationId xmlns:a16="http://schemas.microsoft.com/office/drawing/2014/main" id="{FBBFE8C3-7A9D-1B42-DB57-DC4E41CED085}"/>
              </a:ext>
            </a:extLst>
          </p:cNvPr>
          <p:cNvSpPr>
            <a:spLocks noGrp="1"/>
          </p:cNvSpPr>
          <p:nvPr>
            <p:ph type="body" sz="quarter" idx="21"/>
          </p:nvPr>
        </p:nvSpPr>
        <p:spPr>
          <a:xfrm>
            <a:off x="6215744" y="1185383"/>
            <a:ext cx="5700033" cy="5253445"/>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0" name="Group 19">
            <a:extLst>
              <a:ext uri="{FF2B5EF4-FFF2-40B4-BE49-F238E27FC236}">
                <a16:creationId xmlns:a16="http://schemas.microsoft.com/office/drawing/2014/main" id="{9507C497-8B27-4505-8E04-3687D09AFC01}"/>
              </a:ext>
            </a:extLst>
          </p:cNvPr>
          <p:cNvGrpSpPr/>
          <p:nvPr userDrawn="1"/>
        </p:nvGrpSpPr>
        <p:grpSpPr>
          <a:xfrm>
            <a:off x="10308566" y="70818"/>
            <a:ext cx="1877335" cy="578242"/>
            <a:chOff x="10308566" y="70818"/>
            <a:chExt cx="1877335" cy="578242"/>
          </a:xfrm>
        </p:grpSpPr>
        <p:sp>
          <p:nvSpPr>
            <p:cNvPr id="21" name="Title 1">
              <a:extLst>
                <a:ext uri="{FF2B5EF4-FFF2-40B4-BE49-F238E27FC236}">
                  <a16:creationId xmlns:a16="http://schemas.microsoft.com/office/drawing/2014/main" id="{AA602D0A-F1DB-4373-AAC4-D25A97970666}"/>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22" name="Picture 21">
              <a:extLst>
                <a:ext uri="{FF2B5EF4-FFF2-40B4-BE49-F238E27FC236}">
                  <a16:creationId xmlns:a16="http://schemas.microsoft.com/office/drawing/2014/main" id="{978E8C4A-8A8C-4726-86C1-B3D29453B1E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1458021" y="70818"/>
              <a:ext cx="727880" cy="578242"/>
            </a:xfrm>
            <a:prstGeom prst="rect">
              <a:avLst/>
            </a:prstGeom>
          </p:spPr>
        </p:pic>
      </p:grpSp>
      <p:sp>
        <p:nvSpPr>
          <p:cNvPr id="3" name="TextBox 2">
            <a:extLst>
              <a:ext uri="{FF2B5EF4-FFF2-40B4-BE49-F238E27FC236}">
                <a16:creationId xmlns:a16="http://schemas.microsoft.com/office/drawing/2014/main" id="{FF050893-595C-F6A6-661C-73CED97A0A72}"/>
              </a:ext>
            </a:extLst>
          </p:cNvPr>
          <p:cNvSpPr txBox="1"/>
          <p:nvPr userDrawn="1"/>
        </p:nvSpPr>
        <p:spPr>
          <a:xfrm>
            <a:off x="276224" y="770575"/>
            <a:ext cx="10280407" cy="276999"/>
          </a:xfrm>
          <a:prstGeom prst="rect">
            <a:avLst/>
          </a:prstGeom>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93C8E"/>
                </a:solidFill>
              </a:rPr>
              <a:t>MSR-SRL-STS In-Contact Manipulation</a:t>
            </a:r>
          </a:p>
        </p:txBody>
      </p:sp>
    </p:spTree>
    <p:extLst>
      <p:ext uri="{BB962C8B-B14F-4D97-AF65-F5344CB8AC3E}">
        <p14:creationId xmlns:p14="http://schemas.microsoft.com/office/powerpoint/2010/main" val="42264670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0_Content_Multi_Quandrant">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A4EA522E-50E7-7BAF-2D71-DD182C535B6F}"/>
              </a:ext>
            </a:extLst>
          </p:cNvPr>
          <p:cNvSpPr/>
          <p:nvPr userDrawn="1"/>
        </p:nvSpPr>
        <p:spPr>
          <a:xfrm rot="10800000">
            <a:off x="0" y="1"/>
            <a:ext cx="12192000" cy="772301"/>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12" name="Rectangle 11">
            <a:extLst>
              <a:ext uri="{FF2B5EF4-FFF2-40B4-BE49-F238E27FC236}">
                <a16:creationId xmlns:a16="http://schemas.microsoft.com/office/drawing/2014/main" id="{3B037966-CEA8-53E2-A4D6-04DE14F2403E}"/>
              </a:ext>
            </a:extLst>
          </p:cNvPr>
          <p:cNvSpPr/>
          <p:nvPr userDrawn="1"/>
        </p:nvSpPr>
        <p:spPr>
          <a:xfrm>
            <a:off x="0" y="708770"/>
            <a:ext cx="12188952" cy="6353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0E0DC270-429D-22D1-6596-898C6B1A0400}"/>
              </a:ext>
            </a:extLst>
          </p:cNvPr>
          <p:cNvGrpSpPr/>
          <p:nvPr userDrawn="1"/>
        </p:nvGrpSpPr>
        <p:grpSpPr>
          <a:xfrm>
            <a:off x="0" y="1"/>
            <a:ext cx="486561" cy="708769"/>
            <a:chOff x="0" y="1"/>
            <a:chExt cx="1927002" cy="772302"/>
          </a:xfrm>
        </p:grpSpPr>
        <p:sp>
          <p:nvSpPr>
            <p:cNvPr id="13" name="Google Shape;77;p11">
              <a:extLst>
                <a:ext uri="{FF2B5EF4-FFF2-40B4-BE49-F238E27FC236}">
                  <a16:creationId xmlns:a16="http://schemas.microsoft.com/office/drawing/2014/main" id="{5DDD6E24-B686-B9A6-6A8E-FE9AB050C425}"/>
                </a:ext>
              </a:extLst>
            </p:cNvPr>
            <p:cNvSpPr/>
            <p:nvPr userDrawn="1"/>
          </p:nvSpPr>
          <p:spPr>
            <a:xfrm rot="10800000">
              <a:off x="0" y="1"/>
              <a:ext cx="1927002" cy="772302"/>
            </a:xfrm>
            <a:custGeom>
              <a:avLst/>
              <a:gdLst/>
              <a:ahLst/>
              <a:cxnLst/>
              <a:rect l="l" t="t" r="r" b="b"/>
              <a:pathLst>
                <a:path w="2569336" h="6858000" extrusionOk="0">
                  <a:moveTo>
                    <a:pt x="1256538" y="0"/>
                  </a:moveTo>
                  <a:cubicBezTo>
                    <a:pt x="1569466" y="775024"/>
                    <a:pt x="1729804" y="1603165"/>
                    <a:pt x="1728788" y="2438972"/>
                  </a:cubicBezTo>
                  <a:cubicBezTo>
                    <a:pt x="1728788" y="4144582"/>
                    <a:pt x="1073023" y="5696966"/>
                    <a:pt x="0" y="6858000"/>
                  </a:cubicBezTo>
                  <a:lnTo>
                    <a:pt x="2569337" y="6858000"/>
                  </a:lnTo>
                  <a:lnTo>
                    <a:pt x="2569337" y="0"/>
                  </a:ln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5" name="Google Shape;78;p11">
              <a:extLst>
                <a:ext uri="{FF2B5EF4-FFF2-40B4-BE49-F238E27FC236}">
                  <a16:creationId xmlns:a16="http://schemas.microsoft.com/office/drawing/2014/main" id="{3778FB58-9B15-2924-18A9-844E13D9DB83}"/>
                </a:ext>
              </a:extLst>
            </p:cNvPr>
            <p:cNvSpPr/>
            <p:nvPr userDrawn="1"/>
          </p:nvSpPr>
          <p:spPr>
            <a:xfrm rot="10800000">
              <a:off x="1" y="1"/>
              <a:ext cx="1777412" cy="772302"/>
            </a:xfrm>
            <a:custGeom>
              <a:avLst/>
              <a:gdLst/>
              <a:ahLst/>
              <a:cxnLst/>
              <a:rect l="l" t="t" r="r" b="b"/>
              <a:pathLst>
                <a:path w="2369883" h="6858000" extrusionOk="0">
                  <a:moveTo>
                    <a:pt x="0" y="0"/>
                  </a:moveTo>
                  <a:cubicBezTo>
                    <a:pt x="1144905" y="1173671"/>
                    <a:pt x="1850327" y="2777998"/>
                    <a:pt x="1850327" y="4547172"/>
                  </a:cubicBezTo>
                  <a:cubicBezTo>
                    <a:pt x="1851215" y="5336680"/>
                    <a:pt x="1708277" y="6119749"/>
                    <a:pt x="1428432" y="6858000"/>
                  </a:cubicBezTo>
                  <a:lnTo>
                    <a:pt x="2369883" y="6858000"/>
                  </a:lnTo>
                  <a:lnTo>
                    <a:pt x="2369883" y="0"/>
                  </a:ln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4" name="Google Shape;79;p11">
              <a:extLst>
                <a:ext uri="{FF2B5EF4-FFF2-40B4-BE49-F238E27FC236}">
                  <a16:creationId xmlns:a16="http://schemas.microsoft.com/office/drawing/2014/main" id="{80896E88-B96F-55D0-5CA9-B0A05F5383F2}"/>
                </a:ext>
              </a:extLst>
            </p:cNvPr>
            <p:cNvSpPr/>
            <p:nvPr userDrawn="1"/>
          </p:nvSpPr>
          <p:spPr>
            <a:xfrm rot="10800000">
              <a:off x="2" y="562981"/>
              <a:ext cx="1378553" cy="209322"/>
            </a:xfrm>
            <a:custGeom>
              <a:avLst/>
              <a:gdLst/>
              <a:ahLst/>
              <a:cxnLst/>
              <a:rect l="l" t="t" r="r" b="b"/>
              <a:pathLst>
                <a:path w="1838070" h="1858772" extrusionOk="0">
                  <a:moveTo>
                    <a:pt x="1838071" y="1858772"/>
                  </a:moveTo>
                  <a:lnTo>
                    <a:pt x="1838071" y="0"/>
                  </a:lnTo>
                  <a:lnTo>
                    <a:pt x="0" y="0"/>
                  </a:lnTo>
                  <a:cubicBezTo>
                    <a:pt x="731393" y="489734"/>
                    <a:pt x="1356551" y="1121924"/>
                    <a:pt x="1838071" y="1858772"/>
                  </a:cubicBez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grpSp>
      <p:sp>
        <p:nvSpPr>
          <p:cNvPr id="8" name="Title 1">
            <a:extLst>
              <a:ext uri="{FF2B5EF4-FFF2-40B4-BE49-F238E27FC236}">
                <a16:creationId xmlns:a16="http://schemas.microsoft.com/office/drawing/2014/main" id="{6F99A813-7772-E0A6-7105-52C3B074B525}"/>
              </a:ext>
            </a:extLst>
          </p:cNvPr>
          <p:cNvSpPr>
            <a:spLocks noGrp="1"/>
          </p:cNvSpPr>
          <p:nvPr userDrawn="1">
            <p:ph type="title"/>
          </p:nvPr>
        </p:nvSpPr>
        <p:spPr>
          <a:xfrm>
            <a:off x="276352" y="146654"/>
            <a:ext cx="10280279" cy="552594"/>
          </a:xfrm>
          <a:prstGeom prst="rect">
            <a:avLst/>
          </a:prstGeom>
        </p:spPr>
        <p:txBody>
          <a:bodyPr/>
          <a:lstStyle>
            <a:lvl1pPr>
              <a:defRPr sz="2800" b="1" i="0">
                <a:solidFill>
                  <a:schemeClr val="bg1"/>
                </a:solidFill>
                <a:latin typeface="+mj-lt"/>
                <a:ea typeface="Helvetica Neue" panose="02000503000000020004" pitchFamily="2" charset="0"/>
                <a:cs typeface="Helvetica Neue" panose="02000503000000020004" pitchFamily="2" charset="0"/>
              </a:defRPr>
            </a:lvl1pPr>
          </a:lstStyle>
          <a:p>
            <a:endParaRPr lang="en-US" dirty="0"/>
          </a:p>
        </p:txBody>
      </p:sp>
      <p:sp>
        <p:nvSpPr>
          <p:cNvPr id="4" name="Date Placeholder 3">
            <a:extLst>
              <a:ext uri="{FF2B5EF4-FFF2-40B4-BE49-F238E27FC236}">
                <a16:creationId xmlns:a16="http://schemas.microsoft.com/office/drawing/2014/main" id="{C55910E7-3E34-3017-D4F4-2BA14A2251D5}"/>
              </a:ext>
            </a:extLst>
          </p:cNvPr>
          <p:cNvSpPr>
            <a:spLocks noGrp="1"/>
          </p:cNvSpPr>
          <p:nvPr>
            <p:ph type="dt" sz="half" idx="18"/>
          </p:nvPr>
        </p:nvSpPr>
        <p:spPr/>
        <p:txBody>
          <a:bodyPr/>
          <a:lstStyle/>
          <a:p>
            <a:r>
              <a:rPr lang="en-US"/>
              <a:t>DD/MM/YYYY</a:t>
            </a:r>
          </a:p>
        </p:txBody>
      </p:sp>
      <p:sp>
        <p:nvSpPr>
          <p:cNvPr id="7" name="Footer Placeholder 6">
            <a:extLst>
              <a:ext uri="{FF2B5EF4-FFF2-40B4-BE49-F238E27FC236}">
                <a16:creationId xmlns:a16="http://schemas.microsoft.com/office/drawing/2014/main" id="{42737175-D1F3-BFBA-F430-CCC72E844EB6}"/>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4E7A0F9E-05B7-4076-82A5-63B81ECF51F7}"/>
              </a:ext>
            </a:extLst>
          </p:cNvPr>
          <p:cNvSpPr>
            <a:spLocks noGrp="1"/>
          </p:cNvSpPr>
          <p:nvPr>
            <p:ph type="sldNum" sz="quarter" idx="20"/>
          </p:nvPr>
        </p:nvSpPr>
        <p:spPr/>
        <p:txBody>
          <a:bodyPr/>
          <a:lstStyle/>
          <a:p>
            <a:fld id="{2D04F4CF-F641-6E4E-8F87-8EB8AA2BFA51}" type="slidenum">
              <a:rPr lang="en-US" smtClean="0"/>
              <a:pPr/>
              <a:t>‹#›</a:t>
            </a:fld>
            <a:endParaRPr lang="en-US"/>
          </a:p>
        </p:txBody>
      </p:sp>
      <p:cxnSp>
        <p:nvCxnSpPr>
          <p:cNvPr id="6" name="Straight Connector 5">
            <a:extLst>
              <a:ext uri="{FF2B5EF4-FFF2-40B4-BE49-F238E27FC236}">
                <a16:creationId xmlns:a16="http://schemas.microsoft.com/office/drawing/2014/main" id="{A877EFAB-CEC4-30AD-0F44-E1377F77B57D}"/>
              </a:ext>
            </a:extLst>
          </p:cNvPr>
          <p:cNvCxnSpPr>
            <a:cxnSpLocks/>
          </p:cNvCxnSpPr>
          <p:nvPr userDrawn="1"/>
        </p:nvCxnSpPr>
        <p:spPr>
          <a:xfrm>
            <a:off x="6096000" y="797216"/>
            <a:ext cx="0" cy="5806440"/>
          </a:xfrm>
          <a:prstGeom prst="line">
            <a:avLst/>
          </a:prstGeom>
          <a:ln w="1905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0243E7F-BA0A-52CF-F55C-2DF7621C8D5C}"/>
              </a:ext>
            </a:extLst>
          </p:cNvPr>
          <p:cNvCxnSpPr>
            <a:cxnSpLocks/>
          </p:cNvCxnSpPr>
          <p:nvPr userDrawn="1"/>
        </p:nvCxnSpPr>
        <p:spPr>
          <a:xfrm flipH="1">
            <a:off x="111062" y="3812721"/>
            <a:ext cx="11969876" cy="0"/>
          </a:xfrm>
          <a:prstGeom prst="line">
            <a:avLst/>
          </a:prstGeom>
          <a:ln w="1905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Text Placeholder 5">
            <a:extLst>
              <a:ext uri="{FF2B5EF4-FFF2-40B4-BE49-F238E27FC236}">
                <a16:creationId xmlns:a16="http://schemas.microsoft.com/office/drawing/2014/main" id="{CE7B9855-2BF5-5B1F-081F-C6C732B54787}"/>
              </a:ext>
            </a:extLst>
          </p:cNvPr>
          <p:cNvSpPr>
            <a:spLocks noGrp="1"/>
          </p:cNvSpPr>
          <p:nvPr>
            <p:ph type="body" sz="quarter" idx="21"/>
          </p:nvPr>
        </p:nvSpPr>
        <p:spPr>
          <a:xfrm>
            <a:off x="276223" y="1184137"/>
            <a:ext cx="5700033" cy="2411144"/>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5">
            <a:extLst>
              <a:ext uri="{FF2B5EF4-FFF2-40B4-BE49-F238E27FC236}">
                <a16:creationId xmlns:a16="http://schemas.microsoft.com/office/drawing/2014/main" id="{D1F7C524-4887-A9F5-4629-7A2B7E7BA522}"/>
              </a:ext>
            </a:extLst>
          </p:cNvPr>
          <p:cNvSpPr>
            <a:spLocks noGrp="1"/>
          </p:cNvSpPr>
          <p:nvPr>
            <p:ph type="body" sz="quarter" idx="22"/>
          </p:nvPr>
        </p:nvSpPr>
        <p:spPr>
          <a:xfrm>
            <a:off x="276222" y="4030931"/>
            <a:ext cx="5700033" cy="2411144"/>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5">
            <a:extLst>
              <a:ext uri="{FF2B5EF4-FFF2-40B4-BE49-F238E27FC236}">
                <a16:creationId xmlns:a16="http://schemas.microsoft.com/office/drawing/2014/main" id="{980F5790-6576-FF86-506B-ADCFA034145C}"/>
              </a:ext>
            </a:extLst>
          </p:cNvPr>
          <p:cNvSpPr>
            <a:spLocks noGrp="1"/>
          </p:cNvSpPr>
          <p:nvPr>
            <p:ph type="body" sz="quarter" idx="23"/>
          </p:nvPr>
        </p:nvSpPr>
        <p:spPr>
          <a:xfrm>
            <a:off x="6215743" y="1184137"/>
            <a:ext cx="5700033" cy="2411144"/>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5">
            <a:extLst>
              <a:ext uri="{FF2B5EF4-FFF2-40B4-BE49-F238E27FC236}">
                <a16:creationId xmlns:a16="http://schemas.microsoft.com/office/drawing/2014/main" id="{95344996-835A-26BD-2FC9-E819B79E3478}"/>
              </a:ext>
            </a:extLst>
          </p:cNvPr>
          <p:cNvSpPr>
            <a:spLocks noGrp="1"/>
          </p:cNvSpPr>
          <p:nvPr>
            <p:ph type="body" sz="quarter" idx="24"/>
          </p:nvPr>
        </p:nvSpPr>
        <p:spPr>
          <a:xfrm>
            <a:off x="6215743" y="4027479"/>
            <a:ext cx="5700033" cy="2411144"/>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2" name="Group 21">
            <a:extLst>
              <a:ext uri="{FF2B5EF4-FFF2-40B4-BE49-F238E27FC236}">
                <a16:creationId xmlns:a16="http://schemas.microsoft.com/office/drawing/2014/main" id="{04A6D93F-E532-44B1-B04A-7041D60DC25A}"/>
              </a:ext>
            </a:extLst>
          </p:cNvPr>
          <p:cNvGrpSpPr/>
          <p:nvPr userDrawn="1"/>
        </p:nvGrpSpPr>
        <p:grpSpPr>
          <a:xfrm>
            <a:off x="10308566" y="70818"/>
            <a:ext cx="1877335" cy="578242"/>
            <a:chOff x="10308566" y="70818"/>
            <a:chExt cx="1877335" cy="578242"/>
          </a:xfrm>
        </p:grpSpPr>
        <p:sp>
          <p:nvSpPr>
            <p:cNvPr id="28" name="Title 1">
              <a:extLst>
                <a:ext uri="{FF2B5EF4-FFF2-40B4-BE49-F238E27FC236}">
                  <a16:creationId xmlns:a16="http://schemas.microsoft.com/office/drawing/2014/main" id="{17F3F568-F970-464E-85AD-E917489D6B18}"/>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29" name="Picture 28">
              <a:extLst>
                <a:ext uri="{FF2B5EF4-FFF2-40B4-BE49-F238E27FC236}">
                  <a16:creationId xmlns:a16="http://schemas.microsoft.com/office/drawing/2014/main" id="{9FA2AEFE-1190-4548-B467-32D411CB617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1458021" y="70818"/>
              <a:ext cx="727880" cy="578242"/>
            </a:xfrm>
            <a:prstGeom prst="rect">
              <a:avLst/>
            </a:prstGeom>
          </p:spPr>
        </p:pic>
      </p:grpSp>
      <p:sp>
        <p:nvSpPr>
          <p:cNvPr id="2" name="TextBox 1">
            <a:extLst>
              <a:ext uri="{FF2B5EF4-FFF2-40B4-BE49-F238E27FC236}">
                <a16:creationId xmlns:a16="http://schemas.microsoft.com/office/drawing/2014/main" id="{ACAEFA5C-8481-05C2-0A93-D1BA1B5BE03F}"/>
              </a:ext>
            </a:extLst>
          </p:cNvPr>
          <p:cNvSpPr txBox="1"/>
          <p:nvPr userDrawn="1"/>
        </p:nvSpPr>
        <p:spPr>
          <a:xfrm>
            <a:off x="276224" y="770575"/>
            <a:ext cx="10280407" cy="276999"/>
          </a:xfrm>
          <a:prstGeom prst="rect">
            <a:avLst/>
          </a:prstGeom>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93C8E"/>
                </a:solidFill>
              </a:rPr>
              <a:t>MSR-SRL-STS In-Contact Manipulation</a:t>
            </a:r>
          </a:p>
        </p:txBody>
      </p:sp>
    </p:spTree>
    <p:extLst>
      <p:ext uri="{BB962C8B-B14F-4D97-AF65-F5344CB8AC3E}">
        <p14:creationId xmlns:p14="http://schemas.microsoft.com/office/powerpoint/2010/main" val="23972828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1_Content_Multi_Text_and_Picture">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A4EA522E-50E7-7BAF-2D71-DD182C535B6F}"/>
              </a:ext>
            </a:extLst>
          </p:cNvPr>
          <p:cNvSpPr/>
          <p:nvPr userDrawn="1"/>
        </p:nvSpPr>
        <p:spPr>
          <a:xfrm rot="10800000">
            <a:off x="0" y="1"/>
            <a:ext cx="12192000" cy="772301"/>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12" name="Rectangle 11">
            <a:extLst>
              <a:ext uri="{FF2B5EF4-FFF2-40B4-BE49-F238E27FC236}">
                <a16:creationId xmlns:a16="http://schemas.microsoft.com/office/drawing/2014/main" id="{3B037966-CEA8-53E2-A4D6-04DE14F2403E}"/>
              </a:ext>
            </a:extLst>
          </p:cNvPr>
          <p:cNvSpPr/>
          <p:nvPr userDrawn="1"/>
        </p:nvSpPr>
        <p:spPr>
          <a:xfrm>
            <a:off x="0" y="708770"/>
            <a:ext cx="12188952" cy="6353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0E0DC270-429D-22D1-6596-898C6B1A0400}"/>
              </a:ext>
            </a:extLst>
          </p:cNvPr>
          <p:cNvGrpSpPr/>
          <p:nvPr userDrawn="1"/>
        </p:nvGrpSpPr>
        <p:grpSpPr>
          <a:xfrm>
            <a:off x="0" y="1"/>
            <a:ext cx="486561" cy="708769"/>
            <a:chOff x="0" y="1"/>
            <a:chExt cx="1927002" cy="772302"/>
          </a:xfrm>
        </p:grpSpPr>
        <p:sp>
          <p:nvSpPr>
            <p:cNvPr id="13" name="Google Shape;77;p11">
              <a:extLst>
                <a:ext uri="{FF2B5EF4-FFF2-40B4-BE49-F238E27FC236}">
                  <a16:creationId xmlns:a16="http://schemas.microsoft.com/office/drawing/2014/main" id="{5DDD6E24-B686-B9A6-6A8E-FE9AB050C425}"/>
                </a:ext>
              </a:extLst>
            </p:cNvPr>
            <p:cNvSpPr/>
            <p:nvPr userDrawn="1"/>
          </p:nvSpPr>
          <p:spPr>
            <a:xfrm rot="10800000">
              <a:off x="0" y="1"/>
              <a:ext cx="1927002" cy="772302"/>
            </a:xfrm>
            <a:custGeom>
              <a:avLst/>
              <a:gdLst/>
              <a:ahLst/>
              <a:cxnLst/>
              <a:rect l="l" t="t" r="r" b="b"/>
              <a:pathLst>
                <a:path w="2569336" h="6858000" extrusionOk="0">
                  <a:moveTo>
                    <a:pt x="1256538" y="0"/>
                  </a:moveTo>
                  <a:cubicBezTo>
                    <a:pt x="1569466" y="775024"/>
                    <a:pt x="1729804" y="1603165"/>
                    <a:pt x="1728788" y="2438972"/>
                  </a:cubicBezTo>
                  <a:cubicBezTo>
                    <a:pt x="1728788" y="4144582"/>
                    <a:pt x="1073023" y="5696966"/>
                    <a:pt x="0" y="6858000"/>
                  </a:cubicBezTo>
                  <a:lnTo>
                    <a:pt x="2569337" y="6858000"/>
                  </a:lnTo>
                  <a:lnTo>
                    <a:pt x="2569337" y="0"/>
                  </a:ln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5" name="Google Shape;78;p11">
              <a:extLst>
                <a:ext uri="{FF2B5EF4-FFF2-40B4-BE49-F238E27FC236}">
                  <a16:creationId xmlns:a16="http://schemas.microsoft.com/office/drawing/2014/main" id="{3778FB58-9B15-2924-18A9-844E13D9DB83}"/>
                </a:ext>
              </a:extLst>
            </p:cNvPr>
            <p:cNvSpPr/>
            <p:nvPr userDrawn="1"/>
          </p:nvSpPr>
          <p:spPr>
            <a:xfrm rot="10800000">
              <a:off x="1" y="1"/>
              <a:ext cx="1777412" cy="772302"/>
            </a:xfrm>
            <a:custGeom>
              <a:avLst/>
              <a:gdLst/>
              <a:ahLst/>
              <a:cxnLst/>
              <a:rect l="l" t="t" r="r" b="b"/>
              <a:pathLst>
                <a:path w="2369883" h="6858000" extrusionOk="0">
                  <a:moveTo>
                    <a:pt x="0" y="0"/>
                  </a:moveTo>
                  <a:cubicBezTo>
                    <a:pt x="1144905" y="1173671"/>
                    <a:pt x="1850327" y="2777998"/>
                    <a:pt x="1850327" y="4547172"/>
                  </a:cubicBezTo>
                  <a:cubicBezTo>
                    <a:pt x="1851215" y="5336680"/>
                    <a:pt x="1708277" y="6119749"/>
                    <a:pt x="1428432" y="6858000"/>
                  </a:cubicBezTo>
                  <a:lnTo>
                    <a:pt x="2369883" y="6858000"/>
                  </a:lnTo>
                  <a:lnTo>
                    <a:pt x="2369883" y="0"/>
                  </a:ln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4" name="Google Shape;79;p11">
              <a:extLst>
                <a:ext uri="{FF2B5EF4-FFF2-40B4-BE49-F238E27FC236}">
                  <a16:creationId xmlns:a16="http://schemas.microsoft.com/office/drawing/2014/main" id="{80896E88-B96F-55D0-5CA9-B0A05F5383F2}"/>
                </a:ext>
              </a:extLst>
            </p:cNvPr>
            <p:cNvSpPr/>
            <p:nvPr userDrawn="1"/>
          </p:nvSpPr>
          <p:spPr>
            <a:xfrm rot="10800000">
              <a:off x="2" y="562981"/>
              <a:ext cx="1378553" cy="209322"/>
            </a:xfrm>
            <a:custGeom>
              <a:avLst/>
              <a:gdLst/>
              <a:ahLst/>
              <a:cxnLst/>
              <a:rect l="l" t="t" r="r" b="b"/>
              <a:pathLst>
                <a:path w="1838070" h="1858772" extrusionOk="0">
                  <a:moveTo>
                    <a:pt x="1838071" y="1858772"/>
                  </a:moveTo>
                  <a:lnTo>
                    <a:pt x="1838071" y="0"/>
                  </a:lnTo>
                  <a:lnTo>
                    <a:pt x="0" y="0"/>
                  </a:lnTo>
                  <a:cubicBezTo>
                    <a:pt x="731393" y="489734"/>
                    <a:pt x="1356551" y="1121924"/>
                    <a:pt x="1838071" y="1858772"/>
                  </a:cubicBez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grpSp>
      <p:sp>
        <p:nvSpPr>
          <p:cNvPr id="8" name="Title 1">
            <a:extLst>
              <a:ext uri="{FF2B5EF4-FFF2-40B4-BE49-F238E27FC236}">
                <a16:creationId xmlns:a16="http://schemas.microsoft.com/office/drawing/2014/main" id="{6F99A813-7772-E0A6-7105-52C3B074B525}"/>
              </a:ext>
            </a:extLst>
          </p:cNvPr>
          <p:cNvSpPr>
            <a:spLocks noGrp="1"/>
          </p:cNvSpPr>
          <p:nvPr userDrawn="1">
            <p:ph type="title"/>
          </p:nvPr>
        </p:nvSpPr>
        <p:spPr>
          <a:xfrm>
            <a:off x="276352" y="146654"/>
            <a:ext cx="10280279" cy="552594"/>
          </a:xfrm>
          <a:prstGeom prst="rect">
            <a:avLst/>
          </a:prstGeom>
        </p:spPr>
        <p:txBody>
          <a:bodyPr/>
          <a:lstStyle>
            <a:lvl1pPr>
              <a:defRPr sz="2800" b="1" i="0">
                <a:solidFill>
                  <a:schemeClr val="bg1"/>
                </a:solidFill>
                <a:latin typeface="+mj-lt"/>
                <a:ea typeface="Helvetica Neue" panose="02000503000000020004" pitchFamily="2" charset="0"/>
                <a:cs typeface="Helvetica Neue" panose="02000503000000020004" pitchFamily="2" charset="0"/>
              </a:defRPr>
            </a:lvl1pPr>
          </a:lstStyle>
          <a:p>
            <a:endParaRPr lang="en-US" dirty="0"/>
          </a:p>
        </p:txBody>
      </p:sp>
      <p:sp>
        <p:nvSpPr>
          <p:cNvPr id="4" name="Date Placeholder 3">
            <a:extLst>
              <a:ext uri="{FF2B5EF4-FFF2-40B4-BE49-F238E27FC236}">
                <a16:creationId xmlns:a16="http://schemas.microsoft.com/office/drawing/2014/main" id="{C55910E7-3E34-3017-D4F4-2BA14A2251D5}"/>
              </a:ext>
            </a:extLst>
          </p:cNvPr>
          <p:cNvSpPr>
            <a:spLocks noGrp="1"/>
          </p:cNvSpPr>
          <p:nvPr>
            <p:ph type="dt" sz="half" idx="18"/>
          </p:nvPr>
        </p:nvSpPr>
        <p:spPr/>
        <p:txBody>
          <a:bodyPr/>
          <a:lstStyle/>
          <a:p>
            <a:r>
              <a:rPr lang="en-US"/>
              <a:t>DD/MM/YYYY</a:t>
            </a:r>
          </a:p>
        </p:txBody>
      </p:sp>
      <p:sp>
        <p:nvSpPr>
          <p:cNvPr id="7" name="Footer Placeholder 6">
            <a:extLst>
              <a:ext uri="{FF2B5EF4-FFF2-40B4-BE49-F238E27FC236}">
                <a16:creationId xmlns:a16="http://schemas.microsoft.com/office/drawing/2014/main" id="{42737175-D1F3-BFBA-F430-CCC72E844EB6}"/>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4E7A0F9E-05B7-4076-82A5-63B81ECF51F7}"/>
              </a:ext>
            </a:extLst>
          </p:cNvPr>
          <p:cNvSpPr>
            <a:spLocks noGrp="1"/>
          </p:cNvSpPr>
          <p:nvPr>
            <p:ph type="sldNum" sz="quarter" idx="20"/>
          </p:nvPr>
        </p:nvSpPr>
        <p:spPr/>
        <p:txBody>
          <a:bodyPr/>
          <a:lstStyle/>
          <a:p>
            <a:fld id="{2D04F4CF-F641-6E4E-8F87-8EB8AA2BFA51}" type="slidenum">
              <a:rPr lang="en-US" smtClean="0"/>
              <a:pPr/>
              <a:t>‹#›</a:t>
            </a:fld>
            <a:endParaRPr lang="en-US"/>
          </a:p>
        </p:txBody>
      </p:sp>
      <p:sp>
        <p:nvSpPr>
          <p:cNvPr id="2" name="Picture Placeholder 11">
            <a:extLst>
              <a:ext uri="{FF2B5EF4-FFF2-40B4-BE49-F238E27FC236}">
                <a16:creationId xmlns:a16="http://schemas.microsoft.com/office/drawing/2014/main" id="{815812CD-E421-C488-D4CC-97CFD4B64599}"/>
              </a:ext>
            </a:extLst>
          </p:cNvPr>
          <p:cNvSpPr>
            <a:spLocks noGrp="1"/>
          </p:cNvSpPr>
          <p:nvPr>
            <p:ph type="pic" sz="quarter" idx="22"/>
          </p:nvPr>
        </p:nvSpPr>
        <p:spPr>
          <a:xfrm>
            <a:off x="6215742" y="1175972"/>
            <a:ext cx="5700033" cy="5266103"/>
          </a:xfrm>
          <a:prstGeom prst="rect">
            <a:avLst/>
          </a:prstGeom>
        </p:spPr>
        <p:txBody>
          <a:bodyPr/>
          <a:lstStyle>
            <a:lvl1pPr>
              <a:defRPr sz="2000"/>
            </a:lvl1pPr>
          </a:lstStyle>
          <a:p>
            <a:endParaRPr lang="en-US"/>
          </a:p>
        </p:txBody>
      </p:sp>
      <p:sp>
        <p:nvSpPr>
          <p:cNvPr id="3" name="Text Placeholder 5">
            <a:extLst>
              <a:ext uri="{FF2B5EF4-FFF2-40B4-BE49-F238E27FC236}">
                <a16:creationId xmlns:a16="http://schemas.microsoft.com/office/drawing/2014/main" id="{24BB0B6B-A3CB-4CF0-E0FC-860520D2C7C2}"/>
              </a:ext>
            </a:extLst>
          </p:cNvPr>
          <p:cNvSpPr>
            <a:spLocks noGrp="1"/>
          </p:cNvSpPr>
          <p:nvPr>
            <p:ph type="body" sz="quarter" idx="17"/>
          </p:nvPr>
        </p:nvSpPr>
        <p:spPr>
          <a:xfrm>
            <a:off x="276224" y="1188630"/>
            <a:ext cx="5700033" cy="5253445"/>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8" name="Group 17">
            <a:extLst>
              <a:ext uri="{FF2B5EF4-FFF2-40B4-BE49-F238E27FC236}">
                <a16:creationId xmlns:a16="http://schemas.microsoft.com/office/drawing/2014/main" id="{CF31ED16-05E6-49BD-B13D-3442CE05A5D4}"/>
              </a:ext>
            </a:extLst>
          </p:cNvPr>
          <p:cNvGrpSpPr/>
          <p:nvPr userDrawn="1"/>
        </p:nvGrpSpPr>
        <p:grpSpPr>
          <a:xfrm>
            <a:off x="10308566" y="70818"/>
            <a:ext cx="1877335" cy="578242"/>
            <a:chOff x="10308566" y="70818"/>
            <a:chExt cx="1877335" cy="578242"/>
          </a:xfrm>
        </p:grpSpPr>
        <p:sp>
          <p:nvSpPr>
            <p:cNvPr id="19" name="Title 1">
              <a:extLst>
                <a:ext uri="{FF2B5EF4-FFF2-40B4-BE49-F238E27FC236}">
                  <a16:creationId xmlns:a16="http://schemas.microsoft.com/office/drawing/2014/main" id="{D40317CA-673F-4B82-9499-91F336ED6B9C}"/>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20" name="Picture 19">
              <a:extLst>
                <a:ext uri="{FF2B5EF4-FFF2-40B4-BE49-F238E27FC236}">
                  <a16:creationId xmlns:a16="http://schemas.microsoft.com/office/drawing/2014/main" id="{EF97A502-1ECF-418B-A564-69FF4FF2B66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1458021" y="70818"/>
              <a:ext cx="727880" cy="578242"/>
            </a:xfrm>
            <a:prstGeom prst="rect">
              <a:avLst/>
            </a:prstGeom>
          </p:spPr>
        </p:pic>
      </p:grpSp>
      <p:sp>
        <p:nvSpPr>
          <p:cNvPr id="6" name="TextBox 5">
            <a:extLst>
              <a:ext uri="{FF2B5EF4-FFF2-40B4-BE49-F238E27FC236}">
                <a16:creationId xmlns:a16="http://schemas.microsoft.com/office/drawing/2014/main" id="{ED737C2B-DCDE-8E69-D724-6A4E3AA35D92}"/>
              </a:ext>
            </a:extLst>
          </p:cNvPr>
          <p:cNvSpPr txBox="1"/>
          <p:nvPr userDrawn="1"/>
        </p:nvSpPr>
        <p:spPr>
          <a:xfrm>
            <a:off x="276224" y="770575"/>
            <a:ext cx="10280407" cy="276999"/>
          </a:xfrm>
          <a:prstGeom prst="rect">
            <a:avLst/>
          </a:prstGeom>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93C8E"/>
                </a:solidFill>
              </a:rPr>
              <a:t>MSR-SRL-STS In-Contact Manipulation</a:t>
            </a:r>
          </a:p>
        </p:txBody>
      </p:sp>
    </p:spTree>
    <p:extLst>
      <p:ext uri="{BB962C8B-B14F-4D97-AF65-F5344CB8AC3E}">
        <p14:creationId xmlns:p14="http://schemas.microsoft.com/office/powerpoint/2010/main" val="7934178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_Title_Only_Multi">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A4EA522E-50E7-7BAF-2D71-DD182C535B6F}"/>
              </a:ext>
            </a:extLst>
          </p:cNvPr>
          <p:cNvSpPr/>
          <p:nvPr userDrawn="1"/>
        </p:nvSpPr>
        <p:spPr>
          <a:xfrm rot="10800000">
            <a:off x="0" y="1"/>
            <a:ext cx="12192000" cy="772301"/>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12" name="Rectangle 11">
            <a:extLst>
              <a:ext uri="{FF2B5EF4-FFF2-40B4-BE49-F238E27FC236}">
                <a16:creationId xmlns:a16="http://schemas.microsoft.com/office/drawing/2014/main" id="{3B037966-CEA8-53E2-A4D6-04DE14F2403E}"/>
              </a:ext>
            </a:extLst>
          </p:cNvPr>
          <p:cNvSpPr/>
          <p:nvPr userDrawn="1"/>
        </p:nvSpPr>
        <p:spPr>
          <a:xfrm>
            <a:off x="0" y="708770"/>
            <a:ext cx="12188952" cy="6353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0E0DC270-429D-22D1-6596-898C6B1A0400}"/>
              </a:ext>
            </a:extLst>
          </p:cNvPr>
          <p:cNvGrpSpPr/>
          <p:nvPr userDrawn="1"/>
        </p:nvGrpSpPr>
        <p:grpSpPr>
          <a:xfrm>
            <a:off x="0" y="1"/>
            <a:ext cx="486561" cy="708769"/>
            <a:chOff x="0" y="1"/>
            <a:chExt cx="1927002" cy="772302"/>
          </a:xfrm>
        </p:grpSpPr>
        <p:sp>
          <p:nvSpPr>
            <p:cNvPr id="13" name="Google Shape;77;p11">
              <a:extLst>
                <a:ext uri="{FF2B5EF4-FFF2-40B4-BE49-F238E27FC236}">
                  <a16:creationId xmlns:a16="http://schemas.microsoft.com/office/drawing/2014/main" id="{5DDD6E24-B686-B9A6-6A8E-FE9AB050C425}"/>
                </a:ext>
              </a:extLst>
            </p:cNvPr>
            <p:cNvSpPr/>
            <p:nvPr userDrawn="1"/>
          </p:nvSpPr>
          <p:spPr>
            <a:xfrm rot="10800000">
              <a:off x="0" y="1"/>
              <a:ext cx="1927002" cy="772302"/>
            </a:xfrm>
            <a:custGeom>
              <a:avLst/>
              <a:gdLst/>
              <a:ahLst/>
              <a:cxnLst/>
              <a:rect l="l" t="t" r="r" b="b"/>
              <a:pathLst>
                <a:path w="2569336" h="6858000" extrusionOk="0">
                  <a:moveTo>
                    <a:pt x="1256538" y="0"/>
                  </a:moveTo>
                  <a:cubicBezTo>
                    <a:pt x="1569466" y="775024"/>
                    <a:pt x="1729804" y="1603165"/>
                    <a:pt x="1728788" y="2438972"/>
                  </a:cubicBezTo>
                  <a:cubicBezTo>
                    <a:pt x="1728788" y="4144582"/>
                    <a:pt x="1073023" y="5696966"/>
                    <a:pt x="0" y="6858000"/>
                  </a:cubicBezTo>
                  <a:lnTo>
                    <a:pt x="2569337" y="6858000"/>
                  </a:lnTo>
                  <a:lnTo>
                    <a:pt x="2569337" y="0"/>
                  </a:ln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5" name="Google Shape;78;p11">
              <a:extLst>
                <a:ext uri="{FF2B5EF4-FFF2-40B4-BE49-F238E27FC236}">
                  <a16:creationId xmlns:a16="http://schemas.microsoft.com/office/drawing/2014/main" id="{3778FB58-9B15-2924-18A9-844E13D9DB83}"/>
                </a:ext>
              </a:extLst>
            </p:cNvPr>
            <p:cNvSpPr/>
            <p:nvPr userDrawn="1"/>
          </p:nvSpPr>
          <p:spPr>
            <a:xfrm rot="10800000">
              <a:off x="1" y="1"/>
              <a:ext cx="1777412" cy="772302"/>
            </a:xfrm>
            <a:custGeom>
              <a:avLst/>
              <a:gdLst/>
              <a:ahLst/>
              <a:cxnLst/>
              <a:rect l="l" t="t" r="r" b="b"/>
              <a:pathLst>
                <a:path w="2369883" h="6858000" extrusionOk="0">
                  <a:moveTo>
                    <a:pt x="0" y="0"/>
                  </a:moveTo>
                  <a:cubicBezTo>
                    <a:pt x="1144905" y="1173671"/>
                    <a:pt x="1850327" y="2777998"/>
                    <a:pt x="1850327" y="4547172"/>
                  </a:cubicBezTo>
                  <a:cubicBezTo>
                    <a:pt x="1851215" y="5336680"/>
                    <a:pt x="1708277" y="6119749"/>
                    <a:pt x="1428432" y="6858000"/>
                  </a:cubicBezTo>
                  <a:lnTo>
                    <a:pt x="2369883" y="6858000"/>
                  </a:lnTo>
                  <a:lnTo>
                    <a:pt x="2369883" y="0"/>
                  </a:ln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4" name="Google Shape;79;p11">
              <a:extLst>
                <a:ext uri="{FF2B5EF4-FFF2-40B4-BE49-F238E27FC236}">
                  <a16:creationId xmlns:a16="http://schemas.microsoft.com/office/drawing/2014/main" id="{80896E88-B96F-55D0-5CA9-B0A05F5383F2}"/>
                </a:ext>
              </a:extLst>
            </p:cNvPr>
            <p:cNvSpPr/>
            <p:nvPr userDrawn="1"/>
          </p:nvSpPr>
          <p:spPr>
            <a:xfrm rot="10800000">
              <a:off x="2" y="562981"/>
              <a:ext cx="1378553" cy="209322"/>
            </a:xfrm>
            <a:custGeom>
              <a:avLst/>
              <a:gdLst/>
              <a:ahLst/>
              <a:cxnLst/>
              <a:rect l="l" t="t" r="r" b="b"/>
              <a:pathLst>
                <a:path w="1838070" h="1858772" extrusionOk="0">
                  <a:moveTo>
                    <a:pt x="1838071" y="1858772"/>
                  </a:moveTo>
                  <a:lnTo>
                    <a:pt x="1838071" y="0"/>
                  </a:lnTo>
                  <a:lnTo>
                    <a:pt x="0" y="0"/>
                  </a:lnTo>
                  <a:cubicBezTo>
                    <a:pt x="731393" y="489734"/>
                    <a:pt x="1356551" y="1121924"/>
                    <a:pt x="1838071" y="1858772"/>
                  </a:cubicBez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grpSp>
      <p:sp>
        <p:nvSpPr>
          <p:cNvPr id="8" name="Title 1">
            <a:extLst>
              <a:ext uri="{FF2B5EF4-FFF2-40B4-BE49-F238E27FC236}">
                <a16:creationId xmlns:a16="http://schemas.microsoft.com/office/drawing/2014/main" id="{6F99A813-7772-E0A6-7105-52C3B074B525}"/>
              </a:ext>
            </a:extLst>
          </p:cNvPr>
          <p:cNvSpPr>
            <a:spLocks noGrp="1"/>
          </p:cNvSpPr>
          <p:nvPr userDrawn="1">
            <p:ph type="title"/>
          </p:nvPr>
        </p:nvSpPr>
        <p:spPr>
          <a:xfrm>
            <a:off x="276352" y="146654"/>
            <a:ext cx="10280279" cy="552594"/>
          </a:xfrm>
          <a:prstGeom prst="rect">
            <a:avLst/>
          </a:prstGeom>
        </p:spPr>
        <p:txBody>
          <a:bodyPr/>
          <a:lstStyle>
            <a:lvl1pPr>
              <a:defRPr sz="2800" b="1" i="0">
                <a:solidFill>
                  <a:schemeClr val="bg1"/>
                </a:solidFill>
                <a:latin typeface="+mj-lt"/>
                <a:ea typeface="Helvetica Neue" panose="02000503000000020004" pitchFamily="2" charset="0"/>
                <a:cs typeface="Helvetica Neue" panose="02000503000000020004" pitchFamily="2" charset="0"/>
              </a:defRPr>
            </a:lvl1pPr>
          </a:lstStyle>
          <a:p>
            <a:endParaRPr lang="en-US" dirty="0"/>
          </a:p>
        </p:txBody>
      </p:sp>
      <p:sp>
        <p:nvSpPr>
          <p:cNvPr id="4" name="Date Placeholder 3">
            <a:extLst>
              <a:ext uri="{FF2B5EF4-FFF2-40B4-BE49-F238E27FC236}">
                <a16:creationId xmlns:a16="http://schemas.microsoft.com/office/drawing/2014/main" id="{C55910E7-3E34-3017-D4F4-2BA14A2251D5}"/>
              </a:ext>
            </a:extLst>
          </p:cNvPr>
          <p:cNvSpPr>
            <a:spLocks noGrp="1"/>
          </p:cNvSpPr>
          <p:nvPr>
            <p:ph type="dt" sz="half" idx="18"/>
          </p:nvPr>
        </p:nvSpPr>
        <p:spPr/>
        <p:txBody>
          <a:bodyPr/>
          <a:lstStyle/>
          <a:p>
            <a:r>
              <a:rPr lang="en-US"/>
              <a:t>DD/MM/YYYY</a:t>
            </a:r>
          </a:p>
        </p:txBody>
      </p:sp>
      <p:sp>
        <p:nvSpPr>
          <p:cNvPr id="7" name="Footer Placeholder 6">
            <a:extLst>
              <a:ext uri="{FF2B5EF4-FFF2-40B4-BE49-F238E27FC236}">
                <a16:creationId xmlns:a16="http://schemas.microsoft.com/office/drawing/2014/main" id="{42737175-D1F3-BFBA-F430-CCC72E844EB6}"/>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4E7A0F9E-05B7-4076-82A5-63B81ECF51F7}"/>
              </a:ext>
            </a:extLst>
          </p:cNvPr>
          <p:cNvSpPr>
            <a:spLocks noGrp="1"/>
          </p:cNvSpPr>
          <p:nvPr>
            <p:ph type="sldNum" sz="quarter" idx="20"/>
          </p:nvPr>
        </p:nvSpPr>
        <p:spPr/>
        <p:txBody>
          <a:bodyPr/>
          <a:lstStyle/>
          <a:p>
            <a:fld id="{2D04F4CF-F641-6E4E-8F87-8EB8AA2BFA51}" type="slidenum">
              <a:rPr lang="en-US" smtClean="0"/>
              <a:pPr/>
              <a:t>‹#›</a:t>
            </a:fld>
            <a:endParaRPr lang="en-US"/>
          </a:p>
        </p:txBody>
      </p:sp>
      <p:grpSp>
        <p:nvGrpSpPr>
          <p:cNvPr id="17" name="Group 16">
            <a:extLst>
              <a:ext uri="{FF2B5EF4-FFF2-40B4-BE49-F238E27FC236}">
                <a16:creationId xmlns:a16="http://schemas.microsoft.com/office/drawing/2014/main" id="{C5C01AD5-6DD4-43AA-B802-8723D37DF265}"/>
              </a:ext>
            </a:extLst>
          </p:cNvPr>
          <p:cNvGrpSpPr/>
          <p:nvPr userDrawn="1"/>
        </p:nvGrpSpPr>
        <p:grpSpPr>
          <a:xfrm>
            <a:off x="10308566" y="70818"/>
            <a:ext cx="1877335" cy="578242"/>
            <a:chOff x="10308566" y="70818"/>
            <a:chExt cx="1877335" cy="578242"/>
          </a:xfrm>
        </p:grpSpPr>
        <p:sp>
          <p:nvSpPr>
            <p:cNvPr id="18" name="Title 1">
              <a:extLst>
                <a:ext uri="{FF2B5EF4-FFF2-40B4-BE49-F238E27FC236}">
                  <a16:creationId xmlns:a16="http://schemas.microsoft.com/office/drawing/2014/main" id="{E7FB5393-C2C4-436A-8D6F-6067946E0976}"/>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19" name="Picture 18">
              <a:extLst>
                <a:ext uri="{FF2B5EF4-FFF2-40B4-BE49-F238E27FC236}">
                  <a16:creationId xmlns:a16="http://schemas.microsoft.com/office/drawing/2014/main" id="{C84F828F-1DE2-41EB-A60D-984B5629CAE6}"/>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1458021" y="70818"/>
              <a:ext cx="727880" cy="578242"/>
            </a:xfrm>
            <a:prstGeom prst="rect">
              <a:avLst/>
            </a:prstGeom>
          </p:spPr>
        </p:pic>
      </p:grpSp>
      <p:sp>
        <p:nvSpPr>
          <p:cNvPr id="2" name="TextBox 1">
            <a:extLst>
              <a:ext uri="{FF2B5EF4-FFF2-40B4-BE49-F238E27FC236}">
                <a16:creationId xmlns:a16="http://schemas.microsoft.com/office/drawing/2014/main" id="{E3AA816A-3389-73BD-E84A-EE318E8FC6BB}"/>
              </a:ext>
            </a:extLst>
          </p:cNvPr>
          <p:cNvSpPr txBox="1"/>
          <p:nvPr userDrawn="1"/>
        </p:nvSpPr>
        <p:spPr>
          <a:xfrm>
            <a:off x="276224" y="770575"/>
            <a:ext cx="10280407" cy="276999"/>
          </a:xfrm>
          <a:prstGeom prst="rect">
            <a:avLst/>
          </a:prstGeom>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93C8E"/>
                </a:solidFill>
              </a:rPr>
              <a:t>MSR-SRL-STS In-Contact Manipulation</a:t>
            </a:r>
          </a:p>
        </p:txBody>
      </p:sp>
    </p:spTree>
    <p:extLst>
      <p:ext uri="{BB962C8B-B14F-4D97-AF65-F5344CB8AC3E}">
        <p14:creationId xmlns:p14="http://schemas.microsoft.com/office/powerpoint/2010/main" val="37530347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3_Section_Title_1">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BF32FD4D-C089-B290-F5E6-2A7915AC318C}"/>
              </a:ext>
            </a:extLst>
          </p:cNvPr>
          <p:cNvPicPr>
            <a:picLocks noChangeAspect="1"/>
          </p:cNvPicPr>
          <p:nvPr userDrawn="1"/>
        </p:nvPicPr>
        <p:blipFill>
          <a:blip r:embed="rId2"/>
          <a:stretch>
            <a:fillRect/>
          </a:stretch>
        </p:blipFill>
        <p:spPr>
          <a:xfrm>
            <a:off x="3893" y="0"/>
            <a:ext cx="12187262" cy="6858000"/>
          </a:xfrm>
          <a:prstGeom prst="rect">
            <a:avLst/>
          </a:prstGeom>
        </p:spPr>
      </p:pic>
      <p:sp>
        <p:nvSpPr>
          <p:cNvPr id="16" name="Rectangle 15">
            <a:extLst>
              <a:ext uri="{FF2B5EF4-FFF2-40B4-BE49-F238E27FC236}">
                <a16:creationId xmlns:a16="http://schemas.microsoft.com/office/drawing/2014/main" id="{6373F711-C3D3-8D70-3D9F-0E36378B9823}"/>
              </a:ext>
            </a:extLst>
          </p:cNvPr>
          <p:cNvSpPr/>
          <p:nvPr userDrawn="1"/>
        </p:nvSpPr>
        <p:spPr>
          <a:xfrm>
            <a:off x="0" y="2074163"/>
            <a:ext cx="12188952" cy="4800600"/>
          </a:xfrm>
          <a:prstGeom prst="rect">
            <a:avLst/>
          </a:prstGeom>
          <a:gradFill flip="none" rotWithShape="1">
            <a:gsLst>
              <a:gs pos="0">
                <a:schemeClr val="tx1">
                  <a:alpha val="0"/>
                </a:schemeClr>
              </a:gs>
              <a:gs pos="100000">
                <a:schemeClr val="tx1">
                  <a:alpha val="30488"/>
                </a:schemeClr>
              </a:gs>
            </a:gsLst>
            <a:lin ang="5400000" scaled="0"/>
            <a:tileRect/>
          </a:gradFill>
          <a:ln w="12700" cap="flat" cmpd="sng" algn="ctr">
            <a:noFill/>
            <a:prstDash val="solid"/>
            <a:miter lim="800000"/>
          </a:ln>
          <a:effectLst/>
        </p:spPr>
        <p:txBody>
          <a:bodyPr rtlCol="0" anchor="ctr"/>
          <a:lstStyle/>
          <a:p>
            <a:pPr algn="l"/>
            <a:endParaRPr lang="en-US">
              <a:solidFill>
                <a:srgbClr val="FFFFFF"/>
              </a:solidFill>
              <a:latin typeface="Calibri" panose="020F0502020204030204"/>
              <a:cs typeface="Arial"/>
              <a:sym typeface="Arial"/>
            </a:endParaRPr>
          </a:p>
        </p:txBody>
      </p:sp>
      <p:grpSp>
        <p:nvGrpSpPr>
          <p:cNvPr id="24" name="Group 23">
            <a:extLst>
              <a:ext uri="{FF2B5EF4-FFF2-40B4-BE49-F238E27FC236}">
                <a16:creationId xmlns:a16="http://schemas.microsoft.com/office/drawing/2014/main" id="{B5C9FC9D-ACA1-30FD-08A1-2ECA1EC595DF}"/>
              </a:ext>
            </a:extLst>
          </p:cNvPr>
          <p:cNvGrpSpPr/>
          <p:nvPr userDrawn="1"/>
        </p:nvGrpSpPr>
        <p:grpSpPr>
          <a:xfrm>
            <a:off x="-3048" y="735913"/>
            <a:ext cx="12192000" cy="1769081"/>
            <a:chOff x="-4572" y="2260998"/>
            <a:chExt cx="12192000" cy="1769081"/>
          </a:xfrm>
        </p:grpSpPr>
        <p:grpSp>
          <p:nvGrpSpPr>
            <p:cNvPr id="22" name="Group 21">
              <a:extLst>
                <a:ext uri="{FF2B5EF4-FFF2-40B4-BE49-F238E27FC236}">
                  <a16:creationId xmlns:a16="http://schemas.microsoft.com/office/drawing/2014/main" id="{CED5AD5E-B889-B762-D395-57F92B056343}"/>
                </a:ext>
              </a:extLst>
            </p:cNvPr>
            <p:cNvGrpSpPr/>
            <p:nvPr userDrawn="1"/>
          </p:nvGrpSpPr>
          <p:grpSpPr>
            <a:xfrm>
              <a:off x="-4572" y="2260998"/>
              <a:ext cx="12192000" cy="1726976"/>
              <a:chOff x="0" y="5131024"/>
              <a:chExt cx="12192000" cy="1726976"/>
            </a:xfrm>
          </p:grpSpPr>
          <p:sp>
            <p:nvSpPr>
              <p:cNvPr id="20" name="Rectangle">
                <a:extLst>
                  <a:ext uri="{FF2B5EF4-FFF2-40B4-BE49-F238E27FC236}">
                    <a16:creationId xmlns:a16="http://schemas.microsoft.com/office/drawing/2014/main" id="{D17CBE25-9F58-DBF5-2697-63A17E6795E9}"/>
                  </a:ext>
                </a:extLst>
              </p:cNvPr>
              <p:cNvSpPr/>
              <p:nvPr userDrawn="1"/>
            </p:nvSpPr>
            <p:spPr>
              <a:xfrm rot="10800000">
                <a:off x="0" y="5173129"/>
                <a:ext cx="12192000" cy="1684871"/>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21" name="Rectangle 20">
                <a:extLst>
                  <a:ext uri="{FF2B5EF4-FFF2-40B4-BE49-F238E27FC236}">
                    <a16:creationId xmlns:a16="http://schemas.microsoft.com/office/drawing/2014/main" id="{C604165A-8C16-82A1-F662-249F60C23F9C}"/>
                  </a:ext>
                </a:extLst>
              </p:cNvPr>
              <p:cNvSpPr/>
              <p:nvPr userDrawn="1"/>
            </p:nvSpPr>
            <p:spPr>
              <a:xfrm>
                <a:off x="3047" y="5131024"/>
                <a:ext cx="9144000" cy="147872"/>
              </a:xfrm>
              <a:prstGeom prst="rect">
                <a:avLst/>
              </a:prstGeom>
              <a:solidFill>
                <a:srgbClr val="0417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Rectangle 22">
              <a:extLst>
                <a:ext uri="{FF2B5EF4-FFF2-40B4-BE49-F238E27FC236}">
                  <a16:creationId xmlns:a16="http://schemas.microsoft.com/office/drawing/2014/main" id="{663212E2-4792-592E-92D6-D97F8C5CF443}"/>
                </a:ext>
              </a:extLst>
            </p:cNvPr>
            <p:cNvSpPr/>
            <p:nvPr userDrawn="1"/>
          </p:nvSpPr>
          <p:spPr>
            <a:xfrm>
              <a:off x="-1" y="3882207"/>
              <a:ext cx="9144000" cy="147872"/>
            </a:xfrm>
            <a:prstGeom prst="rect">
              <a:avLst/>
            </a:prstGeom>
            <a:solidFill>
              <a:srgbClr val="0417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Freeform 5">
            <a:extLst>
              <a:ext uri="{FF2B5EF4-FFF2-40B4-BE49-F238E27FC236}">
                <a16:creationId xmlns:a16="http://schemas.microsoft.com/office/drawing/2014/main" id="{3E6E1FCB-96B5-63A1-6869-414562BEF6A2}"/>
              </a:ext>
            </a:extLst>
          </p:cNvPr>
          <p:cNvSpPr/>
          <p:nvPr userDrawn="1"/>
        </p:nvSpPr>
        <p:spPr>
          <a:xfrm>
            <a:off x="7082463" y="-1941"/>
            <a:ext cx="5109537" cy="6858000"/>
          </a:xfrm>
          <a:custGeom>
            <a:avLst/>
            <a:gdLst>
              <a:gd name="connsiteX0" fmla="*/ 0 w 5109537"/>
              <a:gd name="connsiteY0" fmla="*/ 0 h 6858000"/>
              <a:gd name="connsiteX1" fmla="*/ 1504946 w 5109537"/>
              <a:gd name="connsiteY1" fmla="*/ 0 h 6858000"/>
              <a:gd name="connsiteX2" fmla="*/ 4170245 w 5109537"/>
              <a:gd name="connsiteY2" fmla="*/ 0 h 6858000"/>
              <a:gd name="connsiteX3" fmla="*/ 5109537 w 5109537"/>
              <a:gd name="connsiteY3" fmla="*/ 0 h 6858000"/>
              <a:gd name="connsiteX4" fmla="*/ 5109537 w 5109537"/>
              <a:gd name="connsiteY4" fmla="*/ 6858000 h 6858000"/>
              <a:gd name="connsiteX5" fmla="*/ 4170245 w 5109537"/>
              <a:gd name="connsiteY5" fmla="*/ 6858000 h 6858000"/>
              <a:gd name="connsiteX6" fmla="*/ 1504946 w 5109537"/>
              <a:gd name="connsiteY6" fmla="*/ 6858000 h 6858000"/>
              <a:gd name="connsiteX7" fmla="*/ 0 w 5109537"/>
              <a:gd name="connsiteY7" fmla="*/ 6858000 h 6858000"/>
              <a:gd name="connsiteX8" fmla="*/ 1360722 w 5109537"/>
              <a:gd name="connsiteY8" fmla="*/ 3468091 h 6858000"/>
              <a:gd name="connsiteX9" fmla="*/ 0 w 5109537"/>
              <a:gd name="connsiteY9"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09537" h="6858000">
                <a:moveTo>
                  <a:pt x="0" y="0"/>
                </a:moveTo>
                <a:lnTo>
                  <a:pt x="1504946" y="0"/>
                </a:lnTo>
                <a:lnTo>
                  <a:pt x="4170245" y="0"/>
                </a:lnTo>
                <a:lnTo>
                  <a:pt x="5109537" y="0"/>
                </a:lnTo>
                <a:lnTo>
                  <a:pt x="5109537" y="6858000"/>
                </a:lnTo>
                <a:lnTo>
                  <a:pt x="4170245" y="6858000"/>
                </a:lnTo>
                <a:lnTo>
                  <a:pt x="1504946" y="6858000"/>
                </a:lnTo>
                <a:lnTo>
                  <a:pt x="0" y="6858000"/>
                </a:lnTo>
                <a:cubicBezTo>
                  <a:pt x="460914" y="6858000"/>
                  <a:pt x="1360722" y="5361585"/>
                  <a:pt x="1360722" y="3468091"/>
                </a:cubicBezTo>
                <a:cubicBezTo>
                  <a:pt x="1360722" y="1574597"/>
                  <a:pt x="460914" y="0"/>
                  <a:pt x="0" y="0"/>
                </a:cubicBezTo>
                <a:close/>
              </a:path>
            </a:pathLst>
          </a:custGeom>
          <a:solidFill>
            <a:srgbClr val="04324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Slide Number Placeholder 5">
            <a:extLst>
              <a:ext uri="{FF2B5EF4-FFF2-40B4-BE49-F238E27FC236}">
                <a16:creationId xmlns:a16="http://schemas.microsoft.com/office/drawing/2014/main" id="{46F3FBB5-F4F3-F2A1-D5EC-32E55E38A912}"/>
              </a:ext>
            </a:extLst>
          </p:cNvPr>
          <p:cNvSpPr txBox="1">
            <a:spLocks/>
          </p:cNvSpPr>
          <p:nvPr userDrawn="1"/>
        </p:nvSpPr>
        <p:spPr>
          <a:xfrm>
            <a:off x="11172306" y="6492875"/>
            <a:ext cx="667082" cy="365125"/>
          </a:xfrm>
          <a:prstGeom prst="rect">
            <a:avLst/>
          </a:prstGeom>
        </p:spPr>
        <p:txBody>
          <a:bodyPr vert="horz" lIns="91440" tIns="45720" rIns="91440" bIns="45720" rtlCol="0" anchor="ctr"/>
          <a:lstStyle>
            <a:defPPr>
              <a:defRPr lang="en-US"/>
            </a:defPPr>
            <a:lvl1pPr marL="0" algn="ctr" defTabSz="914400" rtl="0" eaLnBrk="1" latinLnBrk="0" hangingPunct="1">
              <a:defRPr lang="en-US" sz="800" b="0" i="0" kern="1200" smtClean="0">
                <a:solidFill>
                  <a:srgbClr val="EB1B2C"/>
                </a:solidFill>
                <a:latin typeface="Helvetica Neue" panose="02000503000000020004" pitchFamily="2" charset="0"/>
                <a:ea typeface="Helvetica Neue" panose="02000503000000020004" pitchFamily="2" charset="0"/>
                <a:cs typeface="Helvetica Neue" panose="02000503000000020004"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 Total</a:t>
            </a:r>
          </a:p>
        </p:txBody>
      </p:sp>
      <p:sp>
        <p:nvSpPr>
          <p:cNvPr id="44" name="Title 1">
            <a:extLst>
              <a:ext uri="{FF2B5EF4-FFF2-40B4-BE49-F238E27FC236}">
                <a16:creationId xmlns:a16="http://schemas.microsoft.com/office/drawing/2014/main" id="{BD9D7EC7-A90F-5BC1-361C-C231B2DF06A1}"/>
              </a:ext>
            </a:extLst>
          </p:cNvPr>
          <p:cNvSpPr>
            <a:spLocks noGrp="1"/>
          </p:cNvSpPr>
          <p:nvPr>
            <p:ph type="ctrTitle" hasCustomPrompt="1"/>
          </p:nvPr>
        </p:nvSpPr>
        <p:spPr>
          <a:xfrm>
            <a:off x="457358" y="1096745"/>
            <a:ext cx="7647479" cy="571007"/>
          </a:xfrm>
          <a:prstGeom prst="rect">
            <a:avLst/>
          </a:prstGeom>
          <a:ln>
            <a:noFill/>
          </a:ln>
        </p:spPr>
        <p:txBody>
          <a:bodyPr/>
          <a:lstStyle>
            <a:lvl1pPr marL="0" algn="l" defTabSz="914400" rtl="0" eaLnBrk="1" fontAlgn="base" latinLnBrk="0" hangingPunct="1">
              <a:spcBef>
                <a:spcPct val="0"/>
              </a:spcBef>
              <a:spcAft>
                <a:spcPct val="0"/>
              </a:spcAft>
              <a:defRPr lang="en-US" sz="4000" b="0" i="0"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1pPr>
          </a:lstStyle>
          <a:p>
            <a:r>
              <a:rPr lang="en-US"/>
              <a:t>Section Title</a:t>
            </a:r>
          </a:p>
        </p:txBody>
      </p:sp>
      <p:sp>
        <p:nvSpPr>
          <p:cNvPr id="45" name="Text Placeholder 13">
            <a:extLst>
              <a:ext uri="{FF2B5EF4-FFF2-40B4-BE49-F238E27FC236}">
                <a16:creationId xmlns:a16="http://schemas.microsoft.com/office/drawing/2014/main" id="{C7C2ACFD-DAD4-5AC1-0174-463BD9AB0166}"/>
              </a:ext>
            </a:extLst>
          </p:cNvPr>
          <p:cNvSpPr>
            <a:spLocks noGrp="1"/>
          </p:cNvSpPr>
          <p:nvPr>
            <p:ph type="body" sz="quarter" idx="14" hasCustomPrompt="1"/>
          </p:nvPr>
        </p:nvSpPr>
        <p:spPr>
          <a:xfrm>
            <a:off x="705536" y="1713433"/>
            <a:ext cx="7128099" cy="484187"/>
          </a:xfrm>
          <a:prstGeom prst="rect">
            <a:avLst/>
          </a:prstGeom>
        </p:spPr>
        <p:txBody>
          <a:bodyPr/>
          <a:lstStyle>
            <a:lvl1pPr marL="0" indent="0">
              <a:buNone/>
              <a:defRPr lang="en-US" sz="2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1pPr>
            <a:lvl2pPr marL="457200" indent="0">
              <a:buNone/>
              <a:defRPr lang="en-US" sz="1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2pPr>
            <a:lvl3pPr marL="914400" indent="0">
              <a:buNone/>
              <a:defRPr lang="en-US" sz="1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3pPr>
            <a:lvl4pPr marL="1371600" indent="0">
              <a:buNone/>
              <a:defRPr lang="en-US" sz="1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4pPr>
            <a:lvl5pPr marL="1828800" indent="0">
              <a:buNone/>
              <a:defRPr lang="en-US" sz="1400" b="0" i="0"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5pPr>
          </a:lstStyle>
          <a:p>
            <a:pPr lvl="0"/>
            <a:r>
              <a:rPr lang="en-US"/>
              <a:t>Section Subtitle</a:t>
            </a:r>
          </a:p>
        </p:txBody>
      </p:sp>
      <p:grpSp>
        <p:nvGrpSpPr>
          <p:cNvPr id="2" name="Group 1">
            <a:extLst>
              <a:ext uri="{FF2B5EF4-FFF2-40B4-BE49-F238E27FC236}">
                <a16:creationId xmlns:a16="http://schemas.microsoft.com/office/drawing/2014/main" id="{66CCC403-96DC-B595-1D81-35DD116B238F}"/>
              </a:ext>
            </a:extLst>
          </p:cNvPr>
          <p:cNvGrpSpPr/>
          <p:nvPr userDrawn="1"/>
        </p:nvGrpSpPr>
        <p:grpSpPr>
          <a:xfrm>
            <a:off x="8390316" y="1219651"/>
            <a:ext cx="4540620" cy="2941437"/>
            <a:chOff x="8418100" y="372569"/>
            <a:chExt cx="4540620" cy="2941437"/>
          </a:xfrm>
        </p:grpSpPr>
        <p:sp>
          <p:nvSpPr>
            <p:cNvPr id="5" name="Title 1">
              <a:extLst>
                <a:ext uri="{FF2B5EF4-FFF2-40B4-BE49-F238E27FC236}">
                  <a16:creationId xmlns:a16="http://schemas.microsoft.com/office/drawing/2014/main" id="{675A8AB8-318B-D8A1-144C-925F13D7870D}"/>
                </a:ext>
              </a:extLst>
            </p:cNvPr>
            <p:cNvSpPr txBox="1">
              <a:spLocks/>
            </p:cNvSpPr>
            <p:nvPr userDrawn="1"/>
          </p:nvSpPr>
          <p:spPr bwMode="auto">
            <a:xfrm>
              <a:off x="8458895" y="372569"/>
              <a:ext cx="2815962" cy="153924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MARS</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RETURN</a:t>
              </a:r>
            </a:p>
          </p:txBody>
        </p:sp>
        <p:grpSp>
          <p:nvGrpSpPr>
            <p:cNvPr id="7" name="Group 6">
              <a:extLst>
                <a:ext uri="{FF2B5EF4-FFF2-40B4-BE49-F238E27FC236}">
                  <a16:creationId xmlns:a16="http://schemas.microsoft.com/office/drawing/2014/main" id="{7ED3966A-1441-7267-68A9-18B51752DDF7}"/>
                </a:ext>
              </a:extLst>
            </p:cNvPr>
            <p:cNvGrpSpPr/>
            <p:nvPr userDrawn="1"/>
          </p:nvGrpSpPr>
          <p:grpSpPr>
            <a:xfrm>
              <a:off x="8418100" y="374511"/>
              <a:ext cx="4540620" cy="2939495"/>
              <a:chOff x="8418100" y="533535"/>
              <a:chExt cx="4540620" cy="2939495"/>
            </a:xfrm>
          </p:grpSpPr>
          <p:pic>
            <p:nvPicPr>
              <p:cNvPr id="9" name="Picture 8">
                <a:extLst>
                  <a:ext uri="{FF2B5EF4-FFF2-40B4-BE49-F238E27FC236}">
                    <a16:creationId xmlns:a16="http://schemas.microsoft.com/office/drawing/2014/main" id="{AD60487C-9905-B4AC-FAB6-B277436DADB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9486369" y="1903513"/>
                <a:ext cx="1637359" cy="1569517"/>
              </a:xfrm>
              <a:prstGeom prst="rect">
                <a:avLst/>
              </a:prstGeom>
            </p:spPr>
          </p:pic>
          <p:grpSp>
            <p:nvGrpSpPr>
              <p:cNvPr id="11" name="Group 10">
                <a:extLst>
                  <a:ext uri="{FF2B5EF4-FFF2-40B4-BE49-F238E27FC236}">
                    <a16:creationId xmlns:a16="http://schemas.microsoft.com/office/drawing/2014/main" id="{5770A65D-C111-F7C2-4F34-F10D44CEC2DB}"/>
                  </a:ext>
                </a:extLst>
              </p:cNvPr>
              <p:cNvGrpSpPr/>
              <p:nvPr userDrawn="1"/>
            </p:nvGrpSpPr>
            <p:grpSpPr>
              <a:xfrm>
                <a:off x="8418100" y="533535"/>
                <a:ext cx="4540620" cy="1539248"/>
                <a:chOff x="8418100" y="533535"/>
                <a:chExt cx="4540620" cy="1539248"/>
              </a:xfrm>
            </p:grpSpPr>
            <p:pic>
              <p:nvPicPr>
                <p:cNvPr id="12" name="Picture 11">
                  <a:extLst>
                    <a:ext uri="{FF2B5EF4-FFF2-40B4-BE49-F238E27FC236}">
                      <a16:creationId xmlns:a16="http://schemas.microsoft.com/office/drawing/2014/main" id="{C2D0889F-CE5B-9479-B450-E9C019EF35F4}"/>
                    </a:ext>
                  </a:extLst>
                </p:cNvPr>
                <p:cNvPicPr>
                  <a:picLocks noChangeAspect="1"/>
                </p:cNvPicPr>
                <p:nvPr userDrawn="1"/>
              </p:nvPicPr>
              <p:blipFill rotWithShape="1">
                <a:blip r:embed="rId4"/>
                <a:srcRect l="42971" b="73521"/>
                <a:stretch/>
              </p:blipFill>
              <p:spPr>
                <a:xfrm>
                  <a:off x="8418100" y="641036"/>
                  <a:ext cx="1521120" cy="291360"/>
                </a:xfrm>
                <a:prstGeom prst="rect">
                  <a:avLst/>
                </a:prstGeom>
              </p:spPr>
            </p:pic>
            <p:sp>
              <p:nvSpPr>
                <p:cNvPr id="14" name="Title 1">
                  <a:extLst>
                    <a:ext uri="{FF2B5EF4-FFF2-40B4-BE49-F238E27FC236}">
                      <a16:creationId xmlns:a16="http://schemas.microsoft.com/office/drawing/2014/main" id="{3561782E-71D6-80EA-AF7F-7694B41E39CA}"/>
                    </a:ext>
                  </a:extLst>
                </p:cNvPr>
                <p:cNvSpPr txBox="1">
                  <a:spLocks/>
                </p:cNvSpPr>
                <p:nvPr userDrawn="1"/>
              </p:nvSpPr>
              <p:spPr bwMode="auto">
                <a:xfrm>
                  <a:off x="10142758" y="533535"/>
                  <a:ext cx="2815962" cy="153924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RETRIEVAL</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LANDER</a:t>
                  </a:r>
                </a:p>
              </p:txBody>
            </p:sp>
          </p:grpSp>
        </p:grpSp>
      </p:grpSp>
      <p:sp>
        <p:nvSpPr>
          <p:cNvPr id="10" name="Date Placeholder 9">
            <a:extLst>
              <a:ext uri="{FF2B5EF4-FFF2-40B4-BE49-F238E27FC236}">
                <a16:creationId xmlns:a16="http://schemas.microsoft.com/office/drawing/2014/main" id="{C1E2351D-DFD1-4B60-63A2-64030A5F017E}"/>
              </a:ext>
            </a:extLst>
          </p:cNvPr>
          <p:cNvSpPr>
            <a:spLocks noGrp="1"/>
          </p:cNvSpPr>
          <p:nvPr>
            <p:ph type="dt" sz="half" idx="15"/>
          </p:nvPr>
        </p:nvSpPr>
        <p:spPr/>
        <p:txBody>
          <a:bodyPr/>
          <a:lstStyle>
            <a:lvl1pPr>
              <a:defRPr>
                <a:solidFill>
                  <a:schemeClr val="bg1"/>
                </a:solidFill>
              </a:defRPr>
            </a:lvl1pPr>
          </a:lstStyle>
          <a:p>
            <a:r>
              <a:rPr lang="en-US"/>
              <a:t>DD/MM/YYYY</a:t>
            </a:r>
          </a:p>
        </p:txBody>
      </p:sp>
      <p:sp>
        <p:nvSpPr>
          <p:cNvPr id="13" name="Footer Placeholder 12">
            <a:extLst>
              <a:ext uri="{FF2B5EF4-FFF2-40B4-BE49-F238E27FC236}">
                <a16:creationId xmlns:a16="http://schemas.microsoft.com/office/drawing/2014/main" id="{B1926429-1384-BEAD-7DBA-A248BFBE3DB8}"/>
              </a:ext>
            </a:extLst>
          </p:cNvPr>
          <p:cNvSpPr>
            <a:spLocks noGrp="1"/>
          </p:cNvSpPr>
          <p:nvPr>
            <p:ph type="ftr" sz="quarter" idx="16"/>
          </p:nvPr>
        </p:nvSpPr>
        <p:spPr/>
        <p:txBody>
          <a:bodyPr/>
          <a:lstStyle>
            <a:lvl1pPr>
              <a:defRPr>
                <a:solidFill>
                  <a:schemeClr val="bg1"/>
                </a:solidFill>
              </a:defRPr>
            </a:lvl1pPr>
          </a:lstStyle>
          <a:p>
            <a:r>
              <a:rPr lang="en-US"/>
              <a:t>The technical data in this document is controlled under the U.S. Export Regulations; release to foreign persons may require an export authorization.</a:t>
            </a:r>
          </a:p>
        </p:txBody>
      </p:sp>
      <p:sp>
        <p:nvSpPr>
          <p:cNvPr id="15" name="Slide Number Placeholder 14">
            <a:extLst>
              <a:ext uri="{FF2B5EF4-FFF2-40B4-BE49-F238E27FC236}">
                <a16:creationId xmlns:a16="http://schemas.microsoft.com/office/drawing/2014/main" id="{FE563FEC-CC54-5DCC-F823-FDA4F29B1B6F}"/>
              </a:ext>
            </a:extLst>
          </p:cNvPr>
          <p:cNvSpPr>
            <a:spLocks noGrp="1"/>
          </p:cNvSpPr>
          <p:nvPr>
            <p:ph type="sldNum" sz="quarter" idx="17"/>
          </p:nvPr>
        </p:nvSpPr>
        <p:spPr/>
        <p:txBody>
          <a:bodyPr/>
          <a:lstStyle>
            <a:lvl1pPr>
              <a:defRPr>
                <a:solidFill>
                  <a:schemeClr val="bg1"/>
                </a:solidFill>
              </a:defRPr>
            </a:lvl1pPr>
          </a:lstStyle>
          <a:p>
            <a:fld id="{2D04F4CF-F641-6E4E-8F87-8EB8AA2BFA51}" type="slidenum">
              <a:rPr lang="en-US" smtClean="0"/>
              <a:pPr/>
              <a:t>‹#›</a:t>
            </a:fld>
            <a:endParaRPr lang="en-US"/>
          </a:p>
        </p:txBody>
      </p:sp>
      <p:sp>
        <p:nvSpPr>
          <p:cNvPr id="25" name="Text Placeholder 24">
            <a:extLst>
              <a:ext uri="{FF2B5EF4-FFF2-40B4-BE49-F238E27FC236}">
                <a16:creationId xmlns:a16="http://schemas.microsoft.com/office/drawing/2014/main" id="{A03BDEC2-8435-43F5-B395-97D2FBACFF12}"/>
              </a:ext>
            </a:extLst>
          </p:cNvPr>
          <p:cNvSpPr>
            <a:spLocks noGrp="1"/>
          </p:cNvSpPr>
          <p:nvPr>
            <p:ph type="body" sz="quarter" idx="18" hasCustomPrompt="1"/>
          </p:nvPr>
        </p:nvSpPr>
        <p:spPr>
          <a:xfrm>
            <a:off x="9144000" y="4160838"/>
            <a:ext cx="2543175" cy="1841500"/>
          </a:xfrm>
          <a:prstGeom prst="rect">
            <a:avLst/>
          </a:prstGeom>
        </p:spPr>
        <p:txBody>
          <a:bodyPr anchor="ctr"/>
          <a:lstStyle>
            <a:lvl1pPr marL="0" indent="0" algn="ctr">
              <a:buNone/>
              <a:defRPr>
                <a:solidFill>
                  <a:schemeClr val="bg1"/>
                </a:solidFill>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a:t>Org/Subsystem</a:t>
            </a:r>
          </a:p>
        </p:txBody>
      </p:sp>
    </p:spTree>
    <p:extLst>
      <p:ext uri="{BB962C8B-B14F-4D97-AF65-F5344CB8AC3E}">
        <p14:creationId xmlns:p14="http://schemas.microsoft.com/office/powerpoint/2010/main" val="2824275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4_Section_Title_2">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7CFE4C8-F023-F07C-2309-65418B72F491}"/>
              </a:ext>
            </a:extLst>
          </p:cNvPr>
          <p:cNvPicPr>
            <a:picLocks noChangeAspect="1" noChangeArrowheads="1"/>
          </p:cNvPicPr>
          <p:nvPr userDrawn="1"/>
        </p:nvPicPr>
        <p:blipFill rotWithShape="1">
          <a:blip r:embed="rId2" cstate="screen">
            <a:extLst>
              <a:ext uri="{28A0092B-C50C-407E-A947-70E740481C1C}">
                <a14:useLocalDpi xmlns:a14="http://schemas.microsoft.com/office/drawing/2010/main"/>
              </a:ext>
            </a:extLst>
          </a:blip>
          <a:srcRect/>
          <a:stretch/>
        </p:blipFill>
        <p:spPr bwMode="auto">
          <a:xfrm>
            <a:off x="0" y="0"/>
            <a:ext cx="12190476" cy="6858000"/>
          </a:xfrm>
          <a:prstGeom prst="rect">
            <a:avLst/>
          </a:prstGeom>
          <a:noFill/>
          <a:extLst>
            <a:ext uri="{909E8E84-426E-40DD-AFC4-6F175D3DCCD1}">
              <a14:hiddenFill xmlns:a14="http://schemas.microsoft.com/office/drawing/2010/main">
                <a:solidFill>
                  <a:srgbClr val="FFFFFF"/>
                </a:solidFill>
              </a14:hiddenFill>
            </a:ext>
          </a:extLst>
        </p:spPr>
      </p:pic>
      <p:grpSp>
        <p:nvGrpSpPr>
          <p:cNvPr id="19" name="Group 18">
            <a:extLst>
              <a:ext uri="{FF2B5EF4-FFF2-40B4-BE49-F238E27FC236}">
                <a16:creationId xmlns:a16="http://schemas.microsoft.com/office/drawing/2014/main" id="{78746F55-F190-B330-94FD-214060CBC889}"/>
              </a:ext>
            </a:extLst>
          </p:cNvPr>
          <p:cNvGrpSpPr/>
          <p:nvPr userDrawn="1"/>
        </p:nvGrpSpPr>
        <p:grpSpPr>
          <a:xfrm>
            <a:off x="-3048" y="735913"/>
            <a:ext cx="12192000" cy="1769081"/>
            <a:chOff x="-4572" y="2260998"/>
            <a:chExt cx="12192000" cy="1769081"/>
          </a:xfrm>
        </p:grpSpPr>
        <p:grpSp>
          <p:nvGrpSpPr>
            <p:cNvPr id="25" name="Group 24">
              <a:extLst>
                <a:ext uri="{FF2B5EF4-FFF2-40B4-BE49-F238E27FC236}">
                  <a16:creationId xmlns:a16="http://schemas.microsoft.com/office/drawing/2014/main" id="{92718773-0A97-1D20-C5AF-36340DEB48D9}"/>
                </a:ext>
              </a:extLst>
            </p:cNvPr>
            <p:cNvGrpSpPr/>
            <p:nvPr userDrawn="1"/>
          </p:nvGrpSpPr>
          <p:grpSpPr>
            <a:xfrm>
              <a:off x="-4572" y="2260998"/>
              <a:ext cx="12192000" cy="1726976"/>
              <a:chOff x="0" y="5131024"/>
              <a:chExt cx="12192000" cy="1726976"/>
            </a:xfrm>
          </p:grpSpPr>
          <p:sp>
            <p:nvSpPr>
              <p:cNvPr id="27" name="Rectangle">
                <a:extLst>
                  <a:ext uri="{FF2B5EF4-FFF2-40B4-BE49-F238E27FC236}">
                    <a16:creationId xmlns:a16="http://schemas.microsoft.com/office/drawing/2014/main" id="{DD53FCAF-C80F-1027-4011-395114192D1C}"/>
                  </a:ext>
                </a:extLst>
              </p:cNvPr>
              <p:cNvSpPr/>
              <p:nvPr userDrawn="1"/>
            </p:nvSpPr>
            <p:spPr>
              <a:xfrm rot="10800000">
                <a:off x="0" y="5173129"/>
                <a:ext cx="12192000" cy="1684871"/>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28" name="Rectangle 27">
                <a:extLst>
                  <a:ext uri="{FF2B5EF4-FFF2-40B4-BE49-F238E27FC236}">
                    <a16:creationId xmlns:a16="http://schemas.microsoft.com/office/drawing/2014/main" id="{6D1841A8-D88B-F185-D9FE-47C6DB87D27C}"/>
                  </a:ext>
                </a:extLst>
              </p:cNvPr>
              <p:cNvSpPr/>
              <p:nvPr userDrawn="1"/>
            </p:nvSpPr>
            <p:spPr>
              <a:xfrm>
                <a:off x="3047" y="5131024"/>
                <a:ext cx="9144000" cy="147872"/>
              </a:xfrm>
              <a:prstGeom prst="rect">
                <a:avLst/>
              </a:prstGeom>
              <a:solidFill>
                <a:srgbClr val="0417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Rectangle 25">
              <a:extLst>
                <a:ext uri="{FF2B5EF4-FFF2-40B4-BE49-F238E27FC236}">
                  <a16:creationId xmlns:a16="http://schemas.microsoft.com/office/drawing/2014/main" id="{80C3DAEA-5E79-3525-198C-382C9267DEDA}"/>
                </a:ext>
              </a:extLst>
            </p:cNvPr>
            <p:cNvSpPr/>
            <p:nvPr userDrawn="1"/>
          </p:nvSpPr>
          <p:spPr>
            <a:xfrm>
              <a:off x="-1" y="3882207"/>
              <a:ext cx="9144000" cy="147872"/>
            </a:xfrm>
            <a:prstGeom prst="rect">
              <a:avLst/>
            </a:prstGeom>
            <a:solidFill>
              <a:srgbClr val="0417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Freeform 5">
            <a:extLst>
              <a:ext uri="{FF2B5EF4-FFF2-40B4-BE49-F238E27FC236}">
                <a16:creationId xmlns:a16="http://schemas.microsoft.com/office/drawing/2014/main" id="{3E6E1FCB-96B5-63A1-6869-414562BEF6A2}"/>
              </a:ext>
            </a:extLst>
          </p:cNvPr>
          <p:cNvSpPr/>
          <p:nvPr userDrawn="1"/>
        </p:nvSpPr>
        <p:spPr>
          <a:xfrm>
            <a:off x="7082463" y="-1941"/>
            <a:ext cx="5109537" cy="6858000"/>
          </a:xfrm>
          <a:custGeom>
            <a:avLst/>
            <a:gdLst>
              <a:gd name="connsiteX0" fmla="*/ 0 w 5109537"/>
              <a:gd name="connsiteY0" fmla="*/ 0 h 6858000"/>
              <a:gd name="connsiteX1" fmla="*/ 1504946 w 5109537"/>
              <a:gd name="connsiteY1" fmla="*/ 0 h 6858000"/>
              <a:gd name="connsiteX2" fmla="*/ 4170245 w 5109537"/>
              <a:gd name="connsiteY2" fmla="*/ 0 h 6858000"/>
              <a:gd name="connsiteX3" fmla="*/ 5109537 w 5109537"/>
              <a:gd name="connsiteY3" fmla="*/ 0 h 6858000"/>
              <a:gd name="connsiteX4" fmla="*/ 5109537 w 5109537"/>
              <a:gd name="connsiteY4" fmla="*/ 6858000 h 6858000"/>
              <a:gd name="connsiteX5" fmla="*/ 4170245 w 5109537"/>
              <a:gd name="connsiteY5" fmla="*/ 6858000 h 6858000"/>
              <a:gd name="connsiteX6" fmla="*/ 1504946 w 5109537"/>
              <a:gd name="connsiteY6" fmla="*/ 6858000 h 6858000"/>
              <a:gd name="connsiteX7" fmla="*/ 0 w 5109537"/>
              <a:gd name="connsiteY7" fmla="*/ 6858000 h 6858000"/>
              <a:gd name="connsiteX8" fmla="*/ 1360722 w 5109537"/>
              <a:gd name="connsiteY8" fmla="*/ 3468091 h 6858000"/>
              <a:gd name="connsiteX9" fmla="*/ 0 w 5109537"/>
              <a:gd name="connsiteY9"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09537" h="6858000">
                <a:moveTo>
                  <a:pt x="0" y="0"/>
                </a:moveTo>
                <a:lnTo>
                  <a:pt x="1504946" y="0"/>
                </a:lnTo>
                <a:lnTo>
                  <a:pt x="4170245" y="0"/>
                </a:lnTo>
                <a:lnTo>
                  <a:pt x="5109537" y="0"/>
                </a:lnTo>
                <a:lnTo>
                  <a:pt x="5109537" y="6858000"/>
                </a:lnTo>
                <a:lnTo>
                  <a:pt x="4170245" y="6858000"/>
                </a:lnTo>
                <a:lnTo>
                  <a:pt x="1504946" y="6858000"/>
                </a:lnTo>
                <a:lnTo>
                  <a:pt x="0" y="6858000"/>
                </a:lnTo>
                <a:cubicBezTo>
                  <a:pt x="460914" y="6858000"/>
                  <a:pt x="1360722" y="5361585"/>
                  <a:pt x="1360722" y="3468091"/>
                </a:cubicBezTo>
                <a:cubicBezTo>
                  <a:pt x="1360722" y="1574597"/>
                  <a:pt x="460914" y="0"/>
                  <a:pt x="0" y="0"/>
                </a:cubicBezTo>
                <a:close/>
              </a:path>
            </a:pathLst>
          </a:custGeom>
          <a:solidFill>
            <a:srgbClr val="04324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Slide Number Placeholder 5">
            <a:extLst>
              <a:ext uri="{FF2B5EF4-FFF2-40B4-BE49-F238E27FC236}">
                <a16:creationId xmlns:a16="http://schemas.microsoft.com/office/drawing/2014/main" id="{46F3FBB5-F4F3-F2A1-D5EC-32E55E38A912}"/>
              </a:ext>
            </a:extLst>
          </p:cNvPr>
          <p:cNvSpPr txBox="1">
            <a:spLocks/>
          </p:cNvSpPr>
          <p:nvPr userDrawn="1"/>
        </p:nvSpPr>
        <p:spPr>
          <a:xfrm>
            <a:off x="11172306" y="6492875"/>
            <a:ext cx="667082" cy="365125"/>
          </a:xfrm>
          <a:prstGeom prst="rect">
            <a:avLst/>
          </a:prstGeom>
        </p:spPr>
        <p:txBody>
          <a:bodyPr vert="horz" lIns="91440" tIns="45720" rIns="91440" bIns="45720" rtlCol="0" anchor="ctr"/>
          <a:lstStyle>
            <a:defPPr>
              <a:defRPr lang="en-US"/>
            </a:defPPr>
            <a:lvl1pPr marL="0" algn="ctr" defTabSz="914400" rtl="0" eaLnBrk="1" latinLnBrk="0" hangingPunct="1">
              <a:defRPr lang="en-US" sz="800" b="0" i="0" kern="1200" smtClean="0">
                <a:solidFill>
                  <a:srgbClr val="EB1B2C"/>
                </a:solidFill>
                <a:latin typeface="Helvetica Neue" panose="02000503000000020004" pitchFamily="2" charset="0"/>
                <a:ea typeface="Helvetica Neue" panose="02000503000000020004" pitchFamily="2" charset="0"/>
                <a:cs typeface="Helvetica Neue" panose="02000503000000020004"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bg1"/>
                </a:solidFill>
              </a:rPr>
              <a:t>// Total</a:t>
            </a:r>
          </a:p>
        </p:txBody>
      </p:sp>
      <p:grpSp>
        <p:nvGrpSpPr>
          <p:cNvPr id="2" name="Group 1">
            <a:extLst>
              <a:ext uri="{FF2B5EF4-FFF2-40B4-BE49-F238E27FC236}">
                <a16:creationId xmlns:a16="http://schemas.microsoft.com/office/drawing/2014/main" id="{66CCC403-96DC-B595-1D81-35DD116B238F}"/>
              </a:ext>
            </a:extLst>
          </p:cNvPr>
          <p:cNvGrpSpPr/>
          <p:nvPr userDrawn="1"/>
        </p:nvGrpSpPr>
        <p:grpSpPr>
          <a:xfrm>
            <a:off x="8353868" y="1220199"/>
            <a:ext cx="4540620" cy="2941437"/>
            <a:chOff x="8418100" y="372569"/>
            <a:chExt cx="4540620" cy="2941437"/>
          </a:xfrm>
        </p:grpSpPr>
        <p:sp>
          <p:nvSpPr>
            <p:cNvPr id="5" name="Title 1">
              <a:extLst>
                <a:ext uri="{FF2B5EF4-FFF2-40B4-BE49-F238E27FC236}">
                  <a16:creationId xmlns:a16="http://schemas.microsoft.com/office/drawing/2014/main" id="{675A8AB8-318B-D8A1-144C-925F13D7870D}"/>
                </a:ext>
              </a:extLst>
            </p:cNvPr>
            <p:cNvSpPr txBox="1">
              <a:spLocks/>
            </p:cNvSpPr>
            <p:nvPr userDrawn="1"/>
          </p:nvSpPr>
          <p:spPr bwMode="auto">
            <a:xfrm>
              <a:off x="8458895" y="372569"/>
              <a:ext cx="2815962" cy="153924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MARS</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RETURN</a:t>
              </a:r>
            </a:p>
          </p:txBody>
        </p:sp>
        <p:grpSp>
          <p:nvGrpSpPr>
            <p:cNvPr id="7" name="Group 6">
              <a:extLst>
                <a:ext uri="{FF2B5EF4-FFF2-40B4-BE49-F238E27FC236}">
                  <a16:creationId xmlns:a16="http://schemas.microsoft.com/office/drawing/2014/main" id="{7ED3966A-1441-7267-68A9-18B51752DDF7}"/>
                </a:ext>
              </a:extLst>
            </p:cNvPr>
            <p:cNvGrpSpPr/>
            <p:nvPr userDrawn="1"/>
          </p:nvGrpSpPr>
          <p:grpSpPr>
            <a:xfrm>
              <a:off x="8418100" y="374511"/>
              <a:ext cx="4540620" cy="2939495"/>
              <a:chOff x="8418100" y="533535"/>
              <a:chExt cx="4540620" cy="2939495"/>
            </a:xfrm>
          </p:grpSpPr>
          <p:pic>
            <p:nvPicPr>
              <p:cNvPr id="9" name="Picture 8">
                <a:extLst>
                  <a:ext uri="{FF2B5EF4-FFF2-40B4-BE49-F238E27FC236}">
                    <a16:creationId xmlns:a16="http://schemas.microsoft.com/office/drawing/2014/main" id="{AD60487C-9905-B4AC-FAB6-B277436DADB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9486369" y="1903513"/>
                <a:ext cx="1637359" cy="1569517"/>
              </a:xfrm>
              <a:prstGeom prst="rect">
                <a:avLst/>
              </a:prstGeom>
            </p:spPr>
          </p:pic>
          <p:grpSp>
            <p:nvGrpSpPr>
              <p:cNvPr id="11" name="Group 10">
                <a:extLst>
                  <a:ext uri="{FF2B5EF4-FFF2-40B4-BE49-F238E27FC236}">
                    <a16:creationId xmlns:a16="http://schemas.microsoft.com/office/drawing/2014/main" id="{5770A65D-C111-F7C2-4F34-F10D44CEC2DB}"/>
                  </a:ext>
                </a:extLst>
              </p:cNvPr>
              <p:cNvGrpSpPr/>
              <p:nvPr userDrawn="1"/>
            </p:nvGrpSpPr>
            <p:grpSpPr>
              <a:xfrm>
                <a:off x="8418100" y="533535"/>
                <a:ext cx="4540620" cy="1539248"/>
                <a:chOff x="8418100" y="533535"/>
                <a:chExt cx="4540620" cy="1539248"/>
              </a:xfrm>
            </p:grpSpPr>
            <p:pic>
              <p:nvPicPr>
                <p:cNvPr id="12" name="Picture 11">
                  <a:extLst>
                    <a:ext uri="{FF2B5EF4-FFF2-40B4-BE49-F238E27FC236}">
                      <a16:creationId xmlns:a16="http://schemas.microsoft.com/office/drawing/2014/main" id="{C2D0889F-CE5B-9479-B450-E9C019EF35F4}"/>
                    </a:ext>
                  </a:extLst>
                </p:cNvPr>
                <p:cNvPicPr>
                  <a:picLocks noChangeAspect="1"/>
                </p:cNvPicPr>
                <p:nvPr userDrawn="1"/>
              </p:nvPicPr>
              <p:blipFill rotWithShape="1">
                <a:blip r:embed="rId4"/>
                <a:srcRect l="42971" b="73521"/>
                <a:stretch/>
              </p:blipFill>
              <p:spPr>
                <a:xfrm>
                  <a:off x="8418100" y="641036"/>
                  <a:ext cx="1521120" cy="291360"/>
                </a:xfrm>
                <a:prstGeom prst="rect">
                  <a:avLst/>
                </a:prstGeom>
              </p:spPr>
            </p:pic>
            <p:sp>
              <p:nvSpPr>
                <p:cNvPr id="14" name="Title 1">
                  <a:extLst>
                    <a:ext uri="{FF2B5EF4-FFF2-40B4-BE49-F238E27FC236}">
                      <a16:creationId xmlns:a16="http://schemas.microsoft.com/office/drawing/2014/main" id="{3561782E-71D6-80EA-AF7F-7694B41E39CA}"/>
                    </a:ext>
                  </a:extLst>
                </p:cNvPr>
                <p:cNvSpPr txBox="1">
                  <a:spLocks/>
                </p:cNvSpPr>
                <p:nvPr userDrawn="1"/>
              </p:nvSpPr>
              <p:spPr bwMode="auto">
                <a:xfrm>
                  <a:off x="10142758" y="533535"/>
                  <a:ext cx="2815962" cy="153924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RETRIEVAL</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LANDER</a:t>
                  </a:r>
                </a:p>
              </p:txBody>
            </p:sp>
          </p:grpSp>
        </p:grpSp>
      </p:grpSp>
      <p:sp>
        <p:nvSpPr>
          <p:cNvPr id="29" name="Title 1">
            <a:extLst>
              <a:ext uri="{FF2B5EF4-FFF2-40B4-BE49-F238E27FC236}">
                <a16:creationId xmlns:a16="http://schemas.microsoft.com/office/drawing/2014/main" id="{55D0F806-D6D9-48B8-12F3-32AF4C326D29}"/>
              </a:ext>
            </a:extLst>
          </p:cNvPr>
          <p:cNvSpPr>
            <a:spLocks noGrp="1"/>
          </p:cNvSpPr>
          <p:nvPr>
            <p:ph type="ctrTitle" hasCustomPrompt="1"/>
          </p:nvPr>
        </p:nvSpPr>
        <p:spPr>
          <a:xfrm>
            <a:off x="457358" y="1096745"/>
            <a:ext cx="7647479" cy="571007"/>
          </a:xfrm>
          <a:prstGeom prst="rect">
            <a:avLst/>
          </a:prstGeom>
          <a:ln>
            <a:noFill/>
          </a:ln>
        </p:spPr>
        <p:txBody>
          <a:bodyPr/>
          <a:lstStyle>
            <a:lvl1pPr marL="0" algn="l" defTabSz="914400" rtl="0" eaLnBrk="1" fontAlgn="base" latinLnBrk="0" hangingPunct="1">
              <a:spcBef>
                <a:spcPct val="0"/>
              </a:spcBef>
              <a:spcAft>
                <a:spcPct val="0"/>
              </a:spcAft>
              <a:defRPr lang="en-US" sz="4000" b="0" i="0"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1pPr>
          </a:lstStyle>
          <a:p>
            <a:r>
              <a:rPr lang="en-US"/>
              <a:t>Section Title</a:t>
            </a:r>
          </a:p>
        </p:txBody>
      </p:sp>
      <p:sp>
        <p:nvSpPr>
          <p:cNvPr id="30" name="Text Placeholder 13">
            <a:extLst>
              <a:ext uri="{FF2B5EF4-FFF2-40B4-BE49-F238E27FC236}">
                <a16:creationId xmlns:a16="http://schemas.microsoft.com/office/drawing/2014/main" id="{871FAE5A-A807-8E49-1A75-0A7F489961D6}"/>
              </a:ext>
            </a:extLst>
          </p:cNvPr>
          <p:cNvSpPr>
            <a:spLocks noGrp="1"/>
          </p:cNvSpPr>
          <p:nvPr>
            <p:ph type="body" sz="quarter" idx="14" hasCustomPrompt="1"/>
          </p:nvPr>
        </p:nvSpPr>
        <p:spPr>
          <a:xfrm>
            <a:off x="705536" y="1713433"/>
            <a:ext cx="7128099" cy="484187"/>
          </a:xfrm>
          <a:prstGeom prst="rect">
            <a:avLst/>
          </a:prstGeom>
        </p:spPr>
        <p:txBody>
          <a:bodyPr/>
          <a:lstStyle>
            <a:lvl1pPr marL="0" indent="0">
              <a:buNone/>
              <a:defRPr lang="en-US" sz="2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1pPr>
            <a:lvl2pPr marL="457200" indent="0">
              <a:buNone/>
              <a:defRPr lang="en-US" sz="1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2pPr>
            <a:lvl3pPr marL="914400" indent="0">
              <a:buNone/>
              <a:defRPr lang="en-US" sz="1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3pPr>
            <a:lvl4pPr marL="1371600" indent="0">
              <a:buNone/>
              <a:defRPr lang="en-US" sz="1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4pPr>
            <a:lvl5pPr marL="1828800" indent="0">
              <a:buNone/>
              <a:defRPr lang="en-US" sz="1400" b="0" i="0"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5pPr>
          </a:lstStyle>
          <a:p>
            <a:pPr lvl="0"/>
            <a:r>
              <a:rPr lang="en-US"/>
              <a:t>Section Subtitle</a:t>
            </a:r>
          </a:p>
        </p:txBody>
      </p:sp>
      <p:sp>
        <p:nvSpPr>
          <p:cNvPr id="10" name="Date Placeholder 9">
            <a:extLst>
              <a:ext uri="{FF2B5EF4-FFF2-40B4-BE49-F238E27FC236}">
                <a16:creationId xmlns:a16="http://schemas.microsoft.com/office/drawing/2014/main" id="{14582460-9F23-76B4-767F-430EEA944765}"/>
              </a:ext>
            </a:extLst>
          </p:cNvPr>
          <p:cNvSpPr>
            <a:spLocks noGrp="1"/>
          </p:cNvSpPr>
          <p:nvPr>
            <p:ph type="dt" sz="half" idx="15"/>
          </p:nvPr>
        </p:nvSpPr>
        <p:spPr/>
        <p:txBody>
          <a:bodyPr/>
          <a:lstStyle>
            <a:lvl1pPr>
              <a:defRPr>
                <a:solidFill>
                  <a:schemeClr val="bg1"/>
                </a:solidFill>
              </a:defRPr>
            </a:lvl1pPr>
          </a:lstStyle>
          <a:p>
            <a:r>
              <a:rPr lang="en-US"/>
              <a:t>DD/MM/YYYY</a:t>
            </a:r>
          </a:p>
        </p:txBody>
      </p:sp>
      <p:sp>
        <p:nvSpPr>
          <p:cNvPr id="13" name="Footer Placeholder 12">
            <a:extLst>
              <a:ext uri="{FF2B5EF4-FFF2-40B4-BE49-F238E27FC236}">
                <a16:creationId xmlns:a16="http://schemas.microsoft.com/office/drawing/2014/main" id="{4727E7EE-A68F-1014-EAD6-06A056F4B994}"/>
              </a:ext>
            </a:extLst>
          </p:cNvPr>
          <p:cNvSpPr>
            <a:spLocks noGrp="1"/>
          </p:cNvSpPr>
          <p:nvPr>
            <p:ph type="ftr" sz="quarter" idx="16"/>
          </p:nvPr>
        </p:nvSpPr>
        <p:spPr/>
        <p:txBody>
          <a:bodyPr/>
          <a:lstStyle>
            <a:lvl1pPr>
              <a:defRPr>
                <a:solidFill>
                  <a:schemeClr val="bg1"/>
                </a:solidFill>
              </a:defRPr>
            </a:lvl1pPr>
          </a:lstStyle>
          <a:p>
            <a:r>
              <a:rPr lang="en-US"/>
              <a:t>The technical data in this document is controlled under the U.S. Export Regulations; release to foreign persons may require an export authorization.</a:t>
            </a:r>
          </a:p>
        </p:txBody>
      </p:sp>
      <p:sp>
        <p:nvSpPr>
          <p:cNvPr id="15" name="Slide Number Placeholder 14">
            <a:extLst>
              <a:ext uri="{FF2B5EF4-FFF2-40B4-BE49-F238E27FC236}">
                <a16:creationId xmlns:a16="http://schemas.microsoft.com/office/drawing/2014/main" id="{AD78B655-1B54-C5FF-433D-5D369FB12451}"/>
              </a:ext>
            </a:extLst>
          </p:cNvPr>
          <p:cNvSpPr>
            <a:spLocks noGrp="1"/>
          </p:cNvSpPr>
          <p:nvPr>
            <p:ph type="sldNum" sz="quarter" idx="17"/>
          </p:nvPr>
        </p:nvSpPr>
        <p:spPr/>
        <p:txBody>
          <a:bodyPr/>
          <a:lstStyle>
            <a:lvl1pPr>
              <a:defRPr>
                <a:solidFill>
                  <a:schemeClr val="bg1"/>
                </a:solidFill>
              </a:defRPr>
            </a:lvl1pPr>
          </a:lstStyle>
          <a:p>
            <a:fld id="{2D04F4CF-F641-6E4E-8F87-8EB8AA2BFA51}" type="slidenum">
              <a:rPr lang="en-US" smtClean="0"/>
              <a:pPr/>
              <a:t>‹#›</a:t>
            </a:fld>
            <a:endParaRPr lang="en-US"/>
          </a:p>
        </p:txBody>
      </p:sp>
      <p:sp>
        <p:nvSpPr>
          <p:cNvPr id="16" name="Text Placeholder 15">
            <a:extLst>
              <a:ext uri="{FF2B5EF4-FFF2-40B4-BE49-F238E27FC236}">
                <a16:creationId xmlns:a16="http://schemas.microsoft.com/office/drawing/2014/main" id="{9034C735-9B95-4775-8306-C72ED4CB27EA}"/>
              </a:ext>
            </a:extLst>
          </p:cNvPr>
          <p:cNvSpPr>
            <a:spLocks noGrp="1"/>
          </p:cNvSpPr>
          <p:nvPr>
            <p:ph type="body" sz="quarter" idx="18" hasCustomPrompt="1"/>
          </p:nvPr>
        </p:nvSpPr>
        <p:spPr>
          <a:xfrm>
            <a:off x="9051925" y="4243968"/>
            <a:ext cx="2635250" cy="2076450"/>
          </a:xfrm>
          <a:prstGeom prst="rect">
            <a:avLst/>
          </a:prstGeom>
        </p:spPr>
        <p:txBody>
          <a:bodyPr anchor="ctr"/>
          <a:lstStyle>
            <a:lvl1pPr marL="0" indent="0" algn="ctr">
              <a:buNone/>
              <a:defRPr>
                <a:solidFill>
                  <a:schemeClr val="bg1"/>
                </a:solidFill>
                <a:latin typeface="Helvetica Neue Light" panose="02000403000000020004"/>
              </a:defRPr>
            </a:lvl1pPr>
          </a:lstStyle>
          <a:p>
            <a:pPr lvl="0"/>
            <a:r>
              <a:rPr lang="en-US"/>
              <a:t>Org/ Subsystem</a:t>
            </a:r>
          </a:p>
        </p:txBody>
      </p:sp>
    </p:spTree>
    <p:extLst>
      <p:ext uri="{BB962C8B-B14F-4D97-AF65-F5344CB8AC3E}">
        <p14:creationId xmlns:p14="http://schemas.microsoft.com/office/powerpoint/2010/main" val="17189141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7_Title_Only_White">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234196D0-81BD-BBAF-F907-AE35B133A976}"/>
              </a:ext>
            </a:extLst>
          </p:cNvPr>
          <p:cNvSpPr/>
          <p:nvPr userDrawn="1"/>
        </p:nvSpPr>
        <p:spPr>
          <a:xfrm rot="10800000">
            <a:off x="0" y="708348"/>
            <a:ext cx="12192000" cy="54854"/>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8" name="Title 1">
            <a:extLst>
              <a:ext uri="{FF2B5EF4-FFF2-40B4-BE49-F238E27FC236}">
                <a16:creationId xmlns:a16="http://schemas.microsoft.com/office/drawing/2014/main" id="{6F99A813-7772-E0A6-7105-52C3B074B525}"/>
              </a:ext>
            </a:extLst>
          </p:cNvPr>
          <p:cNvSpPr>
            <a:spLocks noGrp="1"/>
          </p:cNvSpPr>
          <p:nvPr>
            <p:ph type="title"/>
          </p:nvPr>
        </p:nvSpPr>
        <p:spPr>
          <a:xfrm>
            <a:off x="276352" y="154160"/>
            <a:ext cx="9066431" cy="552594"/>
          </a:xfrm>
          <a:prstGeom prst="rect">
            <a:avLst/>
          </a:prstGeom>
        </p:spPr>
        <p:txBody>
          <a:bodyPr/>
          <a:lstStyle>
            <a:lvl1pPr>
              <a:defRPr sz="2800" b="1" i="0">
                <a:solidFill>
                  <a:schemeClr val="tx1"/>
                </a:solidFill>
                <a:latin typeface="+mj-lt"/>
                <a:ea typeface="Helvetica Neue" panose="02000503000000020004" pitchFamily="2" charset="0"/>
                <a:cs typeface="Helvetica Neue" panose="02000503000000020004" pitchFamily="2" charset="0"/>
              </a:defRPr>
            </a:lvl1pPr>
          </a:lstStyle>
          <a:p>
            <a:endParaRPr lang="en-US"/>
          </a:p>
        </p:txBody>
      </p:sp>
      <p:sp>
        <p:nvSpPr>
          <p:cNvPr id="3" name="Date Placeholder 2">
            <a:extLst>
              <a:ext uri="{FF2B5EF4-FFF2-40B4-BE49-F238E27FC236}">
                <a16:creationId xmlns:a16="http://schemas.microsoft.com/office/drawing/2014/main" id="{DBAE480F-46B2-0868-D262-A94070222F01}"/>
              </a:ext>
            </a:extLst>
          </p:cNvPr>
          <p:cNvSpPr>
            <a:spLocks noGrp="1"/>
          </p:cNvSpPr>
          <p:nvPr>
            <p:ph type="dt" sz="half" idx="18"/>
          </p:nvPr>
        </p:nvSpPr>
        <p:spPr/>
        <p:txBody>
          <a:bodyPr/>
          <a:lstStyle>
            <a:lvl1pPr>
              <a:defRPr>
                <a:solidFill>
                  <a:schemeClr val="accent2"/>
                </a:solidFill>
              </a:defRPr>
            </a:lvl1pPr>
          </a:lstStyle>
          <a:p>
            <a:r>
              <a:rPr lang="en-US"/>
              <a:t>DD/MM/YYYY</a:t>
            </a:r>
          </a:p>
        </p:txBody>
      </p:sp>
      <p:sp>
        <p:nvSpPr>
          <p:cNvPr id="4" name="Footer Placeholder 3">
            <a:extLst>
              <a:ext uri="{FF2B5EF4-FFF2-40B4-BE49-F238E27FC236}">
                <a16:creationId xmlns:a16="http://schemas.microsoft.com/office/drawing/2014/main" id="{707FD23D-174A-9A41-4E5E-77B09AA05BD1}"/>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DC2BCD1C-4A16-74E3-EC14-52F384D7695D}"/>
              </a:ext>
            </a:extLst>
          </p:cNvPr>
          <p:cNvSpPr>
            <a:spLocks noGrp="1"/>
          </p:cNvSpPr>
          <p:nvPr>
            <p:ph type="sldNum" sz="quarter" idx="20"/>
          </p:nvPr>
        </p:nvSpPr>
        <p:spPr/>
        <p:txBody>
          <a:bodyPr/>
          <a:lstStyle>
            <a:lvl1pPr>
              <a:defRPr>
                <a:solidFill>
                  <a:schemeClr val="accent2"/>
                </a:solidFill>
              </a:defRPr>
            </a:lvl1pPr>
          </a:lstStyle>
          <a:p>
            <a:fld id="{2D04F4CF-F641-6E4E-8F87-8EB8AA2BFA51}" type="slidenum">
              <a:rPr lang="en-US" smtClean="0"/>
              <a:pPr/>
              <a:t>‹#›</a:t>
            </a:fld>
            <a:endParaRPr lang="en-US"/>
          </a:p>
        </p:txBody>
      </p:sp>
      <p:sp>
        <p:nvSpPr>
          <p:cNvPr id="6" name="Text Placeholder 2">
            <a:extLst>
              <a:ext uri="{FF2B5EF4-FFF2-40B4-BE49-F238E27FC236}">
                <a16:creationId xmlns:a16="http://schemas.microsoft.com/office/drawing/2014/main" id="{CE1B7819-228E-CE71-7576-4CBA07A40144}"/>
              </a:ext>
            </a:extLst>
          </p:cNvPr>
          <p:cNvSpPr>
            <a:spLocks noGrp="1"/>
          </p:cNvSpPr>
          <p:nvPr>
            <p:ph type="body" sz="quarter" idx="10" hasCustomPrompt="1"/>
          </p:nvPr>
        </p:nvSpPr>
        <p:spPr>
          <a:xfrm>
            <a:off x="276225" y="772302"/>
            <a:ext cx="9066558" cy="239713"/>
          </a:xfrm>
          <a:prstGeom prst="rect">
            <a:avLst/>
          </a:prstGeom>
        </p:spPr>
        <p:txBody>
          <a:bodyPr/>
          <a:lstStyle>
            <a:lvl1pPr marL="0" indent="0">
              <a:buNone/>
              <a:defRPr sz="1200" b="0" i="0">
                <a:solidFill>
                  <a:schemeClr val="accent2"/>
                </a:solidFill>
                <a:latin typeface="+mj-lt"/>
                <a:ea typeface="Helvetica Neue" panose="02000503000000020004" pitchFamily="2" charset="0"/>
                <a:cs typeface="Helvetica Neue" panose="02000503000000020004" pitchFamily="2" charset="0"/>
              </a:defRPr>
            </a:lvl1pPr>
          </a:lstStyle>
          <a:p>
            <a:pPr lvl="0"/>
            <a:r>
              <a:rPr lang="en-US" dirty="0"/>
              <a:t>MSR-SRL-STS In-Contact Manipulation</a:t>
            </a:r>
          </a:p>
        </p:txBody>
      </p:sp>
      <p:grpSp>
        <p:nvGrpSpPr>
          <p:cNvPr id="11" name="Group 10">
            <a:extLst>
              <a:ext uri="{FF2B5EF4-FFF2-40B4-BE49-F238E27FC236}">
                <a16:creationId xmlns:a16="http://schemas.microsoft.com/office/drawing/2014/main" id="{5D428B9C-42C9-4095-9F62-FD562D5F2ED4}"/>
              </a:ext>
            </a:extLst>
          </p:cNvPr>
          <p:cNvGrpSpPr/>
          <p:nvPr userDrawn="1"/>
        </p:nvGrpSpPr>
        <p:grpSpPr>
          <a:xfrm>
            <a:off x="10308566" y="70818"/>
            <a:ext cx="1877335" cy="578242"/>
            <a:chOff x="10308566" y="70818"/>
            <a:chExt cx="1877335" cy="578242"/>
          </a:xfrm>
        </p:grpSpPr>
        <p:sp>
          <p:nvSpPr>
            <p:cNvPr id="13" name="Title 1">
              <a:extLst>
                <a:ext uri="{FF2B5EF4-FFF2-40B4-BE49-F238E27FC236}">
                  <a16:creationId xmlns:a16="http://schemas.microsoft.com/office/drawing/2014/main" id="{D4BB15C1-D86E-4019-B669-E94199D2606F}"/>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14" name="Picture 13">
              <a:extLst>
                <a:ext uri="{FF2B5EF4-FFF2-40B4-BE49-F238E27FC236}">
                  <a16:creationId xmlns:a16="http://schemas.microsoft.com/office/drawing/2014/main" id="{D7E10998-D290-4799-93B1-41B8ADE2BF4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1458021" y="70818"/>
              <a:ext cx="727880" cy="578242"/>
            </a:xfrm>
            <a:prstGeom prst="rect">
              <a:avLst/>
            </a:prstGeom>
          </p:spPr>
        </p:pic>
      </p:grpSp>
    </p:spTree>
    <p:extLst>
      <p:ext uri="{BB962C8B-B14F-4D97-AF65-F5344CB8AC3E}">
        <p14:creationId xmlns:p14="http://schemas.microsoft.com/office/powerpoint/2010/main" val="4490729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Content_White">
    <p:spTree>
      <p:nvGrpSpPr>
        <p:cNvPr id="1" name=""/>
        <p:cNvGrpSpPr/>
        <p:nvPr/>
      </p:nvGrpSpPr>
      <p:grpSpPr>
        <a:xfrm>
          <a:off x="0" y="0"/>
          <a:ext cx="0" cy="0"/>
          <a:chOff x="0" y="0"/>
          <a:chExt cx="0" cy="0"/>
        </a:xfrm>
      </p:grpSpPr>
      <p:sp>
        <p:nvSpPr>
          <p:cNvPr id="11" name="Text Placeholder 5">
            <a:extLst>
              <a:ext uri="{FF2B5EF4-FFF2-40B4-BE49-F238E27FC236}">
                <a16:creationId xmlns:a16="http://schemas.microsoft.com/office/drawing/2014/main" id="{EC16571D-E859-6E81-4544-D50739D3CF43}"/>
              </a:ext>
            </a:extLst>
          </p:cNvPr>
          <p:cNvSpPr>
            <a:spLocks noGrp="1"/>
          </p:cNvSpPr>
          <p:nvPr>
            <p:ph type="body" sz="quarter" idx="17"/>
          </p:nvPr>
        </p:nvSpPr>
        <p:spPr>
          <a:xfrm>
            <a:off x="276224" y="1188630"/>
            <a:ext cx="11619213" cy="5253445"/>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a:extLst>
              <a:ext uri="{FF2B5EF4-FFF2-40B4-BE49-F238E27FC236}">
                <a16:creationId xmlns:a16="http://schemas.microsoft.com/office/drawing/2014/main" id="{234196D0-81BD-BBAF-F907-AE35B133A976}"/>
              </a:ext>
            </a:extLst>
          </p:cNvPr>
          <p:cNvSpPr/>
          <p:nvPr userDrawn="1"/>
        </p:nvSpPr>
        <p:spPr>
          <a:xfrm rot="10800000">
            <a:off x="0" y="708348"/>
            <a:ext cx="12192000" cy="54854"/>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8" name="Title 1">
            <a:extLst>
              <a:ext uri="{FF2B5EF4-FFF2-40B4-BE49-F238E27FC236}">
                <a16:creationId xmlns:a16="http://schemas.microsoft.com/office/drawing/2014/main" id="{6F99A813-7772-E0A6-7105-52C3B074B525}"/>
              </a:ext>
            </a:extLst>
          </p:cNvPr>
          <p:cNvSpPr>
            <a:spLocks noGrp="1"/>
          </p:cNvSpPr>
          <p:nvPr>
            <p:ph type="title"/>
          </p:nvPr>
        </p:nvSpPr>
        <p:spPr>
          <a:xfrm>
            <a:off x="276352" y="154160"/>
            <a:ext cx="10310005" cy="552594"/>
          </a:xfrm>
          <a:prstGeom prst="rect">
            <a:avLst/>
          </a:prstGeom>
        </p:spPr>
        <p:txBody>
          <a:bodyPr/>
          <a:lstStyle>
            <a:lvl1pPr>
              <a:defRPr sz="2800" b="1" i="0">
                <a:solidFill>
                  <a:schemeClr val="tx1"/>
                </a:solidFill>
                <a:latin typeface="+mj-lt"/>
                <a:ea typeface="Helvetica Neue" panose="02000503000000020004" pitchFamily="2" charset="0"/>
                <a:cs typeface="Helvetica Neue" panose="02000503000000020004" pitchFamily="2" charset="0"/>
              </a:defRPr>
            </a:lvl1pPr>
          </a:lstStyle>
          <a:p>
            <a:endParaRPr lang="en-US" dirty="0"/>
          </a:p>
        </p:txBody>
      </p:sp>
      <p:sp>
        <p:nvSpPr>
          <p:cNvPr id="3" name="Date Placeholder 2">
            <a:extLst>
              <a:ext uri="{FF2B5EF4-FFF2-40B4-BE49-F238E27FC236}">
                <a16:creationId xmlns:a16="http://schemas.microsoft.com/office/drawing/2014/main" id="{DBAE480F-46B2-0868-D262-A94070222F01}"/>
              </a:ext>
            </a:extLst>
          </p:cNvPr>
          <p:cNvSpPr>
            <a:spLocks noGrp="1"/>
          </p:cNvSpPr>
          <p:nvPr>
            <p:ph type="dt" sz="half" idx="18"/>
          </p:nvPr>
        </p:nvSpPr>
        <p:spPr/>
        <p:txBody>
          <a:bodyPr/>
          <a:lstStyle>
            <a:lvl1pPr>
              <a:defRPr>
                <a:solidFill>
                  <a:schemeClr val="accent2"/>
                </a:solidFill>
              </a:defRPr>
            </a:lvl1pPr>
          </a:lstStyle>
          <a:p>
            <a:r>
              <a:rPr lang="en-US"/>
              <a:t>DD/MM/YYYY</a:t>
            </a:r>
          </a:p>
        </p:txBody>
      </p:sp>
      <p:sp>
        <p:nvSpPr>
          <p:cNvPr id="4" name="Footer Placeholder 3">
            <a:extLst>
              <a:ext uri="{FF2B5EF4-FFF2-40B4-BE49-F238E27FC236}">
                <a16:creationId xmlns:a16="http://schemas.microsoft.com/office/drawing/2014/main" id="{707FD23D-174A-9A41-4E5E-77B09AA05BD1}"/>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DC2BCD1C-4A16-74E3-EC14-52F384D7695D}"/>
              </a:ext>
            </a:extLst>
          </p:cNvPr>
          <p:cNvSpPr>
            <a:spLocks noGrp="1"/>
          </p:cNvSpPr>
          <p:nvPr>
            <p:ph type="sldNum" sz="quarter" idx="20"/>
          </p:nvPr>
        </p:nvSpPr>
        <p:spPr/>
        <p:txBody>
          <a:bodyPr/>
          <a:lstStyle>
            <a:lvl1pPr>
              <a:defRPr>
                <a:solidFill>
                  <a:schemeClr val="accent2"/>
                </a:solidFill>
              </a:defRPr>
            </a:lvl1pPr>
          </a:lstStyle>
          <a:p>
            <a:fld id="{2D04F4CF-F641-6E4E-8F87-8EB8AA2BFA51}" type="slidenum">
              <a:rPr lang="en-US" smtClean="0"/>
              <a:pPr/>
              <a:t>‹#›</a:t>
            </a:fld>
            <a:endParaRPr lang="en-US"/>
          </a:p>
        </p:txBody>
      </p:sp>
      <p:grpSp>
        <p:nvGrpSpPr>
          <p:cNvPr id="23" name="Group 22">
            <a:extLst>
              <a:ext uri="{FF2B5EF4-FFF2-40B4-BE49-F238E27FC236}">
                <a16:creationId xmlns:a16="http://schemas.microsoft.com/office/drawing/2014/main" id="{ADC812BE-4444-071E-4759-0A05CE72DDF2}"/>
              </a:ext>
            </a:extLst>
          </p:cNvPr>
          <p:cNvGrpSpPr/>
          <p:nvPr userDrawn="1"/>
        </p:nvGrpSpPr>
        <p:grpSpPr>
          <a:xfrm>
            <a:off x="10308566" y="70818"/>
            <a:ext cx="1877335" cy="578242"/>
            <a:chOff x="10308566" y="70818"/>
            <a:chExt cx="1877335" cy="578242"/>
          </a:xfrm>
        </p:grpSpPr>
        <p:sp>
          <p:nvSpPr>
            <p:cNvPr id="2" name="Title 1">
              <a:extLst>
                <a:ext uri="{FF2B5EF4-FFF2-40B4-BE49-F238E27FC236}">
                  <a16:creationId xmlns:a16="http://schemas.microsoft.com/office/drawing/2014/main" id="{01B8DABD-E51C-D5C6-D854-46CE8843454E}"/>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21" name="Picture 20">
              <a:extLst>
                <a:ext uri="{FF2B5EF4-FFF2-40B4-BE49-F238E27FC236}">
                  <a16:creationId xmlns:a16="http://schemas.microsoft.com/office/drawing/2014/main" id="{BD33C681-283F-F830-1F62-C4E47BADA1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1458021" y="70818"/>
              <a:ext cx="727880" cy="578242"/>
            </a:xfrm>
            <a:prstGeom prst="rect">
              <a:avLst/>
            </a:prstGeom>
          </p:spPr>
        </p:pic>
      </p:grpSp>
      <p:sp>
        <p:nvSpPr>
          <p:cNvPr id="15" name="TextBox 14">
            <a:extLst>
              <a:ext uri="{FF2B5EF4-FFF2-40B4-BE49-F238E27FC236}">
                <a16:creationId xmlns:a16="http://schemas.microsoft.com/office/drawing/2014/main" id="{6958867C-CE89-D87A-226B-2A1BF5EDED7E}"/>
              </a:ext>
            </a:extLst>
          </p:cNvPr>
          <p:cNvSpPr txBox="1"/>
          <p:nvPr userDrawn="1"/>
        </p:nvSpPr>
        <p:spPr>
          <a:xfrm>
            <a:off x="276224" y="775432"/>
            <a:ext cx="10310133" cy="258532"/>
          </a:xfrm>
          <a:prstGeom prst="rect">
            <a:avLst/>
          </a:prstGeom>
        </p:spPr>
        <p:txBody>
          <a:bodyPr wrap="square" rtlCol="0">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93C8E"/>
                </a:solidFill>
                <a:effectLst/>
                <a:uLnTx/>
                <a:uFillTx/>
                <a:latin typeface="Arial" panose="020B0604020202020204"/>
                <a:ea typeface="+mn-ea"/>
                <a:cs typeface="+mn-cs"/>
              </a:rPr>
              <a:t>MSR-SRL-STS In-Contact Manipulation</a:t>
            </a:r>
            <a:r>
              <a:rPr lang="en-US" sz="1200" dirty="0">
                <a:solidFill>
                  <a:srgbClr val="093C8E"/>
                </a:solidFill>
              </a:rPr>
              <a:t>  </a:t>
            </a:r>
          </a:p>
        </p:txBody>
      </p:sp>
    </p:spTree>
    <p:extLst>
      <p:ext uri="{BB962C8B-B14F-4D97-AF65-F5344CB8AC3E}">
        <p14:creationId xmlns:p14="http://schemas.microsoft.com/office/powerpoint/2010/main" val="28006078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675095" y="1156181"/>
            <a:ext cx="10292080" cy="1545038"/>
          </a:xfrm>
        </p:spPr>
        <p:txBody>
          <a:bodyPr>
            <a:spAutoFit/>
          </a:bodyPr>
          <a:lstStyle>
            <a:lvl1pPr>
              <a:defRPr sz="2000">
                <a:latin typeface="Arial" panose="020B0604020202020204" pitchFamily="34" charset="0"/>
                <a:cs typeface="Arial" panose="020B0604020202020204" pitchFamily="34" charset="0"/>
              </a:defRPr>
            </a:lvl1pPr>
            <a:lvl2pPr>
              <a:defRPr sz="1800">
                <a:latin typeface="Arial" panose="020B0604020202020204" pitchFamily="34" charset="0"/>
                <a:cs typeface="Arial" panose="020B0604020202020204" pitchFamily="34" charset="0"/>
              </a:defRPr>
            </a:lvl2pPr>
            <a:lvl3pPr>
              <a:defRPr sz="1600">
                <a:latin typeface="Arial" panose="020B0604020202020204" pitchFamily="34" charset="0"/>
                <a:cs typeface="Arial" panose="020B0604020202020204" pitchFamily="34" charset="0"/>
              </a:defRPr>
            </a:lvl3pPr>
            <a:lvl4pPr>
              <a:defRPr sz="14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itle 13"/>
          <p:cNvSpPr>
            <a:spLocks noGrp="1"/>
          </p:cNvSpPr>
          <p:nvPr>
            <p:ph type="title"/>
          </p:nvPr>
        </p:nvSpPr>
        <p:spPr/>
        <p:txBody>
          <a:bodyPr/>
          <a:lstStyle>
            <a:lvl1pPr>
              <a:defRPr sz="2400">
                <a:latin typeface="Arial" panose="020B0604020202020204" pitchFamily="34" charset="0"/>
                <a:cs typeface="Arial" panose="020B0604020202020204" pitchFamily="34" charset="0"/>
              </a:defRPr>
            </a:lvl1pPr>
          </a:lstStyle>
          <a:p>
            <a:r>
              <a:rPr lang="en-US"/>
              <a:t>Click to edit Master title style</a:t>
            </a:r>
          </a:p>
        </p:txBody>
      </p:sp>
      <p:sp>
        <p:nvSpPr>
          <p:cNvPr id="6" name="Slide Number Placeholder 4"/>
          <p:cNvSpPr>
            <a:spLocks noGrp="1"/>
          </p:cNvSpPr>
          <p:nvPr>
            <p:ph type="sldNum" sz="quarter" idx="12"/>
          </p:nvPr>
        </p:nvSpPr>
        <p:spPr>
          <a:xfrm>
            <a:off x="11335539" y="6570664"/>
            <a:ext cx="856461" cy="287337"/>
          </a:xfrm>
        </p:spPr>
        <p:txBody>
          <a:bodyPr/>
          <a:lstStyle>
            <a:lvl1pPr>
              <a:defRPr>
                <a:latin typeface="+mn-lt"/>
              </a:defRPr>
            </a:lvl1pPr>
          </a:lstStyle>
          <a:p>
            <a:pPr>
              <a:defRPr/>
            </a:pPr>
            <a:fld id="{0B0D5911-593C-4B7A-998F-6DBC76EF3BD7}" type="slidenum">
              <a:rPr lang="en-US" smtClean="0">
                <a:solidFill>
                  <a:prstClr val="black">
                    <a:tint val="75000"/>
                  </a:prstClr>
                </a:solidFill>
              </a:rPr>
              <a:pPr>
                <a:defRPr/>
              </a:pPr>
              <a:t>‹#›</a:t>
            </a:fld>
            <a:endParaRPr lang="en-US">
              <a:solidFill>
                <a:prstClr val="black">
                  <a:tint val="75000"/>
                </a:prstClr>
              </a:solidFill>
            </a:endParaRPr>
          </a:p>
        </p:txBody>
      </p:sp>
      <p:sp>
        <p:nvSpPr>
          <p:cNvPr id="7" name="Footer Placeholder 4"/>
          <p:cNvSpPr>
            <a:spLocks noGrp="1"/>
          </p:cNvSpPr>
          <p:nvPr>
            <p:ph type="ftr" sz="quarter" idx="11"/>
          </p:nvPr>
        </p:nvSpPr>
        <p:spPr>
          <a:xfrm>
            <a:off x="435996" y="6493821"/>
            <a:ext cx="11084637" cy="281544"/>
          </a:xfrm>
          <a:prstGeom prst="rect">
            <a:avLst/>
          </a:prstGeom>
        </p:spPr>
        <p:txBody>
          <a:bodyPr/>
          <a:lstStyle>
            <a:lvl1pPr algn="ctr">
              <a:defRPr sz="1000">
                <a:solidFill>
                  <a:schemeClr val="tx1"/>
                </a:solidFill>
              </a:defRPr>
            </a:lvl1pPr>
          </a:lstStyle>
          <a:p>
            <a:pPr fontAlgn="base">
              <a:spcBef>
                <a:spcPct val="0"/>
              </a:spcBef>
              <a:spcAft>
                <a:spcPct val="0"/>
              </a:spcAft>
              <a:defRPr/>
            </a:pPr>
            <a:endParaRPr lang="en-US"/>
          </a:p>
        </p:txBody>
      </p:sp>
    </p:spTree>
    <p:extLst>
      <p:ext uri="{BB962C8B-B14F-4D97-AF65-F5344CB8AC3E}">
        <p14:creationId xmlns:p14="http://schemas.microsoft.com/office/powerpoint/2010/main" val="11865132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14" name="Title 13"/>
          <p:cNvSpPr>
            <a:spLocks noGrp="1"/>
          </p:cNvSpPr>
          <p:nvPr>
            <p:ph type="title"/>
          </p:nvPr>
        </p:nvSpPr>
        <p:spPr/>
        <p:txBody>
          <a:bodyPr/>
          <a:lstStyle>
            <a:lvl1pPr>
              <a:defRPr sz="2400">
                <a:latin typeface="Arial" panose="020B0604020202020204" pitchFamily="34" charset="0"/>
                <a:cs typeface="Arial" panose="020B0604020202020204" pitchFamily="34" charset="0"/>
              </a:defRPr>
            </a:lvl1pPr>
          </a:lstStyle>
          <a:p>
            <a:r>
              <a:rPr lang="en-US"/>
              <a:t>Click to edit Master title style</a:t>
            </a:r>
          </a:p>
        </p:txBody>
      </p:sp>
      <p:sp>
        <p:nvSpPr>
          <p:cNvPr id="6" name="Slide Number Placeholder 4"/>
          <p:cNvSpPr>
            <a:spLocks noGrp="1"/>
          </p:cNvSpPr>
          <p:nvPr>
            <p:ph type="sldNum" sz="quarter" idx="12"/>
          </p:nvPr>
        </p:nvSpPr>
        <p:spPr>
          <a:xfrm>
            <a:off x="11335539" y="6570664"/>
            <a:ext cx="856461" cy="287337"/>
          </a:xfrm>
        </p:spPr>
        <p:txBody>
          <a:bodyPr/>
          <a:lstStyle>
            <a:lvl1pPr>
              <a:defRPr>
                <a:latin typeface="+mn-lt"/>
              </a:defRPr>
            </a:lvl1pPr>
          </a:lstStyle>
          <a:p>
            <a:pPr>
              <a:defRPr/>
            </a:pPr>
            <a:fld id="{0B0D5911-593C-4B7A-998F-6DBC76EF3BD7}" type="slidenum">
              <a:rPr lang="en-US" smtClean="0">
                <a:solidFill>
                  <a:prstClr val="black">
                    <a:tint val="75000"/>
                  </a:prstClr>
                </a:solidFill>
              </a:rPr>
              <a:pPr>
                <a:defRPr/>
              </a:pPr>
              <a:t>‹#›</a:t>
            </a:fld>
            <a:endParaRPr lang="en-US">
              <a:solidFill>
                <a:prstClr val="black">
                  <a:tint val="75000"/>
                </a:prstClr>
              </a:solidFill>
            </a:endParaRPr>
          </a:p>
        </p:txBody>
      </p:sp>
      <p:sp>
        <p:nvSpPr>
          <p:cNvPr id="7" name="Footer Placeholder 4"/>
          <p:cNvSpPr>
            <a:spLocks noGrp="1"/>
          </p:cNvSpPr>
          <p:nvPr>
            <p:ph type="ftr" sz="quarter" idx="11"/>
          </p:nvPr>
        </p:nvSpPr>
        <p:spPr>
          <a:xfrm>
            <a:off x="435996" y="6493821"/>
            <a:ext cx="11084637" cy="281544"/>
          </a:xfrm>
          <a:prstGeom prst="rect">
            <a:avLst/>
          </a:prstGeom>
        </p:spPr>
        <p:txBody>
          <a:bodyPr/>
          <a:lstStyle>
            <a:lvl1pPr algn="ctr">
              <a:defRPr sz="1000">
                <a:solidFill>
                  <a:schemeClr val="tx1"/>
                </a:solidFill>
              </a:defRPr>
            </a:lvl1pPr>
          </a:lstStyle>
          <a:p>
            <a:pPr fontAlgn="base">
              <a:spcBef>
                <a:spcPct val="0"/>
              </a:spcBef>
              <a:spcAft>
                <a:spcPct val="0"/>
              </a:spcAft>
              <a:defRPr/>
            </a:pPr>
            <a:endParaRPr lang="en-US"/>
          </a:p>
        </p:txBody>
      </p:sp>
      <p:sp>
        <p:nvSpPr>
          <p:cNvPr id="4" name="Rectangle: Rounded Corners 3">
            <a:extLst>
              <a:ext uri="{FF2B5EF4-FFF2-40B4-BE49-F238E27FC236}">
                <a16:creationId xmlns:a16="http://schemas.microsoft.com/office/drawing/2014/main" id="{25DD28F5-3A95-4B80-95AE-549F4AD280AE}"/>
              </a:ext>
            </a:extLst>
          </p:cNvPr>
          <p:cNvSpPr/>
          <p:nvPr userDrawn="1"/>
        </p:nvSpPr>
        <p:spPr bwMode="auto">
          <a:xfrm>
            <a:off x="10543479" y="3300765"/>
            <a:ext cx="1248937" cy="596591"/>
          </a:xfrm>
          <a:prstGeom prst="roundRect">
            <a:avLst/>
          </a:prstGeom>
          <a:solidFill>
            <a:schemeClr val="accent2"/>
          </a:solidFill>
          <a:ln w="19050"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a:ln>
                  <a:noFill/>
                </a:ln>
                <a:solidFill>
                  <a:schemeClr val="bg1"/>
                </a:solidFill>
                <a:effectLst/>
                <a:latin typeface="Arial Narrow" pitchFamily="34" charset="0"/>
              </a:rPr>
              <a:t>STA &amp; OS/Tube Plant</a:t>
            </a:r>
          </a:p>
        </p:txBody>
      </p:sp>
      <p:sp>
        <p:nvSpPr>
          <p:cNvPr id="8" name="Rectangle: Rounded Corners 7">
            <a:extLst>
              <a:ext uri="{FF2B5EF4-FFF2-40B4-BE49-F238E27FC236}">
                <a16:creationId xmlns:a16="http://schemas.microsoft.com/office/drawing/2014/main" id="{5309F429-F383-4008-9003-A15B9AAA0782}"/>
              </a:ext>
            </a:extLst>
          </p:cNvPr>
          <p:cNvSpPr/>
          <p:nvPr userDrawn="1"/>
        </p:nvSpPr>
        <p:spPr bwMode="auto">
          <a:xfrm>
            <a:off x="8087753" y="3300765"/>
            <a:ext cx="1248937" cy="596591"/>
          </a:xfrm>
          <a:prstGeom prst="roundRect">
            <a:avLst/>
          </a:prstGeom>
          <a:solidFill>
            <a:schemeClr val="accent2"/>
          </a:solidFill>
          <a:ln w="19050"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a:ln>
                  <a:noFill/>
                </a:ln>
                <a:solidFill>
                  <a:schemeClr val="bg1"/>
                </a:solidFill>
                <a:effectLst/>
                <a:latin typeface="Arial Narrow" pitchFamily="34" charset="0"/>
              </a:rPr>
              <a:t>Forward Kinematics</a:t>
            </a:r>
          </a:p>
        </p:txBody>
      </p:sp>
      <p:cxnSp>
        <p:nvCxnSpPr>
          <p:cNvPr id="9" name="Straight Arrow Connector 8">
            <a:extLst>
              <a:ext uri="{FF2B5EF4-FFF2-40B4-BE49-F238E27FC236}">
                <a16:creationId xmlns:a16="http://schemas.microsoft.com/office/drawing/2014/main" id="{8EDCC30C-3410-43DB-9074-A2242B19140B}"/>
              </a:ext>
            </a:extLst>
          </p:cNvPr>
          <p:cNvCxnSpPr>
            <a:cxnSpLocks/>
            <a:stCxn id="8" idx="3"/>
            <a:endCxn id="4" idx="1"/>
          </p:cNvCxnSpPr>
          <p:nvPr userDrawn="1"/>
        </p:nvCxnSpPr>
        <p:spPr bwMode="auto">
          <a:xfrm>
            <a:off x="9336690" y="3599061"/>
            <a:ext cx="1206789" cy="0"/>
          </a:xfrm>
          <a:prstGeom prst="straightConnector1">
            <a:avLst/>
          </a:prstGeom>
          <a:noFill/>
          <a:ln w="25400" cap="flat" cmpd="sng" algn="ctr">
            <a:solidFill>
              <a:schemeClr val="accent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4436421-59B3-4846-B2A8-23A2F1F65228}"/>
                  </a:ext>
                </a:extLst>
              </p:cNvPr>
              <p:cNvSpPr txBox="1"/>
              <p:nvPr userDrawn="1"/>
            </p:nvSpPr>
            <p:spPr>
              <a:xfrm>
                <a:off x="9684494" y="3229728"/>
                <a:ext cx="49757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𝛿𝜃</m:t>
                      </m:r>
                    </m:oMath>
                  </m:oMathPara>
                </a14:m>
                <a:endParaRPr lang="en-US"/>
              </a:p>
            </p:txBody>
          </p:sp>
        </mc:Choice>
        <mc:Fallback xmlns="">
          <p:sp>
            <p:nvSpPr>
              <p:cNvPr id="10" name="TextBox 9">
                <a:extLst>
                  <a:ext uri="{FF2B5EF4-FFF2-40B4-BE49-F238E27FC236}">
                    <a16:creationId xmlns:a16="http://schemas.microsoft.com/office/drawing/2014/main" id="{D4436421-59B3-4846-B2A8-23A2F1F65228}"/>
                  </a:ext>
                </a:extLst>
              </p:cNvPr>
              <p:cNvSpPr txBox="1">
                <a:spLocks noRot="1" noChangeAspect="1" noMove="1" noResize="1" noEditPoints="1" noAdjustHandles="1" noChangeArrowheads="1" noChangeShapeType="1" noTextEdit="1"/>
              </p:cNvSpPr>
              <p:nvPr userDrawn="1"/>
            </p:nvSpPr>
            <p:spPr>
              <a:xfrm>
                <a:off x="9684494" y="3229728"/>
                <a:ext cx="497572" cy="369332"/>
              </a:xfrm>
              <a:prstGeom prst="rect">
                <a:avLst/>
              </a:prstGeom>
              <a:blipFill>
                <a:blip r:embed="rId2"/>
                <a:stretch>
                  <a:fillRect/>
                </a:stretch>
              </a:blipFill>
            </p:spPr>
            <p:txBody>
              <a:bodyPr/>
              <a:lstStyle/>
              <a:p>
                <a:r>
                  <a:rPr lang="en-US">
                    <a:noFill/>
                  </a:rPr>
                  <a:t> </a:t>
                </a:r>
              </a:p>
            </p:txBody>
          </p:sp>
        </mc:Fallback>
      </mc:AlternateContent>
      <p:sp>
        <p:nvSpPr>
          <p:cNvPr id="12" name="Rectangle: Rounded Corners 11">
            <a:extLst>
              <a:ext uri="{FF2B5EF4-FFF2-40B4-BE49-F238E27FC236}">
                <a16:creationId xmlns:a16="http://schemas.microsoft.com/office/drawing/2014/main" id="{0927BC2C-1FC0-4237-8023-E0C4529FD65D}"/>
              </a:ext>
            </a:extLst>
          </p:cNvPr>
          <p:cNvSpPr/>
          <p:nvPr userDrawn="1"/>
        </p:nvSpPr>
        <p:spPr bwMode="auto">
          <a:xfrm>
            <a:off x="8087752" y="1990176"/>
            <a:ext cx="1248937" cy="596591"/>
          </a:xfrm>
          <a:prstGeom prst="roundRect">
            <a:avLst/>
          </a:prstGeom>
          <a:solidFill>
            <a:schemeClr val="accent2"/>
          </a:solidFill>
          <a:ln w="19050"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a:ln>
                  <a:noFill/>
                </a:ln>
                <a:solidFill>
                  <a:schemeClr val="bg1"/>
                </a:solidFill>
                <a:effectLst/>
                <a:latin typeface="Arial Narrow" pitchFamily="34" charset="0"/>
              </a:rPr>
              <a:t>Kinematics Calculation</a:t>
            </a:r>
          </a:p>
        </p:txBody>
      </p:sp>
      <p:cxnSp>
        <p:nvCxnSpPr>
          <p:cNvPr id="13" name="Straight Arrow Connector 12">
            <a:extLst>
              <a:ext uri="{FF2B5EF4-FFF2-40B4-BE49-F238E27FC236}">
                <a16:creationId xmlns:a16="http://schemas.microsoft.com/office/drawing/2014/main" id="{38CED2F4-EC9E-4D77-9237-05672C7F1681}"/>
              </a:ext>
            </a:extLst>
          </p:cNvPr>
          <p:cNvCxnSpPr>
            <a:cxnSpLocks/>
            <a:stCxn id="12" idx="2"/>
            <a:endCxn id="8" idx="0"/>
          </p:cNvCxnSpPr>
          <p:nvPr userDrawn="1"/>
        </p:nvCxnSpPr>
        <p:spPr bwMode="auto">
          <a:xfrm>
            <a:off x="8712221" y="2586767"/>
            <a:ext cx="1" cy="713998"/>
          </a:xfrm>
          <a:prstGeom prst="straightConnector1">
            <a:avLst/>
          </a:prstGeom>
          <a:noFill/>
          <a:ln w="25400" cap="flat" cmpd="sng" algn="ctr">
            <a:solidFill>
              <a:schemeClr val="accent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49CCED0-91FF-4DCB-8EE1-075B6D1532C6}"/>
                  </a:ext>
                </a:extLst>
              </p:cNvPr>
              <p:cNvSpPr txBox="1"/>
              <p:nvPr userDrawn="1"/>
            </p:nvSpPr>
            <p:spPr>
              <a:xfrm>
                <a:off x="8785149" y="2701656"/>
                <a:ext cx="49699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𝐽</m:t>
                          </m:r>
                        </m:e>
                        <m:sub>
                          <m:r>
                            <a:rPr lang="en-US" b="0" i="1" smtClean="0">
                              <a:latin typeface="Cambria Math" panose="02040503050406030204" pitchFamily="18" charset="0"/>
                            </a:rPr>
                            <m:t>𝑐𝑐</m:t>
                          </m:r>
                        </m:sub>
                      </m:sSub>
                    </m:oMath>
                  </m:oMathPara>
                </a14:m>
                <a:endParaRPr lang="en-US"/>
              </a:p>
            </p:txBody>
          </p:sp>
        </mc:Choice>
        <mc:Fallback xmlns="">
          <p:sp>
            <p:nvSpPr>
              <p:cNvPr id="19" name="TextBox 18">
                <a:extLst>
                  <a:ext uri="{FF2B5EF4-FFF2-40B4-BE49-F238E27FC236}">
                    <a16:creationId xmlns:a16="http://schemas.microsoft.com/office/drawing/2014/main" id="{849CCED0-91FF-4DCB-8EE1-075B6D1532C6}"/>
                  </a:ext>
                </a:extLst>
              </p:cNvPr>
              <p:cNvSpPr txBox="1">
                <a:spLocks noRot="1" noChangeAspect="1" noMove="1" noResize="1" noEditPoints="1" noAdjustHandles="1" noChangeArrowheads="1" noChangeShapeType="1" noTextEdit="1"/>
              </p:cNvSpPr>
              <p:nvPr userDrawn="1"/>
            </p:nvSpPr>
            <p:spPr>
              <a:xfrm>
                <a:off x="8785149" y="2701656"/>
                <a:ext cx="496996" cy="369332"/>
              </a:xfrm>
              <a:prstGeom prst="rect">
                <a:avLst/>
              </a:prstGeom>
              <a:blipFill>
                <a:blip r:embed="rId3"/>
                <a:stretch>
                  <a:fillRect b="-9836"/>
                </a:stretch>
              </a:blipFill>
            </p:spPr>
            <p:txBody>
              <a:bodyPr/>
              <a:lstStyle/>
              <a:p>
                <a:r>
                  <a:rPr lang="en-US">
                    <a:noFill/>
                  </a:rPr>
                  <a:t> </a:t>
                </a:r>
              </a:p>
            </p:txBody>
          </p:sp>
        </mc:Fallback>
      </mc:AlternateContent>
      <p:cxnSp>
        <p:nvCxnSpPr>
          <p:cNvPr id="23" name="Connector: Elbow 22">
            <a:extLst>
              <a:ext uri="{FF2B5EF4-FFF2-40B4-BE49-F238E27FC236}">
                <a16:creationId xmlns:a16="http://schemas.microsoft.com/office/drawing/2014/main" id="{1012CB23-8E93-45E6-B8C3-B449DD46FEE5}"/>
              </a:ext>
            </a:extLst>
          </p:cNvPr>
          <p:cNvCxnSpPr>
            <a:stCxn id="4" idx="0"/>
            <a:endCxn id="12" idx="3"/>
          </p:cNvCxnSpPr>
          <p:nvPr userDrawn="1"/>
        </p:nvCxnSpPr>
        <p:spPr bwMode="auto">
          <a:xfrm rot="16200000" flipV="1">
            <a:off x="9746173" y="1878989"/>
            <a:ext cx="1012293" cy="1831259"/>
          </a:xfrm>
          <a:prstGeom prst="bentConnector2">
            <a:avLst/>
          </a:prstGeom>
          <a:noFill/>
          <a:ln w="25400" cap="flat" cmpd="sng" algn="ctr">
            <a:solidFill>
              <a:schemeClr val="accent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7DD36D59-44A8-4035-A875-A7D9D5099897}"/>
                  </a:ext>
                </a:extLst>
              </p:cNvPr>
              <p:cNvSpPr txBox="1"/>
              <p:nvPr userDrawn="1"/>
            </p:nvSpPr>
            <p:spPr>
              <a:xfrm>
                <a:off x="11191580" y="2516990"/>
                <a:ext cx="37414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𝜃</m:t>
                      </m:r>
                    </m:oMath>
                  </m:oMathPara>
                </a14:m>
                <a:endParaRPr lang="en-US"/>
              </a:p>
            </p:txBody>
          </p:sp>
        </mc:Choice>
        <mc:Fallback xmlns="">
          <p:sp>
            <p:nvSpPr>
              <p:cNvPr id="24" name="TextBox 23">
                <a:extLst>
                  <a:ext uri="{FF2B5EF4-FFF2-40B4-BE49-F238E27FC236}">
                    <a16:creationId xmlns:a16="http://schemas.microsoft.com/office/drawing/2014/main" id="{7DD36D59-44A8-4035-A875-A7D9D5099897}"/>
                  </a:ext>
                </a:extLst>
              </p:cNvPr>
              <p:cNvSpPr txBox="1">
                <a:spLocks noRot="1" noChangeAspect="1" noMove="1" noResize="1" noEditPoints="1" noAdjustHandles="1" noChangeArrowheads="1" noChangeShapeType="1" noTextEdit="1"/>
              </p:cNvSpPr>
              <p:nvPr userDrawn="1"/>
            </p:nvSpPr>
            <p:spPr>
              <a:xfrm>
                <a:off x="11191580" y="2516990"/>
                <a:ext cx="374141" cy="369332"/>
              </a:xfrm>
              <a:prstGeom prst="rect">
                <a:avLst/>
              </a:prstGeom>
              <a:blipFill>
                <a:blip r:embed="rId4"/>
                <a:stretch>
                  <a:fillRect/>
                </a:stretch>
              </a:blipFill>
            </p:spPr>
            <p:txBody>
              <a:bodyPr/>
              <a:lstStyle/>
              <a:p>
                <a:r>
                  <a:rPr lang="en-US">
                    <a:noFill/>
                  </a:rPr>
                  <a:t> </a:t>
                </a:r>
              </a:p>
            </p:txBody>
          </p:sp>
        </mc:Fallback>
      </mc:AlternateContent>
      <p:cxnSp>
        <p:nvCxnSpPr>
          <p:cNvPr id="25" name="Connector: Elbow 24">
            <a:extLst>
              <a:ext uri="{FF2B5EF4-FFF2-40B4-BE49-F238E27FC236}">
                <a16:creationId xmlns:a16="http://schemas.microsoft.com/office/drawing/2014/main" id="{F1AF65D9-7FBE-43DA-BC19-8C719EB376DD}"/>
              </a:ext>
            </a:extLst>
          </p:cNvPr>
          <p:cNvCxnSpPr>
            <a:cxnSpLocks/>
            <a:stCxn id="4" idx="2"/>
          </p:cNvCxnSpPr>
          <p:nvPr userDrawn="1"/>
        </p:nvCxnSpPr>
        <p:spPr bwMode="auto">
          <a:xfrm rot="5400000">
            <a:off x="8723042" y="2216310"/>
            <a:ext cx="763861" cy="4125952"/>
          </a:xfrm>
          <a:prstGeom prst="bentConnector2">
            <a:avLst/>
          </a:prstGeom>
          <a:noFill/>
          <a:ln w="25400" cap="flat" cmpd="sng" algn="ctr">
            <a:solidFill>
              <a:schemeClr val="accent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241DEF81-E86C-472A-ABEC-D0CF73A4210E}"/>
                  </a:ext>
                </a:extLst>
              </p:cNvPr>
              <p:cNvSpPr txBox="1"/>
              <p:nvPr userDrawn="1"/>
            </p:nvSpPr>
            <p:spPr>
              <a:xfrm>
                <a:off x="7444248" y="3163568"/>
                <a:ext cx="66114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𝛿</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𝑐𝑐</m:t>
                          </m:r>
                        </m:sub>
                      </m:sSub>
                    </m:oMath>
                  </m:oMathPara>
                </a14:m>
                <a:endParaRPr lang="en-US"/>
              </a:p>
            </p:txBody>
          </p:sp>
        </mc:Choice>
        <mc:Fallback xmlns="">
          <p:sp>
            <p:nvSpPr>
              <p:cNvPr id="31" name="TextBox 30">
                <a:extLst>
                  <a:ext uri="{FF2B5EF4-FFF2-40B4-BE49-F238E27FC236}">
                    <a16:creationId xmlns:a16="http://schemas.microsoft.com/office/drawing/2014/main" id="{241DEF81-E86C-472A-ABEC-D0CF73A4210E}"/>
                  </a:ext>
                </a:extLst>
              </p:cNvPr>
              <p:cNvSpPr txBox="1">
                <a:spLocks noRot="1" noChangeAspect="1" noMove="1" noResize="1" noEditPoints="1" noAdjustHandles="1" noChangeArrowheads="1" noChangeShapeType="1" noTextEdit="1"/>
              </p:cNvSpPr>
              <p:nvPr userDrawn="1"/>
            </p:nvSpPr>
            <p:spPr>
              <a:xfrm>
                <a:off x="7444248" y="3163568"/>
                <a:ext cx="661143"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A9A196F5-6B36-4383-8673-79FD78D314F7}"/>
                  </a:ext>
                </a:extLst>
              </p:cNvPr>
              <p:cNvSpPr txBox="1"/>
              <p:nvPr userDrawn="1"/>
            </p:nvSpPr>
            <p:spPr>
              <a:xfrm>
                <a:off x="9546869" y="4730760"/>
                <a:ext cx="790794" cy="38786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𝑊</m:t>
                          </m:r>
                        </m:e>
                        <m:sub>
                          <m:r>
                            <a:rPr lang="en-US" b="0" i="1" smtClean="0">
                              <a:latin typeface="Cambria Math" panose="02040503050406030204" pitchFamily="18" charset="0"/>
                            </a:rPr>
                            <m:t>𝑐𝑐</m:t>
                          </m:r>
                        </m:sub>
                        <m:sup>
                          <m:r>
                            <a:rPr lang="en-US" b="0" i="1" smtClean="0">
                              <a:latin typeface="Cambria Math" panose="02040503050406030204" pitchFamily="18" charset="0"/>
                            </a:rPr>
                            <m:t>𝑙𝑖𝑣𝑒</m:t>
                          </m:r>
                        </m:sup>
                      </m:sSubSup>
                    </m:oMath>
                  </m:oMathPara>
                </a14:m>
                <a:endParaRPr lang="en-US"/>
              </a:p>
            </p:txBody>
          </p:sp>
        </mc:Choice>
        <mc:Fallback xmlns="">
          <p:sp>
            <p:nvSpPr>
              <p:cNvPr id="32" name="TextBox 31">
                <a:extLst>
                  <a:ext uri="{FF2B5EF4-FFF2-40B4-BE49-F238E27FC236}">
                    <a16:creationId xmlns:a16="http://schemas.microsoft.com/office/drawing/2014/main" id="{A9A196F5-6B36-4383-8673-79FD78D314F7}"/>
                  </a:ext>
                </a:extLst>
              </p:cNvPr>
              <p:cNvSpPr txBox="1">
                <a:spLocks noRot="1" noChangeAspect="1" noMove="1" noResize="1" noEditPoints="1" noAdjustHandles="1" noChangeArrowheads="1" noChangeShapeType="1" noTextEdit="1"/>
              </p:cNvSpPr>
              <p:nvPr userDrawn="1"/>
            </p:nvSpPr>
            <p:spPr>
              <a:xfrm>
                <a:off x="9546869" y="4730760"/>
                <a:ext cx="790794" cy="387863"/>
              </a:xfrm>
              <a:prstGeom prst="rect">
                <a:avLst/>
              </a:prstGeom>
              <a:blipFill>
                <a:blip r:embed="rId6"/>
                <a:stretch>
                  <a:fillRect/>
                </a:stretch>
              </a:blipFill>
            </p:spPr>
            <p:txBody>
              <a:bodyPr/>
              <a:lstStyle/>
              <a:p>
                <a:r>
                  <a:rPr lang="en-US">
                    <a:noFill/>
                  </a:rPr>
                  <a:t> </a:t>
                </a:r>
              </a:p>
            </p:txBody>
          </p:sp>
        </mc:Fallback>
      </mc:AlternateContent>
      <p:cxnSp>
        <p:nvCxnSpPr>
          <p:cNvPr id="69" name="Straight Arrow Connector 68">
            <a:extLst>
              <a:ext uri="{FF2B5EF4-FFF2-40B4-BE49-F238E27FC236}">
                <a16:creationId xmlns:a16="http://schemas.microsoft.com/office/drawing/2014/main" id="{0A63023D-084B-4821-BA46-4018EBFDDB87}"/>
              </a:ext>
            </a:extLst>
          </p:cNvPr>
          <p:cNvCxnSpPr>
            <a:cxnSpLocks/>
            <a:endCxn id="8" idx="1"/>
          </p:cNvCxnSpPr>
          <p:nvPr userDrawn="1"/>
        </p:nvCxnSpPr>
        <p:spPr bwMode="auto">
          <a:xfrm>
            <a:off x="7041994" y="3599060"/>
            <a:ext cx="1045759" cy="1"/>
          </a:xfrm>
          <a:prstGeom prst="straightConnector1">
            <a:avLst/>
          </a:prstGeom>
          <a:noFill/>
          <a:ln w="25400" cap="flat" cmpd="sng" algn="ctr">
            <a:solidFill>
              <a:schemeClr val="accent1"/>
            </a:solidFill>
            <a:prstDash val="solid"/>
            <a:round/>
            <a:headEnd type="none" w="med" len="med"/>
            <a:tailEnd type="triangle"/>
          </a:ln>
          <a:effectLst/>
        </p:spPr>
      </p:cxnSp>
      <p:sp>
        <p:nvSpPr>
          <p:cNvPr id="86" name="Rectangle: Rounded Corners 85">
            <a:extLst>
              <a:ext uri="{FF2B5EF4-FFF2-40B4-BE49-F238E27FC236}">
                <a16:creationId xmlns:a16="http://schemas.microsoft.com/office/drawing/2014/main" id="{B9E57B23-65B2-44A3-903B-4DAA4109E93A}"/>
              </a:ext>
            </a:extLst>
          </p:cNvPr>
          <p:cNvSpPr/>
          <p:nvPr userDrawn="1"/>
        </p:nvSpPr>
        <p:spPr bwMode="auto">
          <a:xfrm>
            <a:off x="4099073" y="2865272"/>
            <a:ext cx="2942921" cy="2392519"/>
          </a:xfrm>
          <a:prstGeom prst="roundRect">
            <a:avLst/>
          </a:prstGeom>
          <a:solidFill>
            <a:schemeClr val="accent2"/>
          </a:solidFill>
          <a:ln w="19050" cap="flat" cmpd="sng" algn="ctr">
            <a:solidFill>
              <a:schemeClr val="accent1"/>
            </a:solidFill>
            <a:prstDash val="sys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3200" b="0" i="0" u="none" strike="noStrike" cap="none" normalizeH="0" baseline="0">
                <a:ln>
                  <a:noFill/>
                </a:ln>
                <a:solidFill>
                  <a:schemeClr val="bg1"/>
                </a:solidFill>
                <a:effectLst/>
                <a:latin typeface="Arial Narrow" pitchFamily="34" charset="0"/>
              </a:rPr>
              <a:t>Some kind of admittance control algorithm</a:t>
            </a:r>
          </a:p>
        </p:txBody>
      </p:sp>
    </p:spTree>
    <p:extLst>
      <p:ext uri="{BB962C8B-B14F-4D97-AF65-F5344CB8AC3E}">
        <p14:creationId xmlns:p14="http://schemas.microsoft.com/office/powerpoint/2010/main" val="264873790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14" name="Title 13"/>
          <p:cNvSpPr>
            <a:spLocks noGrp="1"/>
          </p:cNvSpPr>
          <p:nvPr>
            <p:ph type="title"/>
          </p:nvPr>
        </p:nvSpPr>
        <p:spPr/>
        <p:txBody>
          <a:bodyPr/>
          <a:lstStyle>
            <a:lvl1pPr>
              <a:defRPr sz="2400">
                <a:latin typeface="Arial" panose="020B0604020202020204" pitchFamily="34" charset="0"/>
                <a:cs typeface="Arial" panose="020B0604020202020204" pitchFamily="34" charset="0"/>
              </a:defRPr>
            </a:lvl1pPr>
          </a:lstStyle>
          <a:p>
            <a:r>
              <a:rPr lang="en-US"/>
              <a:t>Click to edit Master title style</a:t>
            </a:r>
          </a:p>
        </p:txBody>
      </p:sp>
      <p:sp>
        <p:nvSpPr>
          <p:cNvPr id="6" name="Slide Number Placeholder 4"/>
          <p:cNvSpPr>
            <a:spLocks noGrp="1"/>
          </p:cNvSpPr>
          <p:nvPr>
            <p:ph type="sldNum" sz="quarter" idx="12"/>
          </p:nvPr>
        </p:nvSpPr>
        <p:spPr>
          <a:xfrm>
            <a:off x="11335539" y="6570664"/>
            <a:ext cx="856461" cy="287337"/>
          </a:xfrm>
        </p:spPr>
        <p:txBody>
          <a:bodyPr/>
          <a:lstStyle>
            <a:lvl1pPr>
              <a:defRPr>
                <a:latin typeface="+mn-lt"/>
              </a:defRPr>
            </a:lvl1pPr>
          </a:lstStyle>
          <a:p>
            <a:pPr>
              <a:defRPr/>
            </a:pPr>
            <a:fld id="{0B0D5911-593C-4B7A-998F-6DBC76EF3BD7}" type="slidenum">
              <a:rPr lang="en-US" smtClean="0">
                <a:solidFill>
                  <a:prstClr val="black">
                    <a:tint val="75000"/>
                  </a:prstClr>
                </a:solidFill>
              </a:rPr>
              <a:pPr>
                <a:defRPr/>
              </a:pPr>
              <a:t>‹#›</a:t>
            </a:fld>
            <a:endParaRPr lang="en-US">
              <a:solidFill>
                <a:prstClr val="black">
                  <a:tint val="75000"/>
                </a:prstClr>
              </a:solidFill>
            </a:endParaRPr>
          </a:p>
        </p:txBody>
      </p:sp>
      <p:sp>
        <p:nvSpPr>
          <p:cNvPr id="7" name="Footer Placeholder 4"/>
          <p:cNvSpPr>
            <a:spLocks noGrp="1"/>
          </p:cNvSpPr>
          <p:nvPr>
            <p:ph type="ftr" sz="quarter" idx="11"/>
          </p:nvPr>
        </p:nvSpPr>
        <p:spPr>
          <a:xfrm>
            <a:off x="435996" y="6493821"/>
            <a:ext cx="11084637" cy="281544"/>
          </a:xfrm>
          <a:prstGeom prst="rect">
            <a:avLst/>
          </a:prstGeom>
        </p:spPr>
        <p:txBody>
          <a:bodyPr/>
          <a:lstStyle>
            <a:lvl1pPr algn="ctr">
              <a:defRPr sz="1000">
                <a:solidFill>
                  <a:schemeClr val="tx1"/>
                </a:solidFill>
              </a:defRPr>
            </a:lvl1pPr>
          </a:lstStyle>
          <a:p>
            <a:pPr fontAlgn="base">
              <a:spcBef>
                <a:spcPct val="0"/>
              </a:spcBef>
              <a:spcAft>
                <a:spcPct val="0"/>
              </a:spcAft>
              <a:defRPr/>
            </a:pPr>
            <a:endParaRPr lang="en-US"/>
          </a:p>
        </p:txBody>
      </p:sp>
      <p:sp>
        <p:nvSpPr>
          <p:cNvPr id="4" name="Rectangle: Rounded Corners 3">
            <a:extLst>
              <a:ext uri="{FF2B5EF4-FFF2-40B4-BE49-F238E27FC236}">
                <a16:creationId xmlns:a16="http://schemas.microsoft.com/office/drawing/2014/main" id="{25DD28F5-3A95-4B80-95AE-549F4AD280AE}"/>
              </a:ext>
            </a:extLst>
          </p:cNvPr>
          <p:cNvSpPr/>
          <p:nvPr userDrawn="1"/>
        </p:nvSpPr>
        <p:spPr bwMode="auto">
          <a:xfrm>
            <a:off x="10537903" y="3321794"/>
            <a:ext cx="1248937" cy="596591"/>
          </a:xfrm>
          <a:prstGeom prst="roundRect">
            <a:avLst/>
          </a:prstGeom>
          <a:solidFill>
            <a:schemeClr val="accent2"/>
          </a:solidFill>
          <a:ln w="19050"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a:ln>
                  <a:noFill/>
                </a:ln>
                <a:solidFill>
                  <a:schemeClr val="bg1"/>
                </a:solidFill>
                <a:effectLst/>
                <a:latin typeface="Arial Narrow" pitchFamily="34" charset="0"/>
              </a:rPr>
              <a:t>STA &amp; OS/Tube Plant</a:t>
            </a:r>
          </a:p>
        </p:txBody>
      </p:sp>
      <p:sp>
        <p:nvSpPr>
          <p:cNvPr id="8" name="Rectangle: Rounded Corners 7">
            <a:extLst>
              <a:ext uri="{FF2B5EF4-FFF2-40B4-BE49-F238E27FC236}">
                <a16:creationId xmlns:a16="http://schemas.microsoft.com/office/drawing/2014/main" id="{5309F429-F383-4008-9003-A15B9AAA0782}"/>
              </a:ext>
            </a:extLst>
          </p:cNvPr>
          <p:cNvSpPr/>
          <p:nvPr userDrawn="1"/>
        </p:nvSpPr>
        <p:spPr bwMode="auto">
          <a:xfrm>
            <a:off x="8082177" y="3321794"/>
            <a:ext cx="1248937" cy="596591"/>
          </a:xfrm>
          <a:prstGeom prst="roundRect">
            <a:avLst/>
          </a:prstGeom>
          <a:solidFill>
            <a:schemeClr val="accent2"/>
          </a:solidFill>
          <a:ln w="19050"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a:ln>
                  <a:noFill/>
                </a:ln>
                <a:solidFill>
                  <a:schemeClr val="bg1"/>
                </a:solidFill>
                <a:effectLst/>
                <a:latin typeface="Arial Narrow" pitchFamily="34" charset="0"/>
              </a:rPr>
              <a:t>Forward Kinematics</a:t>
            </a:r>
          </a:p>
        </p:txBody>
      </p:sp>
      <p:cxnSp>
        <p:nvCxnSpPr>
          <p:cNvPr id="9" name="Straight Arrow Connector 8">
            <a:extLst>
              <a:ext uri="{FF2B5EF4-FFF2-40B4-BE49-F238E27FC236}">
                <a16:creationId xmlns:a16="http://schemas.microsoft.com/office/drawing/2014/main" id="{8EDCC30C-3410-43DB-9074-A2242B19140B}"/>
              </a:ext>
            </a:extLst>
          </p:cNvPr>
          <p:cNvCxnSpPr>
            <a:cxnSpLocks/>
            <a:stCxn id="8" idx="3"/>
            <a:endCxn id="4" idx="1"/>
          </p:cNvCxnSpPr>
          <p:nvPr userDrawn="1"/>
        </p:nvCxnSpPr>
        <p:spPr bwMode="auto">
          <a:xfrm>
            <a:off x="9331114" y="3620090"/>
            <a:ext cx="1206789" cy="0"/>
          </a:xfrm>
          <a:prstGeom prst="straightConnector1">
            <a:avLst/>
          </a:prstGeom>
          <a:noFill/>
          <a:ln w="25400" cap="flat" cmpd="sng" algn="ctr">
            <a:solidFill>
              <a:schemeClr val="accent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4436421-59B3-4846-B2A8-23A2F1F65228}"/>
                  </a:ext>
                </a:extLst>
              </p:cNvPr>
              <p:cNvSpPr txBox="1"/>
              <p:nvPr userDrawn="1"/>
            </p:nvSpPr>
            <p:spPr>
              <a:xfrm>
                <a:off x="9678918" y="3250757"/>
                <a:ext cx="49757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𝛿𝜃</m:t>
                      </m:r>
                    </m:oMath>
                  </m:oMathPara>
                </a14:m>
                <a:endParaRPr lang="en-US"/>
              </a:p>
            </p:txBody>
          </p:sp>
        </mc:Choice>
        <mc:Fallback xmlns="">
          <p:sp>
            <p:nvSpPr>
              <p:cNvPr id="10" name="TextBox 9">
                <a:extLst>
                  <a:ext uri="{FF2B5EF4-FFF2-40B4-BE49-F238E27FC236}">
                    <a16:creationId xmlns:a16="http://schemas.microsoft.com/office/drawing/2014/main" id="{D4436421-59B3-4846-B2A8-23A2F1F65228}"/>
                  </a:ext>
                </a:extLst>
              </p:cNvPr>
              <p:cNvSpPr txBox="1">
                <a:spLocks noRot="1" noChangeAspect="1" noMove="1" noResize="1" noEditPoints="1" noAdjustHandles="1" noChangeArrowheads="1" noChangeShapeType="1" noTextEdit="1"/>
              </p:cNvSpPr>
              <p:nvPr userDrawn="1"/>
            </p:nvSpPr>
            <p:spPr>
              <a:xfrm>
                <a:off x="9678918" y="3250757"/>
                <a:ext cx="497572" cy="369332"/>
              </a:xfrm>
              <a:prstGeom prst="rect">
                <a:avLst/>
              </a:prstGeom>
              <a:blipFill>
                <a:blip r:embed="rId2"/>
                <a:stretch>
                  <a:fillRect/>
                </a:stretch>
              </a:blipFill>
            </p:spPr>
            <p:txBody>
              <a:bodyPr/>
              <a:lstStyle/>
              <a:p>
                <a:r>
                  <a:rPr lang="en-US">
                    <a:noFill/>
                  </a:rPr>
                  <a:t> </a:t>
                </a:r>
              </a:p>
            </p:txBody>
          </p:sp>
        </mc:Fallback>
      </mc:AlternateContent>
      <p:sp>
        <p:nvSpPr>
          <p:cNvPr id="12" name="Rectangle: Rounded Corners 11">
            <a:extLst>
              <a:ext uri="{FF2B5EF4-FFF2-40B4-BE49-F238E27FC236}">
                <a16:creationId xmlns:a16="http://schemas.microsoft.com/office/drawing/2014/main" id="{0927BC2C-1FC0-4237-8023-E0C4529FD65D}"/>
              </a:ext>
            </a:extLst>
          </p:cNvPr>
          <p:cNvSpPr/>
          <p:nvPr userDrawn="1"/>
        </p:nvSpPr>
        <p:spPr bwMode="auto">
          <a:xfrm>
            <a:off x="8082176" y="2011205"/>
            <a:ext cx="1248937" cy="596591"/>
          </a:xfrm>
          <a:prstGeom prst="roundRect">
            <a:avLst/>
          </a:prstGeom>
          <a:solidFill>
            <a:schemeClr val="accent2"/>
          </a:solidFill>
          <a:ln w="19050"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a:ln>
                  <a:noFill/>
                </a:ln>
                <a:solidFill>
                  <a:schemeClr val="bg1"/>
                </a:solidFill>
                <a:effectLst/>
                <a:latin typeface="Arial Narrow" pitchFamily="34" charset="0"/>
              </a:rPr>
              <a:t>Kinematics Calculation</a:t>
            </a:r>
          </a:p>
        </p:txBody>
      </p:sp>
      <p:cxnSp>
        <p:nvCxnSpPr>
          <p:cNvPr id="13" name="Straight Arrow Connector 12">
            <a:extLst>
              <a:ext uri="{FF2B5EF4-FFF2-40B4-BE49-F238E27FC236}">
                <a16:creationId xmlns:a16="http://schemas.microsoft.com/office/drawing/2014/main" id="{38CED2F4-EC9E-4D77-9237-05672C7F1681}"/>
              </a:ext>
            </a:extLst>
          </p:cNvPr>
          <p:cNvCxnSpPr>
            <a:cxnSpLocks/>
            <a:stCxn id="12" idx="2"/>
            <a:endCxn id="8" idx="0"/>
          </p:cNvCxnSpPr>
          <p:nvPr userDrawn="1"/>
        </p:nvCxnSpPr>
        <p:spPr bwMode="auto">
          <a:xfrm>
            <a:off x="8706645" y="2607796"/>
            <a:ext cx="1" cy="713998"/>
          </a:xfrm>
          <a:prstGeom prst="straightConnector1">
            <a:avLst/>
          </a:prstGeom>
          <a:noFill/>
          <a:ln w="25400" cap="flat" cmpd="sng" algn="ctr">
            <a:solidFill>
              <a:schemeClr val="accent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49CCED0-91FF-4DCB-8EE1-075B6D1532C6}"/>
                  </a:ext>
                </a:extLst>
              </p:cNvPr>
              <p:cNvSpPr txBox="1"/>
              <p:nvPr userDrawn="1"/>
            </p:nvSpPr>
            <p:spPr>
              <a:xfrm>
                <a:off x="8779573" y="2722685"/>
                <a:ext cx="49699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𝐽</m:t>
                          </m:r>
                        </m:e>
                        <m:sub>
                          <m:r>
                            <a:rPr lang="en-US" b="0" i="1" smtClean="0">
                              <a:latin typeface="Cambria Math" panose="02040503050406030204" pitchFamily="18" charset="0"/>
                            </a:rPr>
                            <m:t>𝑐𝑐</m:t>
                          </m:r>
                        </m:sub>
                      </m:sSub>
                    </m:oMath>
                  </m:oMathPara>
                </a14:m>
                <a:endParaRPr lang="en-US"/>
              </a:p>
            </p:txBody>
          </p:sp>
        </mc:Choice>
        <mc:Fallback xmlns="">
          <p:sp>
            <p:nvSpPr>
              <p:cNvPr id="19" name="TextBox 18">
                <a:extLst>
                  <a:ext uri="{FF2B5EF4-FFF2-40B4-BE49-F238E27FC236}">
                    <a16:creationId xmlns:a16="http://schemas.microsoft.com/office/drawing/2014/main" id="{849CCED0-91FF-4DCB-8EE1-075B6D1532C6}"/>
                  </a:ext>
                </a:extLst>
              </p:cNvPr>
              <p:cNvSpPr txBox="1">
                <a:spLocks noRot="1" noChangeAspect="1" noMove="1" noResize="1" noEditPoints="1" noAdjustHandles="1" noChangeArrowheads="1" noChangeShapeType="1" noTextEdit="1"/>
              </p:cNvSpPr>
              <p:nvPr userDrawn="1"/>
            </p:nvSpPr>
            <p:spPr>
              <a:xfrm>
                <a:off x="8779573" y="2722685"/>
                <a:ext cx="496996" cy="369332"/>
              </a:xfrm>
              <a:prstGeom prst="rect">
                <a:avLst/>
              </a:prstGeom>
              <a:blipFill>
                <a:blip r:embed="rId3"/>
                <a:stretch>
                  <a:fillRect b="-10000"/>
                </a:stretch>
              </a:blipFill>
            </p:spPr>
            <p:txBody>
              <a:bodyPr/>
              <a:lstStyle/>
              <a:p>
                <a:r>
                  <a:rPr lang="en-US">
                    <a:noFill/>
                  </a:rPr>
                  <a:t> </a:t>
                </a:r>
              </a:p>
            </p:txBody>
          </p:sp>
        </mc:Fallback>
      </mc:AlternateContent>
      <p:cxnSp>
        <p:nvCxnSpPr>
          <p:cNvPr id="23" name="Connector: Elbow 22">
            <a:extLst>
              <a:ext uri="{FF2B5EF4-FFF2-40B4-BE49-F238E27FC236}">
                <a16:creationId xmlns:a16="http://schemas.microsoft.com/office/drawing/2014/main" id="{1012CB23-8E93-45E6-B8C3-B449DD46FEE5}"/>
              </a:ext>
            </a:extLst>
          </p:cNvPr>
          <p:cNvCxnSpPr>
            <a:stCxn id="4" idx="0"/>
            <a:endCxn id="12" idx="3"/>
          </p:cNvCxnSpPr>
          <p:nvPr userDrawn="1"/>
        </p:nvCxnSpPr>
        <p:spPr bwMode="auto">
          <a:xfrm rot="16200000" flipV="1">
            <a:off x="9740597" y="1900018"/>
            <a:ext cx="1012293" cy="1831259"/>
          </a:xfrm>
          <a:prstGeom prst="bentConnector2">
            <a:avLst/>
          </a:prstGeom>
          <a:noFill/>
          <a:ln w="25400" cap="flat" cmpd="sng" algn="ctr">
            <a:solidFill>
              <a:schemeClr val="accent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7DD36D59-44A8-4035-A875-A7D9D5099897}"/>
                  </a:ext>
                </a:extLst>
              </p:cNvPr>
              <p:cNvSpPr txBox="1"/>
              <p:nvPr userDrawn="1"/>
            </p:nvSpPr>
            <p:spPr>
              <a:xfrm>
                <a:off x="11186004" y="2538019"/>
                <a:ext cx="37414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𝜃</m:t>
                      </m:r>
                    </m:oMath>
                  </m:oMathPara>
                </a14:m>
                <a:endParaRPr lang="en-US"/>
              </a:p>
            </p:txBody>
          </p:sp>
        </mc:Choice>
        <mc:Fallback xmlns="">
          <p:sp>
            <p:nvSpPr>
              <p:cNvPr id="24" name="TextBox 23">
                <a:extLst>
                  <a:ext uri="{FF2B5EF4-FFF2-40B4-BE49-F238E27FC236}">
                    <a16:creationId xmlns:a16="http://schemas.microsoft.com/office/drawing/2014/main" id="{7DD36D59-44A8-4035-A875-A7D9D5099897}"/>
                  </a:ext>
                </a:extLst>
              </p:cNvPr>
              <p:cNvSpPr txBox="1">
                <a:spLocks noRot="1" noChangeAspect="1" noMove="1" noResize="1" noEditPoints="1" noAdjustHandles="1" noChangeArrowheads="1" noChangeShapeType="1" noTextEdit="1"/>
              </p:cNvSpPr>
              <p:nvPr userDrawn="1"/>
            </p:nvSpPr>
            <p:spPr>
              <a:xfrm>
                <a:off x="11186004" y="2538019"/>
                <a:ext cx="374141" cy="369332"/>
              </a:xfrm>
              <a:prstGeom prst="rect">
                <a:avLst/>
              </a:prstGeom>
              <a:blipFill>
                <a:blip r:embed="rId4"/>
                <a:stretch>
                  <a:fillRect/>
                </a:stretch>
              </a:blipFill>
            </p:spPr>
            <p:txBody>
              <a:bodyPr/>
              <a:lstStyle/>
              <a:p>
                <a:r>
                  <a:rPr lang="en-US">
                    <a:noFill/>
                  </a:rPr>
                  <a:t> </a:t>
                </a:r>
              </a:p>
            </p:txBody>
          </p:sp>
        </mc:Fallback>
      </mc:AlternateContent>
      <p:cxnSp>
        <p:nvCxnSpPr>
          <p:cNvPr id="25" name="Connector: Elbow 24">
            <a:extLst>
              <a:ext uri="{FF2B5EF4-FFF2-40B4-BE49-F238E27FC236}">
                <a16:creationId xmlns:a16="http://schemas.microsoft.com/office/drawing/2014/main" id="{F1AF65D9-7FBE-43DA-BC19-8C719EB376DD}"/>
              </a:ext>
            </a:extLst>
          </p:cNvPr>
          <p:cNvCxnSpPr>
            <a:cxnSpLocks/>
            <a:stCxn id="4" idx="2"/>
            <a:endCxn id="56" idx="6"/>
          </p:cNvCxnSpPr>
          <p:nvPr userDrawn="1"/>
        </p:nvCxnSpPr>
        <p:spPr bwMode="auto">
          <a:xfrm rot="5400000">
            <a:off x="9675010" y="3204799"/>
            <a:ext cx="773776" cy="2200949"/>
          </a:xfrm>
          <a:prstGeom prst="bentConnector2">
            <a:avLst/>
          </a:prstGeom>
          <a:noFill/>
          <a:ln w="25400" cap="flat" cmpd="sng" algn="ctr">
            <a:solidFill>
              <a:schemeClr val="accent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241DEF81-E86C-472A-ABEC-D0CF73A4210E}"/>
                  </a:ext>
                </a:extLst>
              </p:cNvPr>
              <p:cNvSpPr txBox="1"/>
              <p:nvPr userDrawn="1"/>
            </p:nvSpPr>
            <p:spPr>
              <a:xfrm>
                <a:off x="7438672" y="3184597"/>
                <a:ext cx="66114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𝛿</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𝑐𝑐</m:t>
                          </m:r>
                        </m:sub>
                      </m:sSub>
                    </m:oMath>
                  </m:oMathPara>
                </a14:m>
                <a:endParaRPr lang="en-US"/>
              </a:p>
            </p:txBody>
          </p:sp>
        </mc:Choice>
        <mc:Fallback xmlns="">
          <p:sp>
            <p:nvSpPr>
              <p:cNvPr id="31" name="TextBox 30">
                <a:extLst>
                  <a:ext uri="{FF2B5EF4-FFF2-40B4-BE49-F238E27FC236}">
                    <a16:creationId xmlns:a16="http://schemas.microsoft.com/office/drawing/2014/main" id="{241DEF81-E86C-472A-ABEC-D0CF73A4210E}"/>
                  </a:ext>
                </a:extLst>
              </p:cNvPr>
              <p:cNvSpPr txBox="1">
                <a:spLocks noRot="1" noChangeAspect="1" noMove="1" noResize="1" noEditPoints="1" noAdjustHandles="1" noChangeArrowheads="1" noChangeShapeType="1" noTextEdit="1"/>
              </p:cNvSpPr>
              <p:nvPr userDrawn="1"/>
            </p:nvSpPr>
            <p:spPr>
              <a:xfrm>
                <a:off x="7438672" y="3184597"/>
                <a:ext cx="661143"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A9A196F5-6B36-4383-8673-79FD78D314F7}"/>
                  </a:ext>
                </a:extLst>
              </p:cNvPr>
              <p:cNvSpPr txBox="1"/>
              <p:nvPr userDrawn="1"/>
            </p:nvSpPr>
            <p:spPr>
              <a:xfrm>
                <a:off x="9541293" y="4751789"/>
                <a:ext cx="790794" cy="38786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𝑊</m:t>
                          </m:r>
                        </m:e>
                        <m:sub>
                          <m:r>
                            <a:rPr lang="en-US" b="0" i="1" smtClean="0">
                              <a:latin typeface="Cambria Math" panose="02040503050406030204" pitchFamily="18" charset="0"/>
                            </a:rPr>
                            <m:t>𝑐𝑐</m:t>
                          </m:r>
                        </m:sub>
                        <m:sup>
                          <m:r>
                            <a:rPr lang="en-US" b="0" i="1" smtClean="0">
                              <a:latin typeface="Cambria Math" panose="02040503050406030204" pitchFamily="18" charset="0"/>
                            </a:rPr>
                            <m:t>𝑙𝑖𝑣𝑒</m:t>
                          </m:r>
                        </m:sup>
                      </m:sSubSup>
                    </m:oMath>
                  </m:oMathPara>
                </a14:m>
                <a:endParaRPr lang="en-US"/>
              </a:p>
            </p:txBody>
          </p:sp>
        </mc:Choice>
        <mc:Fallback xmlns="">
          <p:sp>
            <p:nvSpPr>
              <p:cNvPr id="32" name="TextBox 31">
                <a:extLst>
                  <a:ext uri="{FF2B5EF4-FFF2-40B4-BE49-F238E27FC236}">
                    <a16:creationId xmlns:a16="http://schemas.microsoft.com/office/drawing/2014/main" id="{A9A196F5-6B36-4383-8673-79FD78D314F7}"/>
                  </a:ext>
                </a:extLst>
              </p:cNvPr>
              <p:cNvSpPr txBox="1">
                <a:spLocks noRot="1" noChangeAspect="1" noMove="1" noResize="1" noEditPoints="1" noAdjustHandles="1" noChangeArrowheads="1" noChangeShapeType="1" noTextEdit="1"/>
              </p:cNvSpPr>
              <p:nvPr userDrawn="1"/>
            </p:nvSpPr>
            <p:spPr>
              <a:xfrm>
                <a:off x="9541293" y="4751789"/>
                <a:ext cx="790794" cy="387863"/>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B616AD2C-4774-468D-9B26-5E9134881390}"/>
                  </a:ext>
                </a:extLst>
              </p:cNvPr>
              <p:cNvSpPr txBox="1"/>
              <p:nvPr userDrawn="1"/>
            </p:nvSpPr>
            <p:spPr>
              <a:xfrm>
                <a:off x="7129293" y="4821325"/>
                <a:ext cx="759759" cy="3746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𝑊</m:t>
                          </m:r>
                        </m:e>
                        <m:sub>
                          <m:r>
                            <a:rPr lang="en-US" b="0" i="1" smtClean="0">
                              <a:latin typeface="Cambria Math" panose="02040503050406030204" pitchFamily="18" charset="0"/>
                            </a:rPr>
                            <m:t>𝑐𝑐</m:t>
                          </m:r>
                        </m:sub>
                        <m:sup>
                          <m:r>
                            <a:rPr lang="en-US" b="0" i="1" smtClean="0">
                              <a:latin typeface="Cambria Math" panose="02040503050406030204" pitchFamily="18" charset="0"/>
                            </a:rPr>
                            <m:t>𝑛𝑒𝑡</m:t>
                          </m:r>
                        </m:sup>
                      </m:sSubSup>
                    </m:oMath>
                  </m:oMathPara>
                </a14:m>
                <a:endParaRPr lang="en-US"/>
              </a:p>
            </p:txBody>
          </p:sp>
        </mc:Choice>
        <mc:Fallback xmlns="">
          <p:sp>
            <p:nvSpPr>
              <p:cNvPr id="41" name="TextBox 40">
                <a:extLst>
                  <a:ext uri="{FF2B5EF4-FFF2-40B4-BE49-F238E27FC236}">
                    <a16:creationId xmlns:a16="http://schemas.microsoft.com/office/drawing/2014/main" id="{B616AD2C-4774-468D-9B26-5E9134881390}"/>
                  </a:ext>
                </a:extLst>
              </p:cNvPr>
              <p:cNvSpPr txBox="1">
                <a:spLocks noRot="1" noChangeAspect="1" noMove="1" noResize="1" noEditPoints="1" noAdjustHandles="1" noChangeArrowheads="1" noChangeShapeType="1" noTextEdit="1"/>
              </p:cNvSpPr>
              <p:nvPr userDrawn="1"/>
            </p:nvSpPr>
            <p:spPr>
              <a:xfrm>
                <a:off x="7129293" y="4821325"/>
                <a:ext cx="759759" cy="374654"/>
              </a:xfrm>
              <a:prstGeom prst="rect">
                <a:avLst/>
              </a:prstGeom>
              <a:blipFill>
                <a:blip r:embed="rId7"/>
                <a:stretch>
                  <a:fillRect/>
                </a:stretch>
              </a:blipFill>
            </p:spPr>
            <p:txBody>
              <a:bodyPr/>
              <a:lstStyle/>
              <a:p>
                <a:r>
                  <a:rPr lang="en-US">
                    <a:noFill/>
                  </a:rPr>
                  <a:t> </a:t>
                </a:r>
              </a:p>
            </p:txBody>
          </p:sp>
        </mc:Fallback>
      </mc:AlternateContent>
      <p:cxnSp>
        <p:nvCxnSpPr>
          <p:cNvPr id="47" name="Connector: Elbow 46">
            <a:extLst>
              <a:ext uri="{FF2B5EF4-FFF2-40B4-BE49-F238E27FC236}">
                <a16:creationId xmlns:a16="http://schemas.microsoft.com/office/drawing/2014/main" id="{47FEDE0B-30BD-4151-A8D5-6D857F24C3E0}"/>
              </a:ext>
            </a:extLst>
          </p:cNvPr>
          <p:cNvCxnSpPr>
            <a:cxnSpLocks/>
            <a:stCxn id="56" idx="2"/>
            <a:endCxn id="33" idx="4"/>
          </p:cNvCxnSpPr>
          <p:nvPr userDrawn="1"/>
        </p:nvCxnSpPr>
        <p:spPr bwMode="auto">
          <a:xfrm rot="10800000">
            <a:off x="5777763" y="3858607"/>
            <a:ext cx="2646985" cy="833554"/>
          </a:xfrm>
          <a:prstGeom prst="bentConnector2">
            <a:avLst/>
          </a:prstGeom>
          <a:noFill/>
          <a:ln w="25400" cap="flat" cmpd="sng" algn="ctr">
            <a:solidFill>
              <a:schemeClr val="accent1"/>
            </a:solidFill>
            <a:prstDash val="solid"/>
            <a:round/>
            <a:headEnd type="none" w="med" len="med"/>
            <a:tailEnd type="triangle"/>
          </a:ln>
          <a:effectLst/>
        </p:spPr>
      </p:cxnSp>
      <p:sp>
        <p:nvSpPr>
          <p:cNvPr id="56" name="Oval 55">
            <a:extLst>
              <a:ext uri="{FF2B5EF4-FFF2-40B4-BE49-F238E27FC236}">
                <a16:creationId xmlns:a16="http://schemas.microsoft.com/office/drawing/2014/main" id="{48B2DF49-8163-488A-8BB9-18248CBF2A97}"/>
              </a:ext>
            </a:extLst>
          </p:cNvPr>
          <p:cNvSpPr/>
          <p:nvPr userDrawn="1"/>
        </p:nvSpPr>
        <p:spPr bwMode="auto">
          <a:xfrm>
            <a:off x="8424747" y="4453643"/>
            <a:ext cx="536676" cy="477035"/>
          </a:xfrm>
          <a:prstGeom prst="ellipse">
            <a:avLst/>
          </a:prstGeom>
          <a:solidFill>
            <a:schemeClr val="accent2"/>
          </a:solidFill>
          <a:ln w="19050"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a:ln>
                <a:noFill/>
              </a:ln>
              <a:solidFill>
                <a:schemeClr val="bg1"/>
              </a:solidFill>
              <a:effectLst/>
              <a:latin typeface="Arial Narrow" pitchFamily="34" charset="0"/>
            </a:endParaRPr>
          </a:p>
        </p:txBody>
      </p:sp>
      <p:cxnSp>
        <p:nvCxnSpPr>
          <p:cNvPr id="59" name="Straight Arrow Connector 58">
            <a:extLst>
              <a:ext uri="{FF2B5EF4-FFF2-40B4-BE49-F238E27FC236}">
                <a16:creationId xmlns:a16="http://schemas.microsoft.com/office/drawing/2014/main" id="{DCFC64C8-FF5D-44B6-BD0D-B31A066A355F}"/>
              </a:ext>
            </a:extLst>
          </p:cNvPr>
          <p:cNvCxnSpPr>
            <a:cxnSpLocks/>
            <a:endCxn id="56" idx="4"/>
          </p:cNvCxnSpPr>
          <p:nvPr userDrawn="1"/>
        </p:nvCxnSpPr>
        <p:spPr bwMode="auto">
          <a:xfrm flipV="1">
            <a:off x="8693035" y="4930678"/>
            <a:ext cx="50" cy="403912"/>
          </a:xfrm>
          <a:prstGeom prst="straightConnector1">
            <a:avLst/>
          </a:prstGeom>
          <a:noFill/>
          <a:ln w="25400" cap="flat" cmpd="sng" algn="ctr">
            <a:solidFill>
              <a:schemeClr val="accent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B78AD65C-C1CB-44A2-999A-B4BFBF79E7BF}"/>
                  </a:ext>
                </a:extLst>
              </p:cNvPr>
              <p:cNvSpPr txBox="1"/>
              <p:nvPr userDrawn="1"/>
            </p:nvSpPr>
            <p:spPr>
              <a:xfrm>
                <a:off x="8399693" y="5407713"/>
                <a:ext cx="846899" cy="3746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𝑊</m:t>
                          </m:r>
                        </m:e>
                        <m:sub>
                          <m:r>
                            <a:rPr lang="en-US" b="0" i="1" smtClean="0">
                              <a:latin typeface="Cambria Math" panose="02040503050406030204" pitchFamily="18" charset="0"/>
                            </a:rPr>
                            <m:t>𝑐𝑐</m:t>
                          </m:r>
                        </m:sub>
                        <m:sup>
                          <m:r>
                            <a:rPr lang="en-US" b="0" i="1" smtClean="0">
                              <a:latin typeface="Cambria Math" panose="02040503050406030204" pitchFamily="18" charset="0"/>
                            </a:rPr>
                            <m:t>𝑡𝑎𝑟𝑒</m:t>
                          </m:r>
                        </m:sup>
                      </m:sSubSup>
                    </m:oMath>
                  </m:oMathPara>
                </a14:m>
                <a:endParaRPr lang="en-US"/>
              </a:p>
            </p:txBody>
          </p:sp>
        </mc:Choice>
        <mc:Fallback xmlns="">
          <p:sp>
            <p:nvSpPr>
              <p:cNvPr id="62" name="TextBox 61">
                <a:extLst>
                  <a:ext uri="{FF2B5EF4-FFF2-40B4-BE49-F238E27FC236}">
                    <a16:creationId xmlns:a16="http://schemas.microsoft.com/office/drawing/2014/main" id="{B78AD65C-C1CB-44A2-999A-B4BFBF79E7BF}"/>
                  </a:ext>
                </a:extLst>
              </p:cNvPr>
              <p:cNvSpPr txBox="1">
                <a:spLocks noRot="1" noChangeAspect="1" noMove="1" noResize="1" noEditPoints="1" noAdjustHandles="1" noChangeArrowheads="1" noChangeShapeType="1" noTextEdit="1"/>
              </p:cNvSpPr>
              <p:nvPr userDrawn="1"/>
            </p:nvSpPr>
            <p:spPr>
              <a:xfrm>
                <a:off x="8399693" y="5407713"/>
                <a:ext cx="846899" cy="374654"/>
              </a:xfrm>
              <a:prstGeom prst="rect">
                <a:avLst/>
              </a:prstGeom>
              <a:blipFill>
                <a:blip r:embed="rId8"/>
                <a:stretch>
                  <a:fillRect/>
                </a:stretch>
              </a:blipFill>
            </p:spPr>
            <p:txBody>
              <a:bodyPr/>
              <a:lstStyle/>
              <a:p>
                <a:r>
                  <a:rPr lang="en-US">
                    <a:noFill/>
                  </a:rPr>
                  <a:t> </a:t>
                </a:r>
              </a:p>
            </p:txBody>
          </p:sp>
        </mc:Fallback>
      </mc:AlternateContent>
      <p:sp>
        <p:nvSpPr>
          <p:cNvPr id="63" name="TextBox 62">
            <a:extLst>
              <a:ext uri="{FF2B5EF4-FFF2-40B4-BE49-F238E27FC236}">
                <a16:creationId xmlns:a16="http://schemas.microsoft.com/office/drawing/2014/main" id="{4AA113F6-F5FB-4C93-B278-6676CC5AE3B8}"/>
              </a:ext>
            </a:extLst>
          </p:cNvPr>
          <p:cNvSpPr txBox="1"/>
          <p:nvPr userDrawn="1"/>
        </p:nvSpPr>
        <p:spPr>
          <a:xfrm>
            <a:off x="8706644" y="4787581"/>
            <a:ext cx="279244" cy="461665"/>
          </a:xfrm>
          <a:prstGeom prst="rect">
            <a:avLst/>
          </a:prstGeom>
          <a:noFill/>
        </p:spPr>
        <p:txBody>
          <a:bodyPr wrap="none" rtlCol="0">
            <a:spAutoFit/>
          </a:bodyPr>
          <a:lstStyle/>
          <a:p>
            <a:r>
              <a:rPr lang="en-US" sz="2400" b="1">
                <a:solidFill>
                  <a:srgbClr val="873624"/>
                </a:solidFill>
              </a:rPr>
              <a:t>-</a:t>
            </a:r>
          </a:p>
        </p:txBody>
      </p:sp>
      <p:sp>
        <p:nvSpPr>
          <p:cNvPr id="64" name="TextBox 63">
            <a:extLst>
              <a:ext uri="{FF2B5EF4-FFF2-40B4-BE49-F238E27FC236}">
                <a16:creationId xmlns:a16="http://schemas.microsoft.com/office/drawing/2014/main" id="{C93280C4-B0E4-49B6-900E-D67473DDF333}"/>
              </a:ext>
            </a:extLst>
          </p:cNvPr>
          <p:cNvSpPr txBox="1"/>
          <p:nvPr userDrawn="1"/>
        </p:nvSpPr>
        <p:spPr>
          <a:xfrm>
            <a:off x="8921906" y="4277031"/>
            <a:ext cx="338554" cy="461665"/>
          </a:xfrm>
          <a:prstGeom prst="rect">
            <a:avLst/>
          </a:prstGeom>
          <a:noFill/>
        </p:spPr>
        <p:txBody>
          <a:bodyPr wrap="none" rtlCol="0">
            <a:spAutoFit/>
          </a:bodyPr>
          <a:lstStyle/>
          <a:p>
            <a:r>
              <a:rPr lang="en-US" sz="2400" b="1">
                <a:solidFill>
                  <a:srgbClr val="873624"/>
                </a:solidFill>
              </a:rPr>
              <a:t>+</a:t>
            </a:r>
          </a:p>
        </p:txBody>
      </p:sp>
      <p:cxnSp>
        <p:nvCxnSpPr>
          <p:cNvPr id="69" name="Straight Arrow Connector 68">
            <a:extLst>
              <a:ext uri="{FF2B5EF4-FFF2-40B4-BE49-F238E27FC236}">
                <a16:creationId xmlns:a16="http://schemas.microsoft.com/office/drawing/2014/main" id="{0A63023D-084B-4821-BA46-4018EBFDDB87}"/>
              </a:ext>
            </a:extLst>
          </p:cNvPr>
          <p:cNvCxnSpPr>
            <a:cxnSpLocks/>
            <a:stCxn id="34" idx="3"/>
            <a:endCxn id="8" idx="1"/>
          </p:cNvCxnSpPr>
          <p:nvPr userDrawn="1"/>
        </p:nvCxnSpPr>
        <p:spPr bwMode="auto">
          <a:xfrm>
            <a:off x="7438672" y="3620090"/>
            <a:ext cx="643505" cy="0"/>
          </a:xfrm>
          <a:prstGeom prst="straightConnector1">
            <a:avLst/>
          </a:prstGeom>
          <a:noFill/>
          <a:ln w="25400" cap="flat" cmpd="sng" algn="ctr">
            <a:solidFill>
              <a:schemeClr val="accent1"/>
            </a:solidFill>
            <a:prstDash val="solid"/>
            <a:round/>
            <a:headEnd type="none" w="med" len="med"/>
            <a:tailEnd type="triangle"/>
          </a:ln>
          <a:effectLst/>
        </p:spPr>
      </p:cxnSp>
      <p:sp>
        <p:nvSpPr>
          <p:cNvPr id="33" name="Oval 32">
            <a:extLst>
              <a:ext uri="{FF2B5EF4-FFF2-40B4-BE49-F238E27FC236}">
                <a16:creationId xmlns:a16="http://schemas.microsoft.com/office/drawing/2014/main" id="{105A66D1-9FAC-40FE-A732-254862C92887}"/>
              </a:ext>
            </a:extLst>
          </p:cNvPr>
          <p:cNvSpPr/>
          <p:nvPr userDrawn="1"/>
        </p:nvSpPr>
        <p:spPr bwMode="auto">
          <a:xfrm>
            <a:off x="5509424" y="3381572"/>
            <a:ext cx="536676" cy="477035"/>
          </a:xfrm>
          <a:prstGeom prst="ellipse">
            <a:avLst/>
          </a:prstGeom>
          <a:solidFill>
            <a:schemeClr val="accent2"/>
          </a:solidFill>
          <a:ln w="19050"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a:ln>
                <a:noFill/>
              </a:ln>
              <a:solidFill>
                <a:schemeClr val="bg1"/>
              </a:solidFill>
              <a:effectLst/>
              <a:latin typeface="Arial Narrow" pitchFamily="34" charset="0"/>
            </a:endParaRPr>
          </a:p>
        </p:txBody>
      </p:sp>
      <mc:AlternateContent xmlns:mc="http://schemas.openxmlformats.org/markup-compatibility/2006" xmlns:a14="http://schemas.microsoft.com/office/drawing/2010/main">
        <mc:Choice Requires="a14">
          <p:sp>
            <p:nvSpPr>
              <p:cNvPr id="34" name="Rectangle: Rounded Corners 33">
                <a:extLst>
                  <a:ext uri="{FF2B5EF4-FFF2-40B4-BE49-F238E27FC236}">
                    <a16:creationId xmlns:a16="http://schemas.microsoft.com/office/drawing/2014/main" id="{37869D8C-6E4B-450C-9BD8-81B520A4A02E}"/>
                  </a:ext>
                </a:extLst>
              </p:cNvPr>
              <p:cNvSpPr/>
              <p:nvPr userDrawn="1"/>
            </p:nvSpPr>
            <p:spPr bwMode="auto">
              <a:xfrm>
                <a:off x="6805844" y="3321794"/>
                <a:ext cx="632828" cy="596591"/>
              </a:xfrm>
              <a:prstGeom prst="roundRect">
                <a:avLst/>
              </a:prstGeom>
              <a:solidFill>
                <a:schemeClr val="accent2"/>
              </a:solidFill>
              <a:ln w="19050"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14:m>
                  <m:oMathPara xmlns:m="http://schemas.openxmlformats.org/officeDocument/2006/math">
                    <m:oMathParaPr>
                      <m:jc m:val="centerGroup"/>
                    </m:oMathParaPr>
                    <m:oMath xmlns:m="http://schemas.openxmlformats.org/officeDocument/2006/math">
                      <m:r>
                        <a:rPr kumimoji="0" lang="en-US" sz="1600" b="0" i="1" u="none" strike="noStrike" cap="none" normalizeH="0" baseline="0" smtClean="0">
                          <a:ln>
                            <a:noFill/>
                          </a:ln>
                          <a:solidFill>
                            <a:schemeClr val="bg1"/>
                          </a:solidFill>
                          <a:effectLst/>
                          <a:latin typeface="Cambria Math" panose="02040503050406030204" pitchFamily="18" charset="0"/>
                        </a:rPr>
                        <m:t>𝑃𝐼𝐷</m:t>
                      </m:r>
                    </m:oMath>
                  </m:oMathPara>
                </a14:m>
                <a:endParaRPr kumimoji="0" lang="en-US" sz="1600" b="0" i="0" u="none" strike="noStrike" cap="none" normalizeH="0" baseline="0">
                  <a:ln>
                    <a:noFill/>
                  </a:ln>
                  <a:solidFill>
                    <a:schemeClr val="bg1"/>
                  </a:solidFill>
                  <a:effectLst/>
                  <a:latin typeface="Arial Narrow" pitchFamily="34" charset="0"/>
                </a:endParaRPr>
              </a:p>
            </p:txBody>
          </p:sp>
        </mc:Choice>
        <mc:Fallback xmlns="">
          <p:sp>
            <p:nvSpPr>
              <p:cNvPr id="34" name="Rectangle: Rounded Corners 33">
                <a:extLst>
                  <a:ext uri="{FF2B5EF4-FFF2-40B4-BE49-F238E27FC236}">
                    <a16:creationId xmlns:a16="http://schemas.microsoft.com/office/drawing/2014/main" id="{37869D8C-6E4B-450C-9BD8-81B520A4A02E}"/>
                  </a:ext>
                </a:extLst>
              </p:cNvPr>
              <p:cNvSpPr>
                <a:spLocks noRot="1" noChangeAspect="1" noMove="1" noResize="1" noEditPoints="1" noAdjustHandles="1" noChangeArrowheads="1" noChangeShapeType="1" noTextEdit="1"/>
              </p:cNvSpPr>
              <p:nvPr userDrawn="1"/>
            </p:nvSpPr>
            <p:spPr bwMode="auto">
              <a:xfrm>
                <a:off x="6805844" y="3321794"/>
                <a:ext cx="632828" cy="596591"/>
              </a:xfrm>
              <a:prstGeom prst="roundRect">
                <a:avLst/>
              </a:prstGeom>
              <a:blipFill>
                <a:blip r:embed="rId9"/>
                <a:stretch>
                  <a:fillRect/>
                </a:stretch>
              </a:blipFill>
              <a:ln w="19050" cap="flat" cmpd="sng" algn="ctr">
                <a:solidFill>
                  <a:schemeClr val="accent1"/>
                </a:solidFill>
                <a:prstDash val="solid"/>
                <a:round/>
                <a:headEnd type="none" w="med" len="med"/>
                <a:tailEnd type="none" w="med" len="med"/>
              </a:ln>
              <a:effectLst/>
            </p:spPr>
            <p:txBody>
              <a:bodyPr/>
              <a:lstStyle/>
              <a:p>
                <a:r>
                  <a:rPr lang="en-US">
                    <a:noFill/>
                  </a:rPr>
                  <a:t> </a:t>
                </a:r>
              </a:p>
            </p:txBody>
          </p:sp>
        </mc:Fallback>
      </mc:AlternateContent>
      <p:cxnSp>
        <p:nvCxnSpPr>
          <p:cNvPr id="35" name="Straight Arrow Connector 34">
            <a:extLst>
              <a:ext uri="{FF2B5EF4-FFF2-40B4-BE49-F238E27FC236}">
                <a16:creationId xmlns:a16="http://schemas.microsoft.com/office/drawing/2014/main" id="{4A1A12B8-C965-428D-917B-3FED4DA251E7}"/>
              </a:ext>
            </a:extLst>
          </p:cNvPr>
          <p:cNvCxnSpPr>
            <a:cxnSpLocks/>
            <a:stCxn id="33" idx="6"/>
            <a:endCxn id="34" idx="1"/>
          </p:cNvCxnSpPr>
          <p:nvPr userDrawn="1"/>
        </p:nvCxnSpPr>
        <p:spPr bwMode="auto">
          <a:xfrm>
            <a:off x="6046100" y="3620090"/>
            <a:ext cx="759744" cy="0"/>
          </a:xfrm>
          <a:prstGeom prst="straightConnector1">
            <a:avLst/>
          </a:prstGeom>
          <a:noFill/>
          <a:ln w="25400" cap="flat" cmpd="sng" algn="ctr">
            <a:solidFill>
              <a:schemeClr val="accent1"/>
            </a:solidFill>
            <a:prstDash val="solid"/>
            <a:round/>
            <a:headEnd type="none" w="med" len="med"/>
            <a:tailEnd type="triangle"/>
          </a:ln>
          <a:effectLst/>
        </p:spPr>
      </p:cxnSp>
      <p:sp>
        <p:nvSpPr>
          <p:cNvPr id="39" name="TextBox 38">
            <a:extLst>
              <a:ext uri="{FF2B5EF4-FFF2-40B4-BE49-F238E27FC236}">
                <a16:creationId xmlns:a16="http://schemas.microsoft.com/office/drawing/2014/main" id="{B1E3BA89-6B73-43EF-BE79-60EF8219A617}"/>
              </a:ext>
            </a:extLst>
          </p:cNvPr>
          <p:cNvSpPr txBox="1"/>
          <p:nvPr userDrawn="1"/>
        </p:nvSpPr>
        <p:spPr>
          <a:xfrm>
            <a:off x="5791851" y="3775972"/>
            <a:ext cx="279244" cy="461665"/>
          </a:xfrm>
          <a:prstGeom prst="rect">
            <a:avLst/>
          </a:prstGeom>
          <a:noFill/>
        </p:spPr>
        <p:txBody>
          <a:bodyPr wrap="none" rtlCol="0">
            <a:spAutoFit/>
          </a:bodyPr>
          <a:lstStyle/>
          <a:p>
            <a:r>
              <a:rPr lang="en-US" sz="2400" b="1">
                <a:solidFill>
                  <a:srgbClr val="873624"/>
                </a:solidFill>
              </a:rPr>
              <a:t>-</a:t>
            </a:r>
          </a:p>
        </p:txBody>
      </p:sp>
      <p:cxnSp>
        <p:nvCxnSpPr>
          <p:cNvPr id="40" name="Straight Arrow Connector 39">
            <a:extLst>
              <a:ext uri="{FF2B5EF4-FFF2-40B4-BE49-F238E27FC236}">
                <a16:creationId xmlns:a16="http://schemas.microsoft.com/office/drawing/2014/main" id="{08BA4999-513E-4629-8817-4048C50885EE}"/>
              </a:ext>
            </a:extLst>
          </p:cNvPr>
          <p:cNvCxnSpPr>
            <a:cxnSpLocks/>
            <a:endCxn id="33" idx="2"/>
          </p:cNvCxnSpPr>
          <p:nvPr userDrawn="1"/>
        </p:nvCxnSpPr>
        <p:spPr bwMode="auto">
          <a:xfrm>
            <a:off x="4860494" y="3620090"/>
            <a:ext cx="648930" cy="0"/>
          </a:xfrm>
          <a:prstGeom prst="straightConnector1">
            <a:avLst/>
          </a:prstGeom>
          <a:noFill/>
          <a:ln w="25400" cap="flat" cmpd="sng" algn="ctr">
            <a:solidFill>
              <a:schemeClr val="accent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76039D22-82A0-4777-BE08-40E745F5309B}"/>
                  </a:ext>
                </a:extLst>
              </p:cNvPr>
              <p:cNvSpPr txBox="1"/>
              <p:nvPr userDrawn="1"/>
            </p:nvSpPr>
            <p:spPr>
              <a:xfrm>
                <a:off x="3611557" y="3394265"/>
                <a:ext cx="1194751" cy="37427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𝑊</m:t>
                          </m:r>
                        </m:e>
                        <m:sub>
                          <m:r>
                            <a:rPr lang="en-US" b="0" i="1" smtClean="0">
                              <a:latin typeface="Cambria Math" panose="02040503050406030204" pitchFamily="18" charset="0"/>
                            </a:rPr>
                            <m:t>𝑐𝑐</m:t>
                          </m:r>
                        </m:sub>
                        <m:sup>
                          <m:r>
                            <a:rPr lang="en-US" b="0" i="1" smtClean="0">
                              <a:latin typeface="Cambria Math" panose="02040503050406030204" pitchFamily="18" charset="0"/>
                            </a:rPr>
                            <m:t>𝑑𝑒𝑠</m:t>
                          </m:r>
                        </m:sup>
                      </m:sSubSup>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0</m:t>
                          </m:r>
                        </m:e>
                      </m:acc>
                    </m:oMath>
                  </m:oMathPara>
                </a14:m>
                <a:endParaRPr lang="en-US"/>
              </a:p>
            </p:txBody>
          </p:sp>
        </mc:Choice>
        <mc:Fallback xmlns="">
          <p:sp>
            <p:nvSpPr>
              <p:cNvPr id="43" name="TextBox 42">
                <a:extLst>
                  <a:ext uri="{FF2B5EF4-FFF2-40B4-BE49-F238E27FC236}">
                    <a16:creationId xmlns:a16="http://schemas.microsoft.com/office/drawing/2014/main" id="{76039D22-82A0-4777-BE08-40E745F5309B}"/>
                  </a:ext>
                </a:extLst>
              </p:cNvPr>
              <p:cNvSpPr txBox="1">
                <a:spLocks noRot="1" noChangeAspect="1" noMove="1" noResize="1" noEditPoints="1" noAdjustHandles="1" noChangeArrowheads="1" noChangeShapeType="1" noTextEdit="1"/>
              </p:cNvSpPr>
              <p:nvPr userDrawn="1"/>
            </p:nvSpPr>
            <p:spPr>
              <a:xfrm>
                <a:off x="3611557" y="3394265"/>
                <a:ext cx="1194751" cy="374270"/>
              </a:xfrm>
              <a:prstGeom prst="rect">
                <a:avLst/>
              </a:prstGeom>
              <a:blipFill>
                <a:blip r:embed="rId10"/>
                <a:stretch>
                  <a:fillRect r="-17347"/>
                </a:stretch>
              </a:blipFill>
            </p:spPr>
            <p:txBody>
              <a:bodyPr/>
              <a:lstStyle/>
              <a:p>
                <a:r>
                  <a:rPr lang="en-US">
                    <a:noFill/>
                  </a:rPr>
                  <a:t> </a:t>
                </a:r>
              </a:p>
            </p:txBody>
          </p:sp>
        </mc:Fallback>
      </mc:AlternateContent>
      <p:sp>
        <p:nvSpPr>
          <p:cNvPr id="44" name="TextBox 43">
            <a:extLst>
              <a:ext uri="{FF2B5EF4-FFF2-40B4-BE49-F238E27FC236}">
                <a16:creationId xmlns:a16="http://schemas.microsoft.com/office/drawing/2014/main" id="{D8FAD13B-6C0D-4F1A-AFA7-3B277DE5303A}"/>
              </a:ext>
            </a:extLst>
          </p:cNvPr>
          <p:cNvSpPr txBox="1"/>
          <p:nvPr userDrawn="1"/>
        </p:nvSpPr>
        <p:spPr>
          <a:xfrm>
            <a:off x="5190779" y="3180603"/>
            <a:ext cx="338554" cy="461665"/>
          </a:xfrm>
          <a:prstGeom prst="rect">
            <a:avLst/>
          </a:prstGeom>
          <a:noFill/>
        </p:spPr>
        <p:txBody>
          <a:bodyPr wrap="none" rtlCol="0">
            <a:spAutoFit/>
          </a:bodyPr>
          <a:lstStyle/>
          <a:p>
            <a:r>
              <a:rPr lang="en-US" sz="2400" b="1">
                <a:solidFill>
                  <a:srgbClr val="873624"/>
                </a:solidFill>
              </a:rPr>
              <a:t>+</a:t>
            </a:r>
          </a:p>
        </p:txBody>
      </p:sp>
      <p:sp>
        <p:nvSpPr>
          <p:cNvPr id="18" name="TextBox 17">
            <a:extLst>
              <a:ext uri="{FF2B5EF4-FFF2-40B4-BE49-F238E27FC236}">
                <a16:creationId xmlns:a16="http://schemas.microsoft.com/office/drawing/2014/main" id="{8EC009F4-78AD-4729-93D7-CC5B3586237B}"/>
              </a:ext>
            </a:extLst>
          </p:cNvPr>
          <p:cNvSpPr txBox="1"/>
          <p:nvPr userDrawn="1"/>
        </p:nvSpPr>
        <p:spPr>
          <a:xfrm>
            <a:off x="3637241" y="2972705"/>
            <a:ext cx="1530162" cy="369332"/>
          </a:xfrm>
          <a:prstGeom prst="rect">
            <a:avLst/>
          </a:prstGeom>
          <a:noFill/>
        </p:spPr>
        <p:txBody>
          <a:bodyPr wrap="none" rtlCol="0">
            <a:spAutoFit/>
          </a:bodyPr>
          <a:lstStyle/>
          <a:p>
            <a:r>
              <a:rPr lang="en-US"/>
              <a:t>Control signal:</a:t>
            </a: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D836E316-519C-4A43-9DCD-E69BD4202639}"/>
                  </a:ext>
                </a:extLst>
              </p:cNvPr>
              <p:cNvSpPr txBox="1"/>
              <p:nvPr userDrawn="1"/>
            </p:nvSpPr>
            <p:spPr>
              <a:xfrm>
                <a:off x="5965199" y="3157371"/>
                <a:ext cx="94654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𝑊</m:t>
                          </m:r>
                        </m:e>
                        <m:sub>
                          <m:r>
                            <a:rPr lang="en-US" b="0" i="1" smtClean="0">
                              <a:latin typeface="Cambria Math" panose="02040503050406030204" pitchFamily="18" charset="0"/>
                            </a:rPr>
                            <m:t>𝑐𝑐</m:t>
                          </m:r>
                        </m:sub>
                        <m:sup>
                          <m:r>
                            <a:rPr lang="en-US" b="0" i="1" smtClean="0">
                              <a:latin typeface="Cambria Math" panose="02040503050406030204" pitchFamily="18" charset="0"/>
                            </a:rPr>
                            <m:t>𝑒𝑟𝑟𝑜𝑟</m:t>
                          </m:r>
                        </m:sup>
                      </m:sSubSup>
                    </m:oMath>
                  </m:oMathPara>
                </a14:m>
                <a:endParaRPr lang="en-US"/>
              </a:p>
            </p:txBody>
          </p:sp>
        </mc:Choice>
        <mc:Fallback xmlns="">
          <p:sp>
            <p:nvSpPr>
              <p:cNvPr id="46" name="TextBox 45">
                <a:extLst>
                  <a:ext uri="{FF2B5EF4-FFF2-40B4-BE49-F238E27FC236}">
                    <a16:creationId xmlns:a16="http://schemas.microsoft.com/office/drawing/2014/main" id="{D836E316-519C-4A43-9DCD-E69BD4202639}"/>
                  </a:ext>
                </a:extLst>
              </p:cNvPr>
              <p:cNvSpPr txBox="1">
                <a:spLocks noRot="1" noChangeAspect="1" noMove="1" noResize="1" noEditPoints="1" noAdjustHandles="1" noChangeArrowheads="1" noChangeShapeType="1" noTextEdit="1"/>
              </p:cNvSpPr>
              <p:nvPr userDrawn="1"/>
            </p:nvSpPr>
            <p:spPr>
              <a:xfrm>
                <a:off x="5965199" y="3157371"/>
                <a:ext cx="946541" cy="369332"/>
              </a:xfrm>
              <a:prstGeom prst="rect">
                <a:avLst/>
              </a:prstGeom>
              <a:blipFill>
                <a:blip r:embed="rId11"/>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4508320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14" name="Title 13"/>
          <p:cNvSpPr>
            <a:spLocks noGrp="1"/>
          </p:cNvSpPr>
          <p:nvPr>
            <p:ph type="title"/>
          </p:nvPr>
        </p:nvSpPr>
        <p:spPr/>
        <p:txBody>
          <a:bodyPr/>
          <a:lstStyle>
            <a:lvl1pPr>
              <a:defRPr sz="2400">
                <a:latin typeface="Arial" panose="020B0604020202020204" pitchFamily="34" charset="0"/>
                <a:cs typeface="Arial" panose="020B0604020202020204" pitchFamily="34" charset="0"/>
              </a:defRPr>
            </a:lvl1pPr>
          </a:lstStyle>
          <a:p>
            <a:r>
              <a:rPr lang="en-US"/>
              <a:t>Click to edit Master title style</a:t>
            </a:r>
          </a:p>
        </p:txBody>
      </p:sp>
      <p:sp>
        <p:nvSpPr>
          <p:cNvPr id="6" name="Slide Number Placeholder 4"/>
          <p:cNvSpPr>
            <a:spLocks noGrp="1"/>
          </p:cNvSpPr>
          <p:nvPr>
            <p:ph type="sldNum" sz="quarter" idx="12"/>
          </p:nvPr>
        </p:nvSpPr>
        <p:spPr>
          <a:xfrm>
            <a:off x="11335539" y="6570664"/>
            <a:ext cx="856461" cy="287337"/>
          </a:xfrm>
        </p:spPr>
        <p:txBody>
          <a:bodyPr/>
          <a:lstStyle>
            <a:lvl1pPr>
              <a:defRPr>
                <a:latin typeface="+mn-lt"/>
              </a:defRPr>
            </a:lvl1pPr>
          </a:lstStyle>
          <a:p>
            <a:pPr>
              <a:defRPr/>
            </a:pPr>
            <a:fld id="{0B0D5911-593C-4B7A-998F-6DBC76EF3BD7}" type="slidenum">
              <a:rPr lang="en-US" smtClean="0">
                <a:solidFill>
                  <a:prstClr val="black">
                    <a:tint val="75000"/>
                  </a:prstClr>
                </a:solidFill>
              </a:rPr>
              <a:pPr>
                <a:defRPr/>
              </a:pPr>
              <a:t>‹#›</a:t>
            </a:fld>
            <a:endParaRPr lang="en-US">
              <a:solidFill>
                <a:prstClr val="black">
                  <a:tint val="75000"/>
                </a:prstClr>
              </a:solidFill>
            </a:endParaRPr>
          </a:p>
        </p:txBody>
      </p:sp>
      <p:sp>
        <p:nvSpPr>
          <p:cNvPr id="7" name="Footer Placeholder 4"/>
          <p:cNvSpPr>
            <a:spLocks noGrp="1"/>
          </p:cNvSpPr>
          <p:nvPr>
            <p:ph type="ftr" sz="quarter" idx="11"/>
          </p:nvPr>
        </p:nvSpPr>
        <p:spPr>
          <a:xfrm>
            <a:off x="435996" y="6493821"/>
            <a:ext cx="11084637" cy="281544"/>
          </a:xfrm>
          <a:prstGeom prst="rect">
            <a:avLst/>
          </a:prstGeom>
        </p:spPr>
        <p:txBody>
          <a:bodyPr/>
          <a:lstStyle>
            <a:lvl1pPr algn="ctr">
              <a:defRPr sz="1000">
                <a:solidFill>
                  <a:schemeClr val="tx1"/>
                </a:solidFill>
              </a:defRPr>
            </a:lvl1pPr>
          </a:lstStyle>
          <a:p>
            <a:pPr fontAlgn="base">
              <a:spcBef>
                <a:spcPct val="0"/>
              </a:spcBef>
              <a:spcAft>
                <a:spcPct val="0"/>
              </a:spcAft>
              <a:defRPr/>
            </a:pPr>
            <a:endParaRPr lang="en-US"/>
          </a:p>
        </p:txBody>
      </p:sp>
      <p:sp>
        <p:nvSpPr>
          <p:cNvPr id="4" name="Rectangle: Rounded Corners 3">
            <a:extLst>
              <a:ext uri="{FF2B5EF4-FFF2-40B4-BE49-F238E27FC236}">
                <a16:creationId xmlns:a16="http://schemas.microsoft.com/office/drawing/2014/main" id="{25DD28F5-3A95-4B80-95AE-549F4AD280AE}"/>
              </a:ext>
            </a:extLst>
          </p:cNvPr>
          <p:cNvSpPr/>
          <p:nvPr userDrawn="1"/>
        </p:nvSpPr>
        <p:spPr bwMode="auto">
          <a:xfrm>
            <a:off x="10537903" y="3333195"/>
            <a:ext cx="1248937" cy="596591"/>
          </a:xfrm>
          <a:prstGeom prst="roundRect">
            <a:avLst/>
          </a:prstGeom>
          <a:solidFill>
            <a:schemeClr val="accent2"/>
          </a:solidFill>
          <a:ln w="19050"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a:ln>
                  <a:noFill/>
                </a:ln>
                <a:solidFill>
                  <a:schemeClr val="bg1"/>
                </a:solidFill>
                <a:effectLst/>
                <a:latin typeface="Arial Narrow" pitchFamily="34" charset="0"/>
              </a:rPr>
              <a:t>STA &amp; OS/Tube Plant</a:t>
            </a:r>
          </a:p>
        </p:txBody>
      </p:sp>
      <p:sp>
        <p:nvSpPr>
          <p:cNvPr id="8" name="Rectangle: Rounded Corners 7">
            <a:extLst>
              <a:ext uri="{FF2B5EF4-FFF2-40B4-BE49-F238E27FC236}">
                <a16:creationId xmlns:a16="http://schemas.microsoft.com/office/drawing/2014/main" id="{5309F429-F383-4008-9003-A15B9AAA0782}"/>
              </a:ext>
            </a:extLst>
          </p:cNvPr>
          <p:cNvSpPr/>
          <p:nvPr userDrawn="1"/>
        </p:nvSpPr>
        <p:spPr bwMode="auto">
          <a:xfrm>
            <a:off x="8082177" y="3333195"/>
            <a:ext cx="1248937" cy="596591"/>
          </a:xfrm>
          <a:prstGeom prst="roundRect">
            <a:avLst/>
          </a:prstGeom>
          <a:solidFill>
            <a:schemeClr val="accent2"/>
          </a:solidFill>
          <a:ln w="19050"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a:ln>
                  <a:noFill/>
                </a:ln>
                <a:solidFill>
                  <a:schemeClr val="bg1"/>
                </a:solidFill>
                <a:effectLst/>
                <a:latin typeface="Arial Narrow" pitchFamily="34" charset="0"/>
              </a:rPr>
              <a:t>Inverse Kinematics</a:t>
            </a:r>
          </a:p>
        </p:txBody>
      </p:sp>
      <p:cxnSp>
        <p:nvCxnSpPr>
          <p:cNvPr id="9" name="Straight Arrow Connector 8">
            <a:extLst>
              <a:ext uri="{FF2B5EF4-FFF2-40B4-BE49-F238E27FC236}">
                <a16:creationId xmlns:a16="http://schemas.microsoft.com/office/drawing/2014/main" id="{8EDCC30C-3410-43DB-9074-A2242B19140B}"/>
              </a:ext>
            </a:extLst>
          </p:cNvPr>
          <p:cNvCxnSpPr>
            <a:cxnSpLocks/>
            <a:stCxn id="8" idx="3"/>
            <a:endCxn id="4" idx="1"/>
          </p:cNvCxnSpPr>
          <p:nvPr userDrawn="1"/>
        </p:nvCxnSpPr>
        <p:spPr bwMode="auto">
          <a:xfrm>
            <a:off x="9331114" y="3631491"/>
            <a:ext cx="1206789" cy="0"/>
          </a:xfrm>
          <a:prstGeom prst="straightConnector1">
            <a:avLst/>
          </a:prstGeom>
          <a:noFill/>
          <a:ln w="25400" cap="flat" cmpd="sng" algn="ctr">
            <a:solidFill>
              <a:schemeClr val="accent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4436421-59B3-4846-B2A8-23A2F1F65228}"/>
                  </a:ext>
                </a:extLst>
              </p:cNvPr>
              <p:cNvSpPr txBox="1"/>
              <p:nvPr userDrawn="1"/>
            </p:nvSpPr>
            <p:spPr>
              <a:xfrm>
                <a:off x="9678918" y="3262158"/>
                <a:ext cx="49757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𝛿𝜃</m:t>
                      </m:r>
                    </m:oMath>
                  </m:oMathPara>
                </a14:m>
                <a:endParaRPr lang="en-US"/>
              </a:p>
            </p:txBody>
          </p:sp>
        </mc:Choice>
        <mc:Fallback xmlns="">
          <p:sp>
            <p:nvSpPr>
              <p:cNvPr id="10" name="TextBox 9">
                <a:extLst>
                  <a:ext uri="{FF2B5EF4-FFF2-40B4-BE49-F238E27FC236}">
                    <a16:creationId xmlns:a16="http://schemas.microsoft.com/office/drawing/2014/main" id="{D4436421-59B3-4846-B2A8-23A2F1F65228}"/>
                  </a:ext>
                </a:extLst>
              </p:cNvPr>
              <p:cNvSpPr txBox="1">
                <a:spLocks noRot="1" noChangeAspect="1" noMove="1" noResize="1" noEditPoints="1" noAdjustHandles="1" noChangeArrowheads="1" noChangeShapeType="1" noTextEdit="1"/>
              </p:cNvSpPr>
              <p:nvPr userDrawn="1"/>
            </p:nvSpPr>
            <p:spPr>
              <a:xfrm>
                <a:off x="9678918" y="3262158"/>
                <a:ext cx="497572" cy="369332"/>
              </a:xfrm>
              <a:prstGeom prst="rect">
                <a:avLst/>
              </a:prstGeom>
              <a:blipFill>
                <a:blip r:embed="rId2"/>
                <a:stretch>
                  <a:fillRect/>
                </a:stretch>
              </a:blipFill>
            </p:spPr>
            <p:txBody>
              <a:bodyPr/>
              <a:lstStyle/>
              <a:p>
                <a:r>
                  <a:rPr lang="en-US">
                    <a:noFill/>
                  </a:rPr>
                  <a:t> </a:t>
                </a:r>
              </a:p>
            </p:txBody>
          </p:sp>
        </mc:Fallback>
      </mc:AlternateContent>
      <p:sp>
        <p:nvSpPr>
          <p:cNvPr id="12" name="Rectangle: Rounded Corners 11">
            <a:extLst>
              <a:ext uri="{FF2B5EF4-FFF2-40B4-BE49-F238E27FC236}">
                <a16:creationId xmlns:a16="http://schemas.microsoft.com/office/drawing/2014/main" id="{0927BC2C-1FC0-4237-8023-E0C4529FD65D}"/>
              </a:ext>
            </a:extLst>
          </p:cNvPr>
          <p:cNvSpPr/>
          <p:nvPr userDrawn="1"/>
        </p:nvSpPr>
        <p:spPr bwMode="auto">
          <a:xfrm>
            <a:off x="8082176" y="2022606"/>
            <a:ext cx="1248937" cy="596591"/>
          </a:xfrm>
          <a:prstGeom prst="roundRect">
            <a:avLst/>
          </a:prstGeom>
          <a:solidFill>
            <a:schemeClr val="accent2"/>
          </a:solidFill>
          <a:ln w="19050"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a:ln>
                  <a:noFill/>
                </a:ln>
                <a:solidFill>
                  <a:schemeClr val="bg1"/>
                </a:solidFill>
                <a:effectLst/>
                <a:latin typeface="Arial Narrow" pitchFamily="34" charset="0"/>
              </a:rPr>
              <a:t>Kinematics Calculation</a:t>
            </a:r>
          </a:p>
        </p:txBody>
      </p:sp>
      <p:cxnSp>
        <p:nvCxnSpPr>
          <p:cNvPr id="13" name="Straight Arrow Connector 12">
            <a:extLst>
              <a:ext uri="{FF2B5EF4-FFF2-40B4-BE49-F238E27FC236}">
                <a16:creationId xmlns:a16="http://schemas.microsoft.com/office/drawing/2014/main" id="{38CED2F4-EC9E-4D77-9237-05672C7F1681}"/>
              </a:ext>
            </a:extLst>
          </p:cNvPr>
          <p:cNvCxnSpPr>
            <a:cxnSpLocks/>
            <a:stCxn id="12" idx="2"/>
            <a:endCxn id="8" idx="0"/>
          </p:cNvCxnSpPr>
          <p:nvPr userDrawn="1"/>
        </p:nvCxnSpPr>
        <p:spPr bwMode="auto">
          <a:xfrm>
            <a:off x="8706645" y="2619197"/>
            <a:ext cx="1" cy="713998"/>
          </a:xfrm>
          <a:prstGeom prst="straightConnector1">
            <a:avLst/>
          </a:prstGeom>
          <a:noFill/>
          <a:ln w="25400" cap="flat" cmpd="sng" algn="ctr">
            <a:solidFill>
              <a:schemeClr val="accent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49CCED0-91FF-4DCB-8EE1-075B6D1532C6}"/>
                  </a:ext>
                </a:extLst>
              </p:cNvPr>
              <p:cNvSpPr txBox="1"/>
              <p:nvPr userDrawn="1"/>
            </p:nvSpPr>
            <p:spPr>
              <a:xfrm>
                <a:off x="8779573" y="2734086"/>
                <a:ext cx="49699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𝐽</m:t>
                          </m:r>
                        </m:e>
                        <m:sub>
                          <m:r>
                            <a:rPr lang="en-US" b="0" i="1" smtClean="0">
                              <a:latin typeface="Cambria Math" panose="02040503050406030204" pitchFamily="18" charset="0"/>
                            </a:rPr>
                            <m:t>𝑐𝑐</m:t>
                          </m:r>
                        </m:sub>
                      </m:sSub>
                    </m:oMath>
                  </m:oMathPara>
                </a14:m>
                <a:endParaRPr lang="en-US"/>
              </a:p>
            </p:txBody>
          </p:sp>
        </mc:Choice>
        <mc:Fallback xmlns="">
          <p:sp>
            <p:nvSpPr>
              <p:cNvPr id="19" name="TextBox 18">
                <a:extLst>
                  <a:ext uri="{FF2B5EF4-FFF2-40B4-BE49-F238E27FC236}">
                    <a16:creationId xmlns:a16="http://schemas.microsoft.com/office/drawing/2014/main" id="{849CCED0-91FF-4DCB-8EE1-075B6D1532C6}"/>
                  </a:ext>
                </a:extLst>
              </p:cNvPr>
              <p:cNvSpPr txBox="1">
                <a:spLocks noRot="1" noChangeAspect="1" noMove="1" noResize="1" noEditPoints="1" noAdjustHandles="1" noChangeArrowheads="1" noChangeShapeType="1" noTextEdit="1"/>
              </p:cNvSpPr>
              <p:nvPr userDrawn="1"/>
            </p:nvSpPr>
            <p:spPr>
              <a:xfrm>
                <a:off x="8779573" y="2734086"/>
                <a:ext cx="496996" cy="369332"/>
              </a:xfrm>
              <a:prstGeom prst="rect">
                <a:avLst/>
              </a:prstGeom>
              <a:blipFill>
                <a:blip r:embed="rId3"/>
                <a:stretch>
                  <a:fillRect b="-10000"/>
                </a:stretch>
              </a:blipFill>
            </p:spPr>
            <p:txBody>
              <a:bodyPr/>
              <a:lstStyle/>
              <a:p>
                <a:r>
                  <a:rPr lang="en-US">
                    <a:noFill/>
                  </a:rPr>
                  <a:t> </a:t>
                </a:r>
              </a:p>
            </p:txBody>
          </p:sp>
        </mc:Fallback>
      </mc:AlternateContent>
      <p:cxnSp>
        <p:nvCxnSpPr>
          <p:cNvPr id="23" name="Connector: Elbow 22">
            <a:extLst>
              <a:ext uri="{FF2B5EF4-FFF2-40B4-BE49-F238E27FC236}">
                <a16:creationId xmlns:a16="http://schemas.microsoft.com/office/drawing/2014/main" id="{1012CB23-8E93-45E6-B8C3-B449DD46FEE5}"/>
              </a:ext>
            </a:extLst>
          </p:cNvPr>
          <p:cNvCxnSpPr>
            <a:stCxn id="4" idx="0"/>
            <a:endCxn id="12" idx="3"/>
          </p:cNvCxnSpPr>
          <p:nvPr userDrawn="1"/>
        </p:nvCxnSpPr>
        <p:spPr bwMode="auto">
          <a:xfrm rot="16200000" flipV="1">
            <a:off x="9740597" y="1911419"/>
            <a:ext cx="1012293" cy="1831259"/>
          </a:xfrm>
          <a:prstGeom prst="bentConnector2">
            <a:avLst/>
          </a:prstGeom>
          <a:noFill/>
          <a:ln w="25400" cap="flat" cmpd="sng" algn="ctr">
            <a:solidFill>
              <a:schemeClr val="accent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7DD36D59-44A8-4035-A875-A7D9D5099897}"/>
                  </a:ext>
                </a:extLst>
              </p:cNvPr>
              <p:cNvSpPr txBox="1"/>
              <p:nvPr userDrawn="1"/>
            </p:nvSpPr>
            <p:spPr>
              <a:xfrm>
                <a:off x="11186004" y="2549420"/>
                <a:ext cx="37414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𝜃</m:t>
                      </m:r>
                    </m:oMath>
                  </m:oMathPara>
                </a14:m>
                <a:endParaRPr lang="en-US"/>
              </a:p>
            </p:txBody>
          </p:sp>
        </mc:Choice>
        <mc:Fallback xmlns="">
          <p:sp>
            <p:nvSpPr>
              <p:cNvPr id="24" name="TextBox 23">
                <a:extLst>
                  <a:ext uri="{FF2B5EF4-FFF2-40B4-BE49-F238E27FC236}">
                    <a16:creationId xmlns:a16="http://schemas.microsoft.com/office/drawing/2014/main" id="{7DD36D59-44A8-4035-A875-A7D9D5099897}"/>
                  </a:ext>
                </a:extLst>
              </p:cNvPr>
              <p:cNvSpPr txBox="1">
                <a:spLocks noRot="1" noChangeAspect="1" noMove="1" noResize="1" noEditPoints="1" noAdjustHandles="1" noChangeArrowheads="1" noChangeShapeType="1" noTextEdit="1"/>
              </p:cNvSpPr>
              <p:nvPr userDrawn="1"/>
            </p:nvSpPr>
            <p:spPr>
              <a:xfrm>
                <a:off x="11186004" y="2549420"/>
                <a:ext cx="374141" cy="369332"/>
              </a:xfrm>
              <a:prstGeom prst="rect">
                <a:avLst/>
              </a:prstGeom>
              <a:blipFill>
                <a:blip r:embed="rId4"/>
                <a:stretch>
                  <a:fillRect/>
                </a:stretch>
              </a:blipFill>
            </p:spPr>
            <p:txBody>
              <a:bodyPr/>
              <a:lstStyle/>
              <a:p>
                <a:r>
                  <a:rPr lang="en-US">
                    <a:noFill/>
                  </a:rPr>
                  <a:t> </a:t>
                </a:r>
              </a:p>
            </p:txBody>
          </p:sp>
        </mc:Fallback>
      </mc:AlternateContent>
      <p:cxnSp>
        <p:nvCxnSpPr>
          <p:cNvPr id="25" name="Connector: Elbow 24">
            <a:extLst>
              <a:ext uri="{FF2B5EF4-FFF2-40B4-BE49-F238E27FC236}">
                <a16:creationId xmlns:a16="http://schemas.microsoft.com/office/drawing/2014/main" id="{F1AF65D9-7FBE-43DA-BC19-8C719EB376DD}"/>
              </a:ext>
            </a:extLst>
          </p:cNvPr>
          <p:cNvCxnSpPr>
            <a:cxnSpLocks/>
            <a:stCxn id="4" idx="2"/>
            <a:endCxn id="56" idx="6"/>
          </p:cNvCxnSpPr>
          <p:nvPr userDrawn="1"/>
        </p:nvCxnSpPr>
        <p:spPr bwMode="auto">
          <a:xfrm rot="5400000">
            <a:off x="9675010" y="3216200"/>
            <a:ext cx="773776" cy="2200949"/>
          </a:xfrm>
          <a:prstGeom prst="bentConnector2">
            <a:avLst/>
          </a:prstGeom>
          <a:noFill/>
          <a:ln w="25400" cap="flat" cmpd="sng" algn="ctr">
            <a:solidFill>
              <a:schemeClr val="accent1"/>
            </a:solidFill>
            <a:prstDash val="solid"/>
            <a:round/>
            <a:headEnd type="none" w="med" len="med"/>
            <a:tailEnd type="triangle"/>
          </a:ln>
          <a:effectLst/>
        </p:spPr>
      </p:cxnSp>
      <p:cxnSp>
        <p:nvCxnSpPr>
          <p:cNvPr id="28" name="Straight Arrow Connector 27">
            <a:extLst>
              <a:ext uri="{FF2B5EF4-FFF2-40B4-BE49-F238E27FC236}">
                <a16:creationId xmlns:a16="http://schemas.microsoft.com/office/drawing/2014/main" id="{8C3F2D5D-F466-4E49-BBC7-D925433A30F7}"/>
              </a:ext>
            </a:extLst>
          </p:cNvPr>
          <p:cNvCxnSpPr>
            <a:cxnSpLocks/>
            <a:stCxn id="45" idx="3"/>
            <a:endCxn id="61" idx="2"/>
          </p:cNvCxnSpPr>
          <p:nvPr userDrawn="1"/>
        </p:nvCxnSpPr>
        <p:spPr bwMode="auto">
          <a:xfrm>
            <a:off x="5047378" y="3629911"/>
            <a:ext cx="761112" cy="2499"/>
          </a:xfrm>
          <a:prstGeom prst="straightConnector1">
            <a:avLst/>
          </a:prstGeom>
          <a:noFill/>
          <a:ln w="25400" cap="flat" cmpd="sng" algn="ctr">
            <a:solidFill>
              <a:schemeClr val="accent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241DEF81-E86C-472A-ABEC-D0CF73A4210E}"/>
                  </a:ext>
                </a:extLst>
              </p:cNvPr>
              <p:cNvSpPr txBox="1"/>
              <p:nvPr userDrawn="1"/>
            </p:nvSpPr>
            <p:spPr>
              <a:xfrm>
                <a:off x="7438672" y="3195998"/>
                <a:ext cx="66114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𝛿</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𝑐𝑐</m:t>
                          </m:r>
                        </m:sub>
                      </m:sSub>
                    </m:oMath>
                  </m:oMathPara>
                </a14:m>
                <a:endParaRPr lang="en-US"/>
              </a:p>
            </p:txBody>
          </p:sp>
        </mc:Choice>
        <mc:Fallback xmlns="">
          <p:sp>
            <p:nvSpPr>
              <p:cNvPr id="31" name="TextBox 30">
                <a:extLst>
                  <a:ext uri="{FF2B5EF4-FFF2-40B4-BE49-F238E27FC236}">
                    <a16:creationId xmlns:a16="http://schemas.microsoft.com/office/drawing/2014/main" id="{241DEF81-E86C-472A-ABEC-D0CF73A4210E}"/>
                  </a:ext>
                </a:extLst>
              </p:cNvPr>
              <p:cNvSpPr txBox="1">
                <a:spLocks noRot="1" noChangeAspect="1" noMove="1" noResize="1" noEditPoints="1" noAdjustHandles="1" noChangeArrowheads="1" noChangeShapeType="1" noTextEdit="1"/>
              </p:cNvSpPr>
              <p:nvPr userDrawn="1"/>
            </p:nvSpPr>
            <p:spPr>
              <a:xfrm>
                <a:off x="7438672" y="3195998"/>
                <a:ext cx="661143"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A9A196F5-6B36-4383-8673-79FD78D314F7}"/>
                  </a:ext>
                </a:extLst>
              </p:cNvPr>
              <p:cNvSpPr txBox="1"/>
              <p:nvPr userDrawn="1"/>
            </p:nvSpPr>
            <p:spPr>
              <a:xfrm>
                <a:off x="9541293" y="4763190"/>
                <a:ext cx="790794" cy="38786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𝑊</m:t>
                          </m:r>
                        </m:e>
                        <m:sub>
                          <m:r>
                            <a:rPr lang="en-US" b="0" i="1" smtClean="0">
                              <a:latin typeface="Cambria Math" panose="02040503050406030204" pitchFamily="18" charset="0"/>
                            </a:rPr>
                            <m:t>𝑐𝑐</m:t>
                          </m:r>
                        </m:sub>
                        <m:sup>
                          <m:r>
                            <a:rPr lang="en-US" b="0" i="1" smtClean="0">
                              <a:latin typeface="Cambria Math" panose="02040503050406030204" pitchFamily="18" charset="0"/>
                            </a:rPr>
                            <m:t>𝑙𝑖𝑣𝑒</m:t>
                          </m:r>
                        </m:sup>
                      </m:sSubSup>
                    </m:oMath>
                  </m:oMathPara>
                </a14:m>
                <a:endParaRPr lang="en-US"/>
              </a:p>
            </p:txBody>
          </p:sp>
        </mc:Choice>
        <mc:Fallback xmlns="">
          <p:sp>
            <p:nvSpPr>
              <p:cNvPr id="32" name="TextBox 31">
                <a:extLst>
                  <a:ext uri="{FF2B5EF4-FFF2-40B4-BE49-F238E27FC236}">
                    <a16:creationId xmlns:a16="http://schemas.microsoft.com/office/drawing/2014/main" id="{A9A196F5-6B36-4383-8673-79FD78D314F7}"/>
                  </a:ext>
                </a:extLst>
              </p:cNvPr>
              <p:cNvSpPr txBox="1">
                <a:spLocks noRot="1" noChangeAspect="1" noMove="1" noResize="1" noEditPoints="1" noAdjustHandles="1" noChangeArrowheads="1" noChangeShapeType="1" noTextEdit="1"/>
              </p:cNvSpPr>
              <p:nvPr userDrawn="1"/>
            </p:nvSpPr>
            <p:spPr>
              <a:xfrm>
                <a:off x="9541293" y="4763190"/>
                <a:ext cx="790794" cy="387863"/>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4C0EE91B-C9EF-4DD8-BD78-86A90E8210AF}"/>
                  </a:ext>
                </a:extLst>
              </p:cNvPr>
              <p:cNvSpPr txBox="1"/>
              <p:nvPr userDrawn="1"/>
            </p:nvSpPr>
            <p:spPr>
              <a:xfrm>
                <a:off x="3249931" y="3169029"/>
                <a:ext cx="1032206" cy="3782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𝐶</m:t>
                          </m:r>
                        </m:e>
                        <m:sub>
                          <m:r>
                            <a:rPr lang="en-US" b="0" i="1" smtClean="0">
                              <a:latin typeface="Cambria Math" panose="02040503050406030204" pitchFamily="18" charset="0"/>
                            </a:rPr>
                            <m:t>𝑐𝑐</m:t>
                          </m:r>
                        </m:sub>
                        <m:sup>
                          <m:r>
                            <a:rPr lang="en-US" b="0" i="1" smtClean="0">
                              <a:latin typeface="Cambria Math" panose="02040503050406030204" pitchFamily="18" charset="0"/>
                            </a:rPr>
                            <m:t>𝑑𝑒𝑠𝑖𝑟𝑒𝑑</m:t>
                          </m:r>
                        </m:sup>
                      </m:sSubSup>
                    </m:oMath>
                  </m:oMathPara>
                </a14:m>
                <a:endParaRPr lang="en-US"/>
              </a:p>
            </p:txBody>
          </p:sp>
        </mc:Choice>
        <mc:Fallback xmlns="">
          <p:sp>
            <p:nvSpPr>
              <p:cNvPr id="38" name="TextBox 37">
                <a:extLst>
                  <a:ext uri="{FF2B5EF4-FFF2-40B4-BE49-F238E27FC236}">
                    <a16:creationId xmlns:a16="http://schemas.microsoft.com/office/drawing/2014/main" id="{4C0EE91B-C9EF-4DD8-BD78-86A90E8210AF}"/>
                  </a:ext>
                </a:extLst>
              </p:cNvPr>
              <p:cNvSpPr txBox="1">
                <a:spLocks noRot="1" noChangeAspect="1" noMove="1" noResize="1" noEditPoints="1" noAdjustHandles="1" noChangeArrowheads="1" noChangeShapeType="1" noTextEdit="1"/>
              </p:cNvSpPr>
              <p:nvPr userDrawn="1"/>
            </p:nvSpPr>
            <p:spPr>
              <a:xfrm>
                <a:off x="3249931" y="3169029"/>
                <a:ext cx="1032206" cy="378245"/>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B616AD2C-4774-468D-9B26-5E9134881390}"/>
                  </a:ext>
                </a:extLst>
              </p:cNvPr>
              <p:cNvSpPr txBox="1"/>
              <p:nvPr userDrawn="1"/>
            </p:nvSpPr>
            <p:spPr>
              <a:xfrm>
                <a:off x="7129293" y="4832726"/>
                <a:ext cx="759759" cy="3746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𝑊</m:t>
                          </m:r>
                        </m:e>
                        <m:sub>
                          <m:r>
                            <a:rPr lang="en-US" b="0" i="1" smtClean="0">
                              <a:latin typeface="Cambria Math" panose="02040503050406030204" pitchFamily="18" charset="0"/>
                            </a:rPr>
                            <m:t>𝑐𝑐</m:t>
                          </m:r>
                        </m:sub>
                        <m:sup>
                          <m:r>
                            <a:rPr lang="en-US" b="0" i="1" smtClean="0">
                              <a:latin typeface="Cambria Math" panose="02040503050406030204" pitchFamily="18" charset="0"/>
                            </a:rPr>
                            <m:t>𝑛𝑒𝑡</m:t>
                          </m:r>
                        </m:sup>
                      </m:sSubSup>
                    </m:oMath>
                  </m:oMathPara>
                </a14:m>
                <a:endParaRPr lang="en-US"/>
              </a:p>
            </p:txBody>
          </p:sp>
        </mc:Choice>
        <mc:Fallback xmlns="">
          <p:sp>
            <p:nvSpPr>
              <p:cNvPr id="41" name="TextBox 40">
                <a:extLst>
                  <a:ext uri="{FF2B5EF4-FFF2-40B4-BE49-F238E27FC236}">
                    <a16:creationId xmlns:a16="http://schemas.microsoft.com/office/drawing/2014/main" id="{B616AD2C-4774-468D-9B26-5E9134881390}"/>
                  </a:ext>
                </a:extLst>
              </p:cNvPr>
              <p:cNvSpPr txBox="1">
                <a:spLocks noRot="1" noChangeAspect="1" noMove="1" noResize="1" noEditPoints="1" noAdjustHandles="1" noChangeArrowheads="1" noChangeShapeType="1" noTextEdit="1"/>
              </p:cNvSpPr>
              <p:nvPr userDrawn="1"/>
            </p:nvSpPr>
            <p:spPr>
              <a:xfrm>
                <a:off x="7129293" y="4832726"/>
                <a:ext cx="759759" cy="374654"/>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Rectangle: Rounded Corners 44">
                <a:extLst>
                  <a:ext uri="{FF2B5EF4-FFF2-40B4-BE49-F238E27FC236}">
                    <a16:creationId xmlns:a16="http://schemas.microsoft.com/office/drawing/2014/main" id="{515BBEC7-F62F-47E8-AEE7-86D9C0B508E0}"/>
                  </a:ext>
                </a:extLst>
              </p:cNvPr>
              <p:cNvSpPr/>
              <p:nvPr userDrawn="1"/>
            </p:nvSpPr>
            <p:spPr bwMode="auto">
              <a:xfrm>
                <a:off x="4416306" y="3331615"/>
                <a:ext cx="631072" cy="596591"/>
              </a:xfrm>
              <a:prstGeom prst="roundRect">
                <a:avLst/>
              </a:prstGeom>
              <a:solidFill>
                <a:schemeClr val="accent2"/>
              </a:solidFill>
              <a:ln w="19050"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sz="1800" b="0" i="1" u="none" strike="noStrike" cap="none" normalizeH="0" baseline="0" smtClean="0">
                              <a:ln>
                                <a:noFill/>
                              </a:ln>
                              <a:solidFill>
                                <a:schemeClr val="bg1"/>
                              </a:solidFill>
                              <a:effectLst/>
                              <a:latin typeface="Cambria Math" panose="02040503050406030204" pitchFamily="18" charset="0"/>
                            </a:rPr>
                          </m:ctrlPr>
                        </m:sSubPr>
                        <m:e>
                          <m:r>
                            <a:rPr kumimoji="0" lang="en-US" sz="1800" b="0" i="1" u="none" strike="noStrike" cap="none" normalizeH="0" baseline="0" smtClean="0">
                              <a:ln>
                                <a:noFill/>
                              </a:ln>
                              <a:solidFill>
                                <a:schemeClr val="bg1"/>
                              </a:solidFill>
                              <a:effectLst/>
                              <a:latin typeface="Cambria Math" panose="02040503050406030204" pitchFamily="18" charset="0"/>
                            </a:rPr>
                            <m:t>𝐶</m:t>
                          </m:r>
                        </m:e>
                        <m:sub>
                          <m:r>
                            <a:rPr kumimoji="0" lang="en-US" sz="1800" b="0" i="1" u="none" strike="noStrike" cap="none" normalizeH="0" baseline="0" smtClean="0">
                              <a:ln>
                                <a:noFill/>
                              </a:ln>
                              <a:solidFill>
                                <a:schemeClr val="bg1"/>
                              </a:solidFill>
                              <a:effectLst/>
                              <a:latin typeface="Cambria Math" panose="02040503050406030204" pitchFamily="18" charset="0"/>
                            </a:rPr>
                            <m:t>𝑐𝑐</m:t>
                          </m:r>
                        </m:sub>
                      </m:sSub>
                    </m:oMath>
                  </m:oMathPara>
                </a14:m>
                <a:endParaRPr kumimoji="0" lang="en-US" sz="1800" b="0" i="0" u="none" strike="noStrike" cap="none" normalizeH="0" baseline="0">
                  <a:ln>
                    <a:noFill/>
                  </a:ln>
                  <a:solidFill>
                    <a:schemeClr val="bg1"/>
                  </a:solidFill>
                  <a:effectLst/>
                  <a:latin typeface="Arial Narrow" pitchFamily="34" charset="0"/>
                </a:endParaRPr>
              </a:p>
            </p:txBody>
          </p:sp>
        </mc:Choice>
        <mc:Fallback xmlns="">
          <p:sp>
            <p:nvSpPr>
              <p:cNvPr id="45" name="Rectangle: Rounded Corners 44">
                <a:extLst>
                  <a:ext uri="{FF2B5EF4-FFF2-40B4-BE49-F238E27FC236}">
                    <a16:creationId xmlns:a16="http://schemas.microsoft.com/office/drawing/2014/main" id="{515BBEC7-F62F-47E8-AEE7-86D9C0B508E0}"/>
                  </a:ext>
                </a:extLst>
              </p:cNvPr>
              <p:cNvSpPr>
                <a:spLocks noRot="1" noChangeAspect="1" noMove="1" noResize="1" noEditPoints="1" noAdjustHandles="1" noChangeArrowheads="1" noChangeShapeType="1" noTextEdit="1"/>
              </p:cNvSpPr>
              <p:nvPr userDrawn="1"/>
            </p:nvSpPr>
            <p:spPr bwMode="auto">
              <a:xfrm>
                <a:off x="4416306" y="3331615"/>
                <a:ext cx="631072" cy="596591"/>
              </a:xfrm>
              <a:prstGeom prst="roundRect">
                <a:avLst/>
              </a:prstGeom>
              <a:blipFill>
                <a:blip r:embed="rId9"/>
                <a:stretch>
                  <a:fillRect/>
                </a:stretch>
              </a:blipFill>
              <a:ln w="19050" cap="flat" cmpd="sng" algn="ctr">
                <a:solidFill>
                  <a:schemeClr val="accent1"/>
                </a:solidFill>
                <a:prstDash val="solid"/>
                <a:round/>
                <a:headEnd type="none" w="med" len="med"/>
                <a:tailEnd type="none" w="med" len="med"/>
              </a:ln>
              <a:effectLst/>
            </p:spPr>
            <p:txBody>
              <a:bodyPr/>
              <a:lstStyle/>
              <a:p>
                <a:r>
                  <a:rPr lang="en-US">
                    <a:noFill/>
                  </a:rPr>
                  <a:t> </a:t>
                </a:r>
              </a:p>
            </p:txBody>
          </p:sp>
        </mc:Fallback>
      </mc:AlternateContent>
      <p:cxnSp>
        <p:nvCxnSpPr>
          <p:cNvPr id="47" name="Connector: Elbow 46">
            <a:extLst>
              <a:ext uri="{FF2B5EF4-FFF2-40B4-BE49-F238E27FC236}">
                <a16:creationId xmlns:a16="http://schemas.microsoft.com/office/drawing/2014/main" id="{47FEDE0B-30BD-4151-A8D5-6D857F24C3E0}"/>
              </a:ext>
            </a:extLst>
          </p:cNvPr>
          <p:cNvCxnSpPr>
            <a:cxnSpLocks/>
            <a:stCxn id="56" idx="2"/>
            <a:endCxn id="45" idx="2"/>
          </p:cNvCxnSpPr>
          <p:nvPr userDrawn="1"/>
        </p:nvCxnSpPr>
        <p:spPr bwMode="auto">
          <a:xfrm rot="10800000">
            <a:off x="4731843" y="3928206"/>
            <a:ext cx="3692905" cy="775356"/>
          </a:xfrm>
          <a:prstGeom prst="bentConnector2">
            <a:avLst/>
          </a:prstGeom>
          <a:noFill/>
          <a:ln w="25400" cap="flat" cmpd="sng" algn="ctr">
            <a:solidFill>
              <a:schemeClr val="accent1"/>
            </a:solidFill>
            <a:prstDash val="solid"/>
            <a:round/>
            <a:headEnd type="none" w="med" len="med"/>
            <a:tailEnd type="triangle"/>
          </a:ln>
          <a:effectLst/>
        </p:spPr>
      </p:cxnSp>
      <p:cxnSp>
        <p:nvCxnSpPr>
          <p:cNvPr id="50" name="Straight Arrow Connector 49">
            <a:extLst>
              <a:ext uri="{FF2B5EF4-FFF2-40B4-BE49-F238E27FC236}">
                <a16:creationId xmlns:a16="http://schemas.microsoft.com/office/drawing/2014/main" id="{BE9E558C-D0EC-42D2-9536-518BAAB063A2}"/>
              </a:ext>
            </a:extLst>
          </p:cNvPr>
          <p:cNvCxnSpPr>
            <a:cxnSpLocks/>
            <a:endCxn id="45" idx="1"/>
          </p:cNvCxnSpPr>
          <p:nvPr userDrawn="1"/>
        </p:nvCxnSpPr>
        <p:spPr bwMode="auto">
          <a:xfrm>
            <a:off x="3334215" y="3629910"/>
            <a:ext cx="1082091" cy="1"/>
          </a:xfrm>
          <a:prstGeom prst="straightConnector1">
            <a:avLst/>
          </a:prstGeom>
          <a:noFill/>
          <a:ln w="25400" cap="flat" cmpd="sng" algn="ctr">
            <a:solidFill>
              <a:schemeClr val="accent1"/>
            </a:solidFill>
            <a:prstDash val="solid"/>
            <a:round/>
            <a:headEnd type="none" w="med" len="med"/>
            <a:tailEnd type="triangle"/>
          </a:ln>
          <a:effectLst/>
        </p:spPr>
      </p:cxnSp>
      <p:sp>
        <p:nvSpPr>
          <p:cNvPr id="56" name="Oval 55">
            <a:extLst>
              <a:ext uri="{FF2B5EF4-FFF2-40B4-BE49-F238E27FC236}">
                <a16:creationId xmlns:a16="http://schemas.microsoft.com/office/drawing/2014/main" id="{48B2DF49-8163-488A-8BB9-18248CBF2A97}"/>
              </a:ext>
            </a:extLst>
          </p:cNvPr>
          <p:cNvSpPr/>
          <p:nvPr userDrawn="1"/>
        </p:nvSpPr>
        <p:spPr bwMode="auto">
          <a:xfrm>
            <a:off x="8424747" y="4465044"/>
            <a:ext cx="536676" cy="477035"/>
          </a:xfrm>
          <a:prstGeom prst="ellipse">
            <a:avLst/>
          </a:prstGeom>
          <a:solidFill>
            <a:schemeClr val="accent2"/>
          </a:solidFill>
          <a:ln w="19050"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a:ln>
                <a:noFill/>
              </a:ln>
              <a:solidFill>
                <a:schemeClr val="bg1"/>
              </a:solidFill>
              <a:effectLst/>
              <a:latin typeface="Arial Narrow" pitchFamily="34" charset="0"/>
            </a:endParaRPr>
          </a:p>
        </p:txBody>
      </p:sp>
      <p:cxnSp>
        <p:nvCxnSpPr>
          <p:cNvPr id="59" name="Straight Arrow Connector 58">
            <a:extLst>
              <a:ext uri="{FF2B5EF4-FFF2-40B4-BE49-F238E27FC236}">
                <a16:creationId xmlns:a16="http://schemas.microsoft.com/office/drawing/2014/main" id="{DCFC64C8-FF5D-44B6-BD0D-B31A066A355F}"/>
              </a:ext>
            </a:extLst>
          </p:cNvPr>
          <p:cNvCxnSpPr>
            <a:cxnSpLocks/>
            <a:endCxn id="56" idx="4"/>
          </p:cNvCxnSpPr>
          <p:nvPr userDrawn="1"/>
        </p:nvCxnSpPr>
        <p:spPr bwMode="auto">
          <a:xfrm flipV="1">
            <a:off x="8693035" y="4942079"/>
            <a:ext cx="50" cy="403912"/>
          </a:xfrm>
          <a:prstGeom prst="straightConnector1">
            <a:avLst/>
          </a:prstGeom>
          <a:noFill/>
          <a:ln w="25400" cap="flat" cmpd="sng" algn="ctr">
            <a:solidFill>
              <a:schemeClr val="accent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B78AD65C-C1CB-44A2-999A-B4BFBF79E7BF}"/>
                  </a:ext>
                </a:extLst>
              </p:cNvPr>
              <p:cNvSpPr txBox="1"/>
              <p:nvPr userDrawn="1"/>
            </p:nvSpPr>
            <p:spPr>
              <a:xfrm>
                <a:off x="8399693" y="5419114"/>
                <a:ext cx="846899" cy="3746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𝑊</m:t>
                          </m:r>
                        </m:e>
                        <m:sub>
                          <m:r>
                            <a:rPr lang="en-US" b="0" i="1" smtClean="0">
                              <a:latin typeface="Cambria Math" panose="02040503050406030204" pitchFamily="18" charset="0"/>
                            </a:rPr>
                            <m:t>𝑐𝑐</m:t>
                          </m:r>
                        </m:sub>
                        <m:sup>
                          <m:r>
                            <a:rPr lang="en-US" b="0" i="1" smtClean="0">
                              <a:latin typeface="Cambria Math" panose="02040503050406030204" pitchFamily="18" charset="0"/>
                            </a:rPr>
                            <m:t>𝑡𝑎𝑟𝑒</m:t>
                          </m:r>
                        </m:sup>
                      </m:sSubSup>
                    </m:oMath>
                  </m:oMathPara>
                </a14:m>
                <a:endParaRPr lang="en-US"/>
              </a:p>
            </p:txBody>
          </p:sp>
        </mc:Choice>
        <mc:Fallback xmlns="">
          <p:sp>
            <p:nvSpPr>
              <p:cNvPr id="62" name="TextBox 61">
                <a:extLst>
                  <a:ext uri="{FF2B5EF4-FFF2-40B4-BE49-F238E27FC236}">
                    <a16:creationId xmlns:a16="http://schemas.microsoft.com/office/drawing/2014/main" id="{B78AD65C-C1CB-44A2-999A-B4BFBF79E7BF}"/>
                  </a:ext>
                </a:extLst>
              </p:cNvPr>
              <p:cNvSpPr txBox="1">
                <a:spLocks noRot="1" noChangeAspect="1" noMove="1" noResize="1" noEditPoints="1" noAdjustHandles="1" noChangeArrowheads="1" noChangeShapeType="1" noTextEdit="1"/>
              </p:cNvSpPr>
              <p:nvPr userDrawn="1"/>
            </p:nvSpPr>
            <p:spPr>
              <a:xfrm>
                <a:off x="8399693" y="5419114"/>
                <a:ext cx="846899" cy="374654"/>
              </a:xfrm>
              <a:prstGeom prst="rect">
                <a:avLst/>
              </a:prstGeom>
              <a:blipFill>
                <a:blip r:embed="rId10"/>
                <a:stretch>
                  <a:fillRect/>
                </a:stretch>
              </a:blipFill>
            </p:spPr>
            <p:txBody>
              <a:bodyPr/>
              <a:lstStyle/>
              <a:p>
                <a:r>
                  <a:rPr lang="en-US">
                    <a:noFill/>
                  </a:rPr>
                  <a:t> </a:t>
                </a:r>
              </a:p>
            </p:txBody>
          </p:sp>
        </mc:Fallback>
      </mc:AlternateContent>
      <p:sp>
        <p:nvSpPr>
          <p:cNvPr id="63" name="TextBox 62">
            <a:extLst>
              <a:ext uri="{FF2B5EF4-FFF2-40B4-BE49-F238E27FC236}">
                <a16:creationId xmlns:a16="http://schemas.microsoft.com/office/drawing/2014/main" id="{4AA113F6-F5FB-4C93-B278-6676CC5AE3B8}"/>
              </a:ext>
            </a:extLst>
          </p:cNvPr>
          <p:cNvSpPr txBox="1"/>
          <p:nvPr userDrawn="1"/>
        </p:nvSpPr>
        <p:spPr>
          <a:xfrm>
            <a:off x="8706644" y="4798982"/>
            <a:ext cx="279244" cy="461665"/>
          </a:xfrm>
          <a:prstGeom prst="rect">
            <a:avLst/>
          </a:prstGeom>
          <a:noFill/>
        </p:spPr>
        <p:txBody>
          <a:bodyPr wrap="none" rtlCol="0">
            <a:spAutoFit/>
          </a:bodyPr>
          <a:lstStyle/>
          <a:p>
            <a:r>
              <a:rPr lang="en-US" sz="2400" b="1">
                <a:solidFill>
                  <a:srgbClr val="873624"/>
                </a:solidFill>
              </a:rPr>
              <a:t>-</a:t>
            </a:r>
          </a:p>
        </p:txBody>
      </p:sp>
      <p:sp>
        <p:nvSpPr>
          <p:cNvPr id="64" name="TextBox 63">
            <a:extLst>
              <a:ext uri="{FF2B5EF4-FFF2-40B4-BE49-F238E27FC236}">
                <a16:creationId xmlns:a16="http://schemas.microsoft.com/office/drawing/2014/main" id="{C93280C4-B0E4-49B6-900E-D67473DDF333}"/>
              </a:ext>
            </a:extLst>
          </p:cNvPr>
          <p:cNvSpPr txBox="1"/>
          <p:nvPr userDrawn="1"/>
        </p:nvSpPr>
        <p:spPr>
          <a:xfrm>
            <a:off x="8921906" y="4288432"/>
            <a:ext cx="338554" cy="461665"/>
          </a:xfrm>
          <a:prstGeom prst="rect">
            <a:avLst/>
          </a:prstGeom>
          <a:noFill/>
        </p:spPr>
        <p:txBody>
          <a:bodyPr wrap="none" rtlCol="0">
            <a:spAutoFit/>
          </a:bodyPr>
          <a:lstStyle/>
          <a:p>
            <a:r>
              <a:rPr lang="en-US" sz="2400" b="1">
                <a:solidFill>
                  <a:srgbClr val="873624"/>
                </a:solidFill>
              </a:rPr>
              <a:t>+</a:t>
            </a:r>
          </a:p>
        </p:txBody>
      </p:sp>
      <mc:AlternateContent xmlns:mc="http://schemas.openxmlformats.org/markup-compatibility/2006" xmlns:a14="http://schemas.microsoft.com/office/drawing/2010/main">
        <mc:Choice Requires="a14">
          <p:sp>
            <p:nvSpPr>
              <p:cNvPr id="67" name="Rectangle: Rounded Corners 66">
                <a:extLst>
                  <a:ext uri="{FF2B5EF4-FFF2-40B4-BE49-F238E27FC236}">
                    <a16:creationId xmlns:a16="http://schemas.microsoft.com/office/drawing/2014/main" id="{FE2A89E4-7BA9-4836-A2E1-42C005C94C52}"/>
                  </a:ext>
                </a:extLst>
              </p:cNvPr>
              <p:cNvSpPr/>
              <p:nvPr userDrawn="1"/>
            </p:nvSpPr>
            <p:spPr bwMode="auto">
              <a:xfrm>
                <a:off x="6867534" y="3331615"/>
                <a:ext cx="632828" cy="596591"/>
              </a:xfrm>
              <a:prstGeom prst="roundRect">
                <a:avLst/>
              </a:prstGeom>
              <a:solidFill>
                <a:schemeClr val="accent2"/>
              </a:solidFill>
              <a:ln w="19050"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14:m>
                  <m:oMathPara xmlns:m="http://schemas.openxmlformats.org/officeDocument/2006/math">
                    <m:oMathParaPr>
                      <m:jc m:val="centerGroup"/>
                    </m:oMathParaPr>
                    <m:oMath xmlns:m="http://schemas.openxmlformats.org/officeDocument/2006/math">
                      <m:r>
                        <a:rPr kumimoji="0" lang="en-US" sz="1800" b="0" i="1" u="none" strike="noStrike" cap="none" normalizeH="0" baseline="0" smtClean="0">
                          <a:ln>
                            <a:noFill/>
                          </a:ln>
                          <a:solidFill>
                            <a:schemeClr val="bg1"/>
                          </a:solidFill>
                          <a:effectLst/>
                          <a:latin typeface="Cambria Math" panose="02040503050406030204" pitchFamily="18" charset="0"/>
                        </a:rPr>
                        <m:t>𝑃𝐼𝐷</m:t>
                      </m:r>
                    </m:oMath>
                  </m:oMathPara>
                </a14:m>
                <a:endParaRPr kumimoji="0" lang="en-US" sz="1800" b="0" i="0" u="none" strike="noStrike" cap="none" normalizeH="0" baseline="0">
                  <a:ln>
                    <a:noFill/>
                  </a:ln>
                  <a:solidFill>
                    <a:schemeClr val="bg1"/>
                  </a:solidFill>
                  <a:effectLst/>
                  <a:latin typeface="Arial Narrow" pitchFamily="34" charset="0"/>
                </a:endParaRPr>
              </a:p>
            </p:txBody>
          </p:sp>
        </mc:Choice>
        <mc:Fallback xmlns="">
          <p:sp>
            <p:nvSpPr>
              <p:cNvPr id="67" name="Rectangle: Rounded Corners 66">
                <a:extLst>
                  <a:ext uri="{FF2B5EF4-FFF2-40B4-BE49-F238E27FC236}">
                    <a16:creationId xmlns:a16="http://schemas.microsoft.com/office/drawing/2014/main" id="{FE2A89E4-7BA9-4836-A2E1-42C005C94C52}"/>
                  </a:ext>
                </a:extLst>
              </p:cNvPr>
              <p:cNvSpPr>
                <a:spLocks noRot="1" noChangeAspect="1" noMove="1" noResize="1" noEditPoints="1" noAdjustHandles="1" noChangeArrowheads="1" noChangeShapeType="1" noTextEdit="1"/>
              </p:cNvSpPr>
              <p:nvPr userDrawn="1"/>
            </p:nvSpPr>
            <p:spPr bwMode="auto">
              <a:xfrm>
                <a:off x="6867534" y="3331615"/>
                <a:ext cx="632828" cy="596591"/>
              </a:xfrm>
              <a:prstGeom prst="roundRect">
                <a:avLst/>
              </a:prstGeom>
              <a:blipFill>
                <a:blip r:embed="rId11"/>
                <a:stretch>
                  <a:fillRect/>
                </a:stretch>
              </a:blipFill>
              <a:ln w="19050" cap="flat" cmpd="sng" algn="ctr">
                <a:solidFill>
                  <a:schemeClr val="accent1"/>
                </a:solidFill>
                <a:prstDash val="solid"/>
                <a:round/>
                <a:headEnd type="none" w="med" len="med"/>
                <a:tailEnd type="none" w="med" len="med"/>
              </a:ln>
              <a:effectLst/>
            </p:spPr>
            <p:txBody>
              <a:bodyPr/>
              <a:lstStyle/>
              <a:p>
                <a:r>
                  <a:rPr lang="en-US">
                    <a:noFill/>
                  </a:rPr>
                  <a:t> </a:t>
                </a:r>
              </a:p>
            </p:txBody>
          </p:sp>
        </mc:Fallback>
      </mc:AlternateContent>
      <p:cxnSp>
        <p:nvCxnSpPr>
          <p:cNvPr id="69" name="Straight Arrow Connector 68">
            <a:extLst>
              <a:ext uri="{FF2B5EF4-FFF2-40B4-BE49-F238E27FC236}">
                <a16:creationId xmlns:a16="http://schemas.microsoft.com/office/drawing/2014/main" id="{0A63023D-084B-4821-BA46-4018EBFDDB87}"/>
              </a:ext>
            </a:extLst>
          </p:cNvPr>
          <p:cNvCxnSpPr>
            <a:cxnSpLocks/>
            <a:stCxn id="67" idx="3"/>
            <a:endCxn id="8" idx="1"/>
          </p:cNvCxnSpPr>
          <p:nvPr userDrawn="1"/>
        </p:nvCxnSpPr>
        <p:spPr bwMode="auto">
          <a:xfrm>
            <a:off x="7500362" y="3629911"/>
            <a:ext cx="581815" cy="1580"/>
          </a:xfrm>
          <a:prstGeom prst="straightConnector1">
            <a:avLst/>
          </a:prstGeom>
          <a:noFill/>
          <a:ln w="25400" cap="flat" cmpd="sng" algn="ctr">
            <a:solidFill>
              <a:schemeClr val="accent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5C0C96E1-BFFF-4382-8441-F7805CFF55D7}"/>
                  </a:ext>
                </a:extLst>
              </p:cNvPr>
              <p:cNvSpPr txBox="1"/>
              <p:nvPr userDrawn="1"/>
            </p:nvSpPr>
            <p:spPr>
              <a:xfrm>
                <a:off x="5023136" y="3124686"/>
                <a:ext cx="762195" cy="43069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𝑇</m:t>
                          </m:r>
                        </m:e>
                        <m:sub>
                          <m:r>
                            <a:rPr lang="en-US" b="0" i="1" smtClean="0">
                              <a:latin typeface="Cambria Math" panose="02040503050406030204" pitchFamily="18" charset="0"/>
                            </a:rPr>
                            <m:t>𝑐𝑐</m:t>
                          </m:r>
                        </m:sub>
                        <m:sup>
                          <m:r>
                            <a:rPr lang="en-US" b="0" i="1" smtClean="0">
                              <a:latin typeface="Cambria Math" panose="02040503050406030204" pitchFamily="18" charset="0"/>
                            </a:rPr>
                            <m:t>𝑑𝑒𝑓𝑙</m:t>
                          </m:r>
                        </m:sup>
                      </m:sSubSup>
                    </m:oMath>
                  </m:oMathPara>
                </a14:m>
                <a:endParaRPr lang="en-US"/>
              </a:p>
            </p:txBody>
          </p:sp>
        </mc:Choice>
        <mc:Fallback xmlns="">
          <p:sp>
            <p:nvSpPr>
              <p:cNvPr id="72" name="TextBox 71">
                <a:extLst>
                  <a:ext uri="{FF2B5EF4-FFF2-40B4-BE49-F238E27FC236}">
                    <a16:creationId xmlns:a16="http://schemas.microsoft.com/office/drawing/2014/main" id="{5C0C96E1-BFFF-4382-8441-F7805CFF55D7}"/>
                  </a:ext>
                </a:extLst>
              </p:cNvPr>
              <p:cNvSpPr txBox="1">
                <a:spLocks noRot="1" noChangeAspect="1" noMove="1" noResize="1" noEditPoints="1" noAdjustHandles="1" noChangeArrowheads="1" noChangeShapeType="1" noTextEdit="1"/>
              </p:cNvSpPr>
              <p:nvPr userDrawn="1"/>
            </p:nvSpPr>
            <p:spPr>
              <a:xfrm>
                <a:off x="5023136" y="3124686"/>
                <a:ext cx="762195" cy="430695"/>
              </a:xfrm>
              <a:prstGeom prst="rect">
                <a:avLst/>
              </a:prstGeom>
              <a:blipFill>
                <a:blip r:embed="rId12"/>
                <a:stretch>
                  <a:fillRect/>
                </a:stretch>
              </a:blipFill>
            </p:spPr>
            <p:txBody>
              <a:bodyPr/>
              <a:lstStyle/>
              <a:p>
                <a:r>
                  <a:rPr lang="en-US">
                    <a:noFill/>
                  </a:rPr>
                  <a:t> </a:t>
                </a:r>
              </a:p>
            </p:txBody>
          </p:sp>
        </mc:Fallback>
      </mc:AlternateContent>
      <p:sp>
        <p:nvSpPr>
          <p:cNvPr id="33" name="TextBox 32">
            <a:extLst>
              <a:ext uri="{FF2B5EF4-FFF2-40B4-BE49-F238E27FC236}">
                <a16:creationId xmlns:a16="http://schemas.microsoft.com/office/drawing/2014/main" id="{DD39F48D-F7BD-4394-949A-0F68380BF7E2}"/>
              </a:ext>
            </a:extLst>
          </p:cNvPr>
          <p:cNvSpPr txBox="1"/>
          <p:nvPr userDrawn="1"/>
        </p:nvSpPr>
        <p:spPr>
          <a:xfrm>
            <a:off x="3231758" y="2738508"/>
            <a:ext cx="1530162" cy="369332"/>
          </a:xfrm>
          <a:prstGeom prst="rect">
            <a:avLst/>
          </a:prstGeom>
          <a:noFill/>
        </p:spPr>
        <p:txBody>
          <a:bodyPr wrap="none" rtlCol="0">
            <a:spAutoFit/>
          </a:bodyPr>
          <a:lstStyle/>
          <a:p>
            <a:r>
              <a:rPr lang="en-US"/>
              <a:t>Control signal:</a:t>
            </a: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9565963D-5D7C-42CE-9F6C-030AC3ED4711}"/>
                  </a:ext>
                </a:extLst>
              </p:cNvPr>
              <p:cNvSpPr txBox="1"/>
              <p:nvPr userDrawn="1"/>
            </p:nvSpPr>
            <p:spPr>
              <a:xfrm>
                <a:off x="6000527" y="2646177"/>
                <a:ext cx="941733" cy="37427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𝑇</m:t>
                          </m:r>
                        </m:e>
                        <m:sub>
                          <m:r>
                            <a:rPr lang="en-US" b="0" i="1" smtClean="0">
                              <a:latin typeface="Cambria Math" panose="02040503050406030204" pitchFamily="18" charset="0"/>
                            </a:rPr>
                            <m:t>𝑐𝑐</m:t>
                          </m:r>
                        </m:sub>
                        <m:sup>
                          <m:r>
                            <a:rPr lang="en-US" b="0" i="1" smtClean="0">
                              <a:latin typeface="Cambria Math" panose="02040503050406030204" pitchFamily="18" charset="0"/>
                            </a:rPr>
                            <m:t>𝑎𝑐𝑡𝑢𝑎𝑙</m:t>
                          </m:r>
                        </m:sup>
                      </m:sSubSup>
                    </m:oMath>
                  </m:oMathPara>
                </a14:m>
                <a:endParaRPr lang="en-US"/>
              </a:p>
            </p:txBody>
          </p:sp>
        </mc:Choice>
        <mc:Fallback xmlns="">
          <p:sp>
            <p:nvSpPr>
              <p:cNvPr id="34" name="TextBox 33">
                <a:extLst>
                  <a:ext uri="{FF2B5EF4-FFF2-40B4-BE49-F238E27FC236}">
                    <a16:creationId xmlns:a16="http://schemas.microsoft.com/office/drawing/2014/main" id="{9565963D-5D7C-42CE-9F6C-030AC3ED4711}"/>
                  </a:ext>
                </a:extLst>
              </p:cNvPr>
              <p:cNvSpPr txBox="1">
                <a:spLocks noRot="1" noChangeAspect="1" noMove="1" noResize="1" noEditPoints="1" noAdjustHandles="1" noChangeArrowheads="1" noChangeShapeType="1" noTextEdit="1"/>
              </p:cNvSpPr>
              <p:nvPr userDrawn="1"/>
            </p:nvSpPr>
            <p:spPr>
              <a:xfrm>
                <a:off x="6000527" y="2646177"/>
                <a:ext cx="941733" cy="374270"/>
              </a:xfrm>
              <a:prstGeom prst="rect">
                <a:avLst/>
              </a:prstGeom>
              <a:blipFill>
                <a:blip r:embed="rId13"/>
                <a:stretch>
                  <a:fillRect/>
                </a:stretch>
              </a:blipFill>
            </p:spPr>
            <p:txBody>
              <a:bodyPr/>
              <a:lstStyle/>
              <a:p>
                <a:r>
                  <a:rPr lang="en-US">
                    <a:noFill/>
                  </a:rPr>
                  <a:t> </a:t>
                </a:r>
              </a:p>
            </p:txBody>
          </p:sp>
        </mc:Fallback>
      </mc:AlternateContent>
      <p:cxnSp>
        <p:nvCxnSpPr>
          <p:cNvPr id="39" name="Straight Arrow Connector 38">
            <a:extLst>
              <a:ext uri="{FF2B5EF4-FFF2-40B4-BE49-F238E27FC236}">
                <a16:creationId xmlns:a16="http://schemas.microsoft.com/office/drawing/2014/main" id="{29604231-94A9-4FDE-A17D-2CF80EDE4BF6}"/>
              </a:ext>
            </a:extLst>
          </p:cNvPr>
          <p:cNvCxnSpPr>
            <a:cxnSpLocks/>
            <a:stCxn id="61" idx="6"/>
            <a:endCxn id="67" idx="1"/>
          </p:cNvCxnSpPr>
          <p:nvPr userDrawn="1"/>
        </p:nvCxnSpPr>
        <p:spPr bwMode="auto">
          <a:xfrm flipV="1">
            <a:off x="6345166" y="3629911"/>
            <a:ext cx="522368" cy="2499"/>
          </a:xfrm>
          <a:prstGeom prst="straightConnector1">
            <a:avLst/>
          </a:prstGeom>
          <a:noFill/>
          <a:ln w="25400" cap="flat" cmpd="sng" algn="ctr">
            <a:solidFill>
              <a:schemeClr val="accent1"/>
            </a:solidFill>
            <a:prstDash val="solid"/>
            <a:round/>
            <a:headEnd type="none" w="med" len="med"/>
            <a:tailEnd type="triangle"/>
          </a:ln>
          <a:effectLst/>
        </p:spPr>
      </p:cxnSp>
      <p:cxnSp>
        <p:nvCxnSpPr>
          <p:cNvPr id="48" name="Connector: Elbow 47">
            <a:extLst>
              <a:ext uri="{FF2B5EF4-FFF2-40B4-BE49-F238E27FC236}">
                <a16:creationId xmlns:a16="http://schemas.microsoft.com/office/drawing/2014/main" id="{82078DB7-9193-4E31-A0B7-35E8BE26593C}"/>
              </a:ext>
            </a:extLst>
          </p:cNvPr>
          <p:cNvCxnSpPr>
            <a:cxnSpLocks/>
            <a:endCxn id="40" idx="0"/>
          </p:cNvCxnSpPr>
          <p:nvPr userDrawn="1"/>
        </p:nvCxnSpPr>
        <p:spPr bwMode="auto">
          <a:xfrm rot="10800000" flipV="1">
            <a:off x="6073421" y="1650619"/>
            <a:ext cx="5088954" cy="253312"/>
          </a:xfrm>
          <a:prstGeom prst="bentConnector2">
            <a:avLst/>
          </a:prstGeom>
          <a:noFill/>
          <a:ln w="25400" cap="flat" cmpd="sng" algn="ctr">
            <a:solidFill>
              <a:schemeClr val="accent1"/>
            </a:solidFill>
            <a:prstDash val="solid"/>
            <a:round/>
            <a:headEnd type="none" w="med" len="med"/>
            <a:tailEnd type="triangle"/>
          </a:ln>
          <a:effectLst/>
        </p:spPr>
      </p:cxnSp>
      <p:sp>
        <p:nvSpPr>
          <p:cNvPr id="61" name="Oval 60">
            <a:extLst>
              <a:ext uri="{FF2B5EF4-FFF2-40B4-BE49-F238E27FC236}">
                <a16:creationId xmlns:a16="http://schemas.microsoft.com/office/drawing/2014/main" id="{228D3961-2ED3-49D8-AC81-F81B3CE834AA}"/>
              </a:ext>
            </a:extLst>
          </p:cNvPr>
          <p:cNvSpPr/>
          <p:nvPr userDrawn="1"/>
        </p:nvSpPr>
        <p:spPr bwMode="auto">
          <a:xfrm>
            <a:off x="5808490" y="3393892"/>
            <a:ext cx="536676" cy="477035"/>
          </a:xfrm>
          <a:prstGeom prst="ellipse">
            <a:avLst/>
          </a:prstGeom>
          <a:solidFill>
            <a:schemeClr val="accent2"/>
          </a:solidFill>
          <a:ln w="19050"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a:ln>
                <a:noFill/>
              </a:ln>
              <a:solidFill>
                <a:schemeClr val="bg1"/>
              </a:solidFill>
              <a:effectLst/>
              <a:latin typeface="Arial Narrow" pitchFamily="34" charset="0"/>
            </a:endParaRPr>
          </a:p>
        </p:txBody>
      </p:sp>
      <p:sp>
        <p:nvSpPr>
          <p:cNvPr id="68" name="TextBox 67">
            <a:extLst>
              <a:ext uri="{FF2B5EF4-FFF2-40B4-BE49-F238E27FC236}">
                <a16:creationId xmlns:a16="http://schemas.microsoft.com/office/drawing/2014/main" id="{5C1E527A-E700-4364-8CC3-0F9D0933B395}"/>
              </a:ext>
            </a:extLst>
          </p:cNvPr>
          <p:cNvSpPr txBox="1"/>
          <p:nvPr userDrawn="1"/>
        </p:nvSpPr>
        <p:spPr>
          <a:xfrm>
            <a:off x="5495664" y="3560358"/>
            <a:ext cx="338554" cy="461665"/>
          </a:xfrm>
          <a:prstGeom prst="rect">
            <a:avLst/>
          </a:prstGeom>
          <a:noFill/>
        </p:spPr>
        <p:txBody>
          <a:bodyPr wrap="none" rtlCol="0">
            <a:spAutoFit/>
          </a:bodyPr>
          <a:lstStyle/>
          <a:p>
            <a:r>
              <a:rPr lang="en-US" sz="2400" b="1">
                <a:solidFill>
                  <a:srgbClr val="873624"/>
                </a:solidFill>
              </a:rPr>
              <a:t>+</a:t>
            </a:r>
          </a:p>
        </p:txBody>
      </p:sp>
      <p:sp>
        <p:nvSpPr>
          <p:cNvPr id="70" name="TextBox 69">
            <a:extLst>
              <a:ext uri="{FF2B5EF4-FFF2-40B4-BE49-F238E27FC236}">
                <a16:creationId xmlns:a16="http://schemas.microsoft.com/office/drawing/2014/main" id="{7A204015-8A3C-492D-A6AE-CE0571CEE0AF}"/>
              </a:ext>
            </a:extLst>
          </p:cNvPr>
          <p:cNvSpPr txBox="1"/>
          <p:nvPr userDrawn="1"/>
        </p:nvSpPr>
        <p:spPr>
          <a:xfrm>
            <a:off x="5794581" y="3001146"/>
            <a:ext cx="279244" cy="461665"/>
          </a:xfrm>
          <a:prstGeom prst="rect">
            <a:avLst/>
          </a:prstGeom>
          <a:noFill/>
        </p:spPr>
        <p:txBody>
          <a:bodyPr wrap="none" rtlCol="0">
            <a:spAutoFit/>
          </a:bodyPr>
          <a:lstStyle/>
          <a:p>
            <a:r>
              <a:rPr lang="en-US" sz="2400" b="1">
                <a:solidFill>
                  <a:srgbClr val="873624"/>
                </a:solidFill>
              </a:rPr>
              <a:t>-</a:t>
            </a:r>
          </a:p>
        </p:txBody>
      </p:sp>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5304E11B-9333-425B-B8F8-25E10AF4C1F8}"/>
                  </a:ext>
                </a:extLst>
              </p:cNvPr>
              <p:cNvSpPr txBox="1"/>
              <p:nvPr userDrawn="1"/>
            </p:nvSpPr>
            <p:spPr>
              <a:xfrm>
                <a:off x="6293680" y="3127399"/>
                <a:ext cx="86273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𝑇</m:t>
                          </m:r>
                        </m:e>
                        <m:sub>
                          <m:r>
                            <a:rPr lang="en-US" b="0" i="1" smtClean="0">
                              <a:latin typeface="Cambria Math" panose="02040503050406030204" pitchFamily="18" charset="0"/>
                            </a:rPr>
                            <m:t>𝑐𝑐</m:t>
                          </m:r>
                        </m:sub>
                        <m:sup>
                          <m:r>
                            <a:rPr lang="en-US" b="0" i="1" smtClean="0">
                              <a:latin typeface="Cambria Math" panose="02040503050406030204" pitchFamily="18" charset="0"/>
                            </a:rPr>
                            <m:t>𝑒𝑟𝑟𝑜𝑟</m:t>
                          </m:r>
                        </m:sup>
                      </m:sSubSup>
                    </m:oMath>
                  </m:oMathPara>
                </a14:m>
                <a:endParaRPr lang="en-US"/>
              </a:p>
            </p:txBody>
          </p:sp>
        </mc:Choice>
        <mc:Fallback xmlns="">
          <p:sp>
            <p:nvSpPr>
              <p:cNvPr id="71" name="TextBox 70">
                <a:extLst>
                  <a:ext uri="{FF2B5EF4-FFF2-40B4-BE49-F238E27FC236}">
                    <a16:creationId xmlns:a16="http://schemas.microsoft.com/office/drawing/2014/main" id="{5304E11B-9333-425B-B8F8-25E10AF4C1F8}"/>
                  </a:ext>
                </a:extLst>
              </p:cNvPr>
              <p:cNvSpPr txBox="1">
                <a:spLocks noRot="1" noChangeAspect="1" noMove="1" noResize="1" noEditPoints="1" noAdjustHandles="1" noChangeArrowheads="1" noChangeShapeType="1" noTextEdit="1"/>
              </p:cNvSpPr>
              <p:nvPr userDrawn="1"/>
            </p:nvSpPr>
            <p:spPr>
              <a:xfrm>
                <a:off x="6293680" y="3127399"/>
                <a:ext cx="862737" cy="369332"/>
              </a:xfrm>
              <a:prstGeom prst="rect">
                <a:avLst/>
              </a:prstGeom>
              <a:blipFill>
                <a:blip r:embed="rId14"/>
                <a:stretch>
                  <a:fillRect/>
                </a:stretch>
              </a:blipFill>
            </p:spPr>
            <p:txBody>
              <a:bodyPr/>
              <a:lstStyle/>
              <a:p>
                <a:r>
                  <a:rPr lang="en-US">
                    <a:noFill/>
                  </a:rPr>
                  <a:t> </a:t>
                </a:r>
              </a:p>
            </p:txBody>
          </p:sp>
        </mc:Fallback>
      </mc:AlternateContent>
      <p:cxnSp>
        <p:nvCxnSpPr>
          <p:cNvPr id="80" name="Straight Arrow Connector 79">
            <a:extLst>
              <a:ext uri="{FF2B5EF4-FFF2-40B4-BE49-F238E27FC236}">
                <a16:creationId xmlns:a16="http://schemas.microsoft.com/office/drawing/2014/main" id="{4B708F07-3B22-4691-A733-CCE322C3812B}"/>
              </a:ext>
            </a:extLst>
          </p:cNvPr>
          <p:cNvCxnSpPr>
            <a:cxnSpLocks/>
          </p:cNvCxnSpPr>
          <p:nvPr userDrawn="1"/>
        </p:nvCxnSpPr>
        <p:spPr bwMode="auto">
          <a:xfrm>
            <a:off x="11162370" y="1646218"/>
            <a:ext cx="1" cy="713998"/>
          </a:xfrm>
          <a:prstGeom prst="straightConnector1">
            <a:avLst/>
          </a:prstGeom>
          <a:noFill/>
          <a:ln w="25400" cap="flat" cmpd="sng" algn="ctr">
            <a:solidFill>
              <a:schemeClr val="accent1"/>
            </a:solidFill>
            <a:prstDash val="solid"/>
            <a:round/>
            <a:headEnd type="none" w="med" len="med"/>
            <a:tailEnd type="none" w="med" len="med"/>
          </a:ln>
          <a:effectLst/>
        </p:spPr>
      </p:cxnSp>
      <p:sp>
        <p:nvSpPr>
          <p:cNvPr id="40" name="Rectangle: Rounded Corners 39">
            <a:extLst>
              <a:ext uri="{FF2B5EF4-FFF2-40B4-BE49-F238E27FC236}">
                <a16:creationId xmlns:a16="http://schemas.microsoft.com/office/drawing/2014/main" id="{13EAC9BA-E2F3-4CF9-BB7E-81300DBE849E}"/>
              </a:ext>
            </a:extLst>
          </p:cNvPr>
          <p:cNvSpPr/>
          <p:nvPr userDrawn="1"/>
        </p:nvSpPr>
        <p:spPr bwMode="auto">
          <a:xfrm>
            <a:off x="5448952" y="1903931"/>
            <a:ext cx="1248937" cy="596591"/>
          </a:xfrm>
          <a:prstGeom prst="roundRect">
            <a:avLst/>
          </a:prstGeom>
          <a:solidFill>
            <a:schemeClr val="accent2"/>
          </a:solidFill>
          <a:ln w="19050"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a:ln>
                  <a:noFill/>
                </a:ln>
                <a:solidFill>
                  <a:schemeClr val="bg1"/>
                </a:solidFill>
                <a:effectLst/>
                <a:latin typeface="Arial Narrow" pitchFamily="34" charset="0"/>
              </a:rPr>
              <a:t>Forward Kinematics</a:t>
            </a:r>
          </a:p>
        </p:txBody>
      </p:sp>
      <p:cxnSp>
        <p:nvCxnSpPr>
          <p:cNvPr id="42" name="Straight Arrow Connector 41">
            <a:extLst>
              <a:ext uri="{FF2B5EF4-FFF2-40B4-BE49-F238E27FC236}">
                <a16:creationId xmlns:a16="http://schemas.microsoft.com/office/drawing/2014/main" id="{F5C12D76-BC3B-4534-BBF3-CACF772D1450}"/>
              </a:ext>
            </a:extLst>
          </p:cNvPr>
          <p:cNvCxnSpPr>
            <a:cxnSpLocks/>
            <a:stCxn id="40" idx="2"/>
            <a:endCxn id="61" idx="0"/>
          </p:cNvCxnSpPr>
          <p:nvPr userDrawn="1"/>
        </p:nvCxnSpPr>
        <p:spPr bwMode="auto">
          <a:xfrm>
            <a:off x="6073421" y="2500522"/>
            <a:ext cx="3407" cy="893370"/>
          </a:xfrm>
          <a:prstGeom prst="straightConnector1">
            <a:avLst/>
          </a:prstGeom>
          <a:noFill/>
          <a:ln w="25400" cap="flat" cmpd="sng" algn="ctr">
            <a:solidFill>
              <a:schemeClr val="accent1"/>
            </a:solidFill>
            <a:prstDash val="solid"/>
            <a:round/>
            <a:headEnd type="none" w="med" len="med"/>
            <a:tailEnd type="triangle"/>
          </a:ln>
          <a:effectLst/>
        </p:spPr>
      </p:cxnSp>
    </p:spTree>
    <p:extLst>
      <p:ext uri="{BB962C8B-B14F-4D97-AF65-F5344CB8AC3E}">
        <p14:creationId xmlns:p14="http://schemas.microsoft.com/office/powerpoint/2010/main" val="43296271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title">
  <p:cSld name="Title Slide">
    <p:bg>
      <p:bgPr>
        <a:solidFill>
          <a:schemeClr val="tx1"/>
        </a:solidFill>
        <a:effectLst/>
      </p:bgPr>
    </p:bg>
    <p:spTree>
      <p:nvGrpSpPr>
        <p:cNvPr id="1" name=""/>
        <p:cNvGrpSpPr/>
        <p:nvPr/>
      </p:nvGrpSpPr>
      <p:grpSpPr>
        <a:xfrm>
          <a:off x="0" y="0"/>
          <a:ext cx="0" cy="0"/>
          <a:chOff x="0" y="0"/>
          <a:chExt cx="0" cy="0"/>
        </a:xfrm>
      </p:grpSpPr>
      <p:pic>
        <p:nvPicPr>
          <p:cNvPr id="9" name="Picture 8"/>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750653" y="3539006"/>
            <a:ext cx="9443633" cy="3320717"/>
          </a:xfrm>
          <a:prstGeom prst="rect">
            <a:avLst/>
          </a:prstGeom>
        </p:spPr>
      </p:pic>
      <p:sp>
        <p:nvSpPr>
          <p:cNvPr id="2" name="Title 1"/>
          <p:cNvSpPr>
            <a:spLocks noGrp="1"/>
          </p:cNvSpPr>
          <p:nvPr>
            <p:ph type="ctrTitle"/>
          </p:nvPr>
        </p:nvSpPr>
        <p:spPr>
          <a:xfrm>
            <a:off x="716627" y="1343058"/>
            <a:ext cx="9392205" cy="1131159"/>
          </a:xfrm>
          <a:ln>
            <a:noFill/>
          </a:ln>
        </p:spPr>
        <p:txBody>
          <a:bodyPr/>
          <a:lstStyle>
            <a:lvl1pPr algn="l">
              <a:defRPr sz="4000" b="0" i="0">
                <a:solidFill>
                  <a:schemeClr val="bg1"/>
                </a:solidFill>
                <a:latin typeface="+mj-lt"/>
                <a:cs typeface="Arial"/>
              </a:defRPr>
            </a:lvl1pPr>
          </a:lstStyle>
          <a:p>
            <a:r>
              <a:rPr lang="en-US"/>
              <a:t>Click to edit Master title style</a:t>
            </a:r>
          </a:p>
        </p:txBody>
      </p:sp>
      <p:sp>
        <p:nvSpPr>
          <p:cNvPr id="3" name="Subtitle 2"/>
          <p:cNvSpPr>
            <a:spLocks noGrp="1"/>
          </p:cNvSpPr>
          <p:nvPr>
            <p:ph type="subTitle" idx="1"/>
          </p:nvPr>
        </p:nvSpPr>
        <p:spPr>
          <a:xfrm>
            <a:off x="384851" y="3373524"/>
            <a:ext cx="4820819" cy="1225253"/>
          </a:xfrm>
          <a:ln>
            <a:noFill/>
          </a:ln>
        </p:spPr>
        <p:txBody>
          <a:bodyPr>
            <a:normAutofit/>
          </a:bodyPr>
          <a:lstStyle>
            <a:lvl1pPr marL="0" indent="0" algn="l">
              <a:buNone/>
              <a:defRPr sz="2800">
                <a:solidFill>
                  <a:schemeClr val="bg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pic>
        <p:nvPicPr>
          <p:cNvPr id="6" name="Picture 5" descr="NASA insignia2Color.eps"/>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784838" y="186809"/>
            <a:ext cx="1058605" cy="656539"/>
          </a:xfrm>
          <a:prstGeom prst="rect">
            <a:avLst/>
          </a:prstGeom>
        </p:spPr>
      </p:pic>
      <p:sp>
        <p:nvSpPr>
          <p:cNvPr id="8" name="Footer Placeholder 4"/>
          <p:cNvSpPr>
            <a:spLocks noGrp="1"/>
          </p:cNvSpPr>
          <p:nvPr>
            <p:ph type="ftr" sz="quarter" idx="11"/>
          </p:nvPr>
        </p:nvSpPr>
        <p:spPr>
          <a:xfrm>
            <a:off x="606116" y="6417428"/>
            <a:ext cx="11084637" cy="281544"/>
          </a:xfrm>
          <a:prstGeom prst="rect">
            <a:avLst/>
          </a:prstGeom>
        </p:spPr>
        <p:txBody>
          <a:bodyPr/>
          <a:lstStyle>
            <a:lvl1pPr algn="ctr">
              <a:defRPr sz="1050">
                <a:solidFill>
                  <a:schemeClr val="bg1">
                    <a:lumMod val="95000"/>
                  </a:schemeClr>
                </a:solidFill>
              </a:defRPr>
            </a:lvl1pPr>
          </a:lstStyle>
          <a:p>
            <a:pPr fontAlgn="base">
              <a:spcBef>
                <a:spcPct val="0"/>
              </a:spcBef>
              <a:spcAft>
                <a:spcPct val="0"/>
              </a:spcAft>
              <a:defRPr/>
            </a:pPr>
            <a:endParaRPr lang="en-US">
              <a:solidFill>
                <a:prstClr val="white">
                  <a:lumMod val="95000"/>
                </a:prstClr>
              </a:solidFill>
            </a:endParaRPr>
          </a:p>
        </p:txBody>
      </p:sp>
      <p:pic>
        <p:nvPicPr>
          <p:cNvPr id="7" name="Picture 2" descr="Image result for white esa logo">
            <a:extLst>
              <a:ext uri="{FF2B5EF4-FFF2-40B4-BE49-F238E27FC236}">
                <a16:creationId xmlns:a16="http://schemas.microsoft.com/office/drawing/2014/main" id="{D5A18DFB-FB84-FE41-A56A-A20990485E38}"/>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565555" y="31222"/>
            <a:ext cx="2219283" cy="9677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04812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slideLayout" Target="../slideLayouts/slideLayout19.xml"/><Relationship Id="rId7" Type="http://schemas.openxmlformats.org/officeDocument/2006/relationships/image" Target="../media/image9.emf"/><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theme" Target="../theme/theme2.xml"/><Relationship Id="rId5" Type="http://schemas.openxmlformats.org/officeDocument/2006/relationships/slideLayout" Target="../slideLayouts/slideLayout21.xml"/><Relationship Id="rId4"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60D35CE0-BE9E-04E2-2621-F00930C32596}"/>
              </a:ext>
            </a:extLst>
          </p:cNvPr>
          <p:cNvSpPr>
            <a:spLocks noGrp="1"/>
          </p:cNvSpPr>
          <p:nvPr>
            <p:ph type="dt" sz="half" idx="2"/>
          </p:nvPr>
        </p:nvSpPr>
        <p:spPr>
          <a:xfrm>
            <a:off x="352612" y="6492875"/>
            <a:ext cx="1710884" cy="365125"/>
          </a:xfrm>
          <a:prstGeom prst="rect">
            <a:avLst/>
          </a:prstGeom>
        </p:spPr>
        <p:txBody>
          <a:bodyPr vert="horz" lIns="91440" tIns="45720" rIns="0" bIns="45720" rtlCol="0" anchor="ctr"/>
          <a:lstStyle>
            <a:lvl1pPr algn="l">
              <a:defRPr sz="800" b="0" i="0">
                <a:solidFill>
                  <a:schemeClr val="accent2"/>
                </a:solidFill>
                <a:latin typeface="Helvetica Neue" panose="02000503000000020004" pitchFamily="2" charset="0"/>
                <a:ea typeface="Helvetica Neue" panose="02000503000000020004" pitchFamily="2" charset="0"/>
                <a:cs typeface="Helvetica Neue" panose="02000503000000020004" pitchFamily="2" charset="0"/>
              </a:defRPr>
            </a:lvl1pPr>
          </a:lstStyle>
          <a:p>
            <a:r>
              <a:rPr lang="en-US" dirty="0"/>
              <a:t>DD/MM/YYYY</a:t>
            </a:r>
          </a:p>
        </p:txBody>
      </p:sp>
      <p:sp>
        <p:nvSpPr>
          <p:cNvPr id="7" name="Slide Number Placeholder 5">
            <a:extLst>
              <a:ext uri="{FF2B5EF4-FFF2-40B4-BE49-F238E27FC236}">
                <a16:creationId xmlns:a16="http://schemas.microsoft.com/office/drawing/2014/main" id="{C65E2747-DA59-7796-1E3F-3EC6A115C85F}"/>
              </a:ext>
            </a:extLst>
          </p:cNvPr>
          <p:cNvSpPr>
            <a:spLocks noGrp="1"/>
          </p:cNvSpPr>
          <p:nvPr>
            <p:ph type="sldNum" sz="quarter" idx="4"/>
          </p:nvPr>
        </p:nvSpPr>
        <p:spPr>
          <a:xfrm>
            <a:off x="10739671" y="6492875"/>
            <a:ext cx="667082" cy="365125"/>
          </a:xfrm>
          <a:prstGeom prst="rect">
            <a:avLst/>
          </a:prstGeom>
        </p:spPr>
        <p:txBody>
          <a:bodyPr vert="horz" lIns="91440" tIns="45720" rIns="91440" bIns="45720" rtlCol="0" anchor="ctr"/>
          <a:lstStyle>
            <a:lvl1pPr algn="r">
              <a:defRPr lang="en-US" sz="800" b="0" i="0" smtClean="0">
                <a:solidFill>
                  <a:schemeClr val="accent2"/>
                </a:solidFill>
                <a:latin typeface="Helvetica Neue" panose="02000503000000020004" pitchFamily="2" charset="0"/>
                <a:ea typeface="Helvetica Neue" panose="02000503000000020004" pitchFamily="2" charset="0"/>
                <a:cs typeface="Helvetica Neue" panose="02000503000000020004" pitchFamily="2" charset="0"/>
              </a:defRPr>
            </a:lvl1pPr>
          </a:lstStyle>
          <a:p>
            <a:fld id="{2D04F4CF-F641-6E4E-8F87-8EB8AA2BFA51}" type="slidenum">
              <a:rPr lang="en-US" smtClean="0"/>
              <a:pPr/>
              <a:t>‹#›</a:t>
            </a:fld>
            <a:endParaRPr lang="en-US"/>
          </a:p>
        </p:txBody>
      </p:sp>
      <p:sp>
        <p:nvSpPr>
          <p:cNvPr id="4" name="Footer Placeholder 4">
            <a:extLst>
              <a:ext uri="{FF2B5EF4-FFF2-40B4-BE49-F238E27FC236}">
                <a16:creationId xmlns:a16="http://schemas.microsoft.com/office/drawing/2014/main" id="{7E51E61B-E6F8-0827-169D-DB44CB6C8AEC}"/>
              </a:ext>
            </a:extLst>
          </p:cNvPr>
          <p:cNvSpPr>
            <a:spLocks noGrp="1"/>
          </p:cNvSpPr>
          <p:nvPr>
            <p:ph type="ftr" sz="quarter" idx="3"/>
          </p:nvPr>
        </p:nvSpPr>
        <p:spPr>
          <a:xfrm>
            <a:off x="2063496" y="6656832"/>
            <a:ext cx="8065008" cy="201168"/>
          </a:xfrm>
          <a:prstGeom prst="rect">
            <a:avLst/>
          </a:prstGeom>
        </p:spPr>
        <p:txBody>
          <a:bodyPr vert="horz" lIns="91440" tIns="45720" rIns="91440" bIns="45720" rtlCol="0" anchor="ctr"/>
          <a:lstStyle>
            <a:lvl1pPr algn="ctr">
              <a:defRPr sz="700" b="0" i="0">
                <a:solidFill>
                  <a:schemeClr val="tx1">
                    <a:tint val="75000"/>
                  </a:schemeClr>
                </a:solidFill>
                <a:latin typeface="+mn-lt"/>
                <a:cs typeface="Arial Narrow" panose="020B0604020202020204" pitchFamily="34" charset="0"/>
              </a:defRPr>
            </a:lvl1pPr>
          </a:lstStyle>
          <a:p>
            <a:r>
              <a:rPr lang="en-US"/>
              <a:t>The technical data in this document is controlled under the U.S. Export Regulations; release to foreign persons may require an export authorization.</a:t>
            </a:r>
          </a:p>
        </p:txBody>
      </p:sp>
      <p:sp>
        <p:nvSpPr>
          <p:cNvPr id="3" name="Slide Number Placeholder 5">
            <a:extLst>
              <a:ext uri="{FF2B5EF4-FFF2-40B4-BE49-F238E27FC236}">
                <a16:creationId xmlns:a16="http://schemas.microsoft.com/office/drawing/2014/main" id="{15AD9272-33AD-F9DB-D4A8-21EDA489DA60}"/>
              </a:ext>
            </a:extLst>
          </p:cNvPr>
          <p:cNvSpPr txBox="1">
            <a:spLocks/>
          </p:cNvSpPr>
          <p:nvPr userDrawn="1"/>
        </p:nvSpPr>
        <p:spPr>
          <a:xfrm>
            <a:off x="11172306" y="6492875"/>
            <a:ext cx="667082" cy="365125"/>
          </a:xfrm>
          <a:prstGeom prst="rect">
            <a:avLst/>
          </a:prstGeom>
        </p:spPr>
        <p:txBody>
          <a:bodyPr vert="horz" lIns="91440" tIns="45720" rIns="91440" bIns="45720" rtlCol="0" anchor="ctr"/>
          <a:lstStyle>
            <a:defPPr>
              <a:defRPr lang="en-US"/>
            </a:defPPr>
            <a:lvl1pPr marL="0" algn="ctr" defTabSz="914400" rtl="0" eaLnBrk="1" latinLnBrk="0" hangingPunct="1">
              <a:defRPr lang="en-US" sz="800" b="0" i="0" kern="1200" smtClean="0">
                <a:solidFill>
                  <a:srgbClr val="EB1B2C"/>
                </a:solidFill>
                <a:latin typeface="Helvetica Neue" panose="02000503000000020004" pitchFamily="2" charset="0"/>
                <a:ea typeface="Helvetica Neue" panose="02000503000000020004" pitchFamily="2" charset="0"/>
                <a:cs typeface="Helvetica Neue" panose="02000503000000020004"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accent2"/>
              </a:solidFill>
            </a:endParaRPr>
          </a:p>
        </p:txBody>
      </p:sp>
    </p:spTree>
    <p:extLst>
      <p:ext uri="{BB962C8B-B14F-4D97-AF65-F5344CB8AC3E}">
        <p14:creationId xmlns:p14="http://schemas.microsoft.com/office/powerpoint/2010/main" val="2573737425"/>
      </p:ext>
    </p:extLst>
  </p:cSld>
  <p:clrMap bg1="lt1" tx1="dk1" bg2="lt2" tx2="dk2" accent1="accent1" accent2="accent2" accent3="accent3" accent4="accent4" accent5="accent5" accent6="accent6" hlink="hlink" folHlink="folHlink"/>
  <p:sldLayoutIdLst>
    <p:sldLayoutId id="2147483781" r:id="rId1"/>
    <p:sldLayoutId id="2147483791" r:id="rId2"/>
    <p:sldLayoutId id="2147483783" r:id="rId3"/>
    <p:sldLayoutId id="2147483785" r:id="rId4"/>
    <p:sldLayoutId id="2147483787" r:id="rId5"/>
    <p:sldLayoutId id="2147483789" r:id="rId6"/>
    <p:sldLayoutId id="2147483782" r:id="rId7"/>
    <p:sldLayoutId id="2147483775" r:id="rId8"/>
    <p:sldLayoutId id="2147483784" r:id="rId9"/>
    <p:sldLayoutId id="2147483786" r:id="rId10"/>
    <p:sldLayoutId id="2147483788" r:id="rId11"/>
    <p:sldLayoutId id="2147483790" r:id="rId12"/>
    <p:sldLayoutId id="2147483778" r:id="rId13"/>
    <p:sldLayoutId id="2147483779" r:id="rId14"/>
    <p:sldLayoutId id="2147483798" r:id="rId15"/>
    <p:sldLayoutId id="2147483799" r:id="rId16"/>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78898" y="68261"/>
            <a:ext cx="8733367" cy="64293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306917" y="1143000"/>
            <a:ext cx="11582400" cy="15450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4"/>
          </p:nvPr>
        </p:nvSpPr>
        <p:spPr>
          <a:xfrm>
            <a:off x="11317500" y="6578070"/>
            <a:ext cx="878733" cy="275890"/>
          </a:xfrm>
          <a:prstGeom prst="rect">
            <a:avLst/>
          </a:prstGeom>
        </p:spPr>
        <p:txBody>
          <a:bodyPr vert="horz" wrap="square" lIns="91440" tIns="45720" rIns="91440" bIns="45720" rtlCol="0" anchor="ctr">
            <a:noAutofit/>
          </a:bodyPr>
          <a:lstStyle>
            <a:lvl1pPr algn="r">
              <a:defRPr sz="800">
                <a:solidFill>
                  <a:schemeClr val="tx1">
                    <a:tint val="75000"/>
                  </a:schemeClr>
                </a:solidFill>
                <a:latin typeface="+mn-lt"/>
                <a:ea typeface="ＭＳ Ｐゴシック" charset="0"/>
                <a:cs typeface="ＭＳ Ｐゴシック" charset="0"/>
              </a:defRPr>
            </a:lvl1pPr>
          </a:lstStyle>
          <a:p>
            <a:pPr fontAlgn="base">
              <a:spcBef>
                <a:spcPct val="0"/>
              </a:spcBef>
              <a:spcAft>
                <a:spcPct val="0"/>
              </a:spcAft>
              <a:defRPr/>
            </a:pPr>
            <a:fld id="{30DF542C-FC69-4885-BB89-B2986021DD27}" type="slidenum">
              <a:rPr lang="en-US" smtClean="0">
                <a:solidFill>
                  <a:prstClr val="black">
                    <a:tint val="75000"/>
                  </a:prstClr>
                </a:solidFill>
              </a:rPr>
              <a:pPr fontAlgn="base">
                <a:spcBef>
                  <a:spcPct val="0"/>
                </a:spcBef>
                <a:spcAft>
                  <a:spcPct val="0"/>
                </a:spcAft>
                <a:defRPr/>
              </a:pPr>
              <a:t>‹#›</a:t>
            </a:fld>
            <a:endParaRPr lang="en-US">
              <a:solidFill>
                <a:prstClr val="black">
                  <a:tint val="75000"/>
                </a:prstClr>
              </a:solidFill>
            </a:endParaRPr>
          </a:p>
        </p:txBody>
      </p:sp>
      <p:sp>
        <p:nvSpPr>
          <p:cNvPr id="1033" name="Rectangle 8"/>
          <p:cNvSpPr>
            <a:spLocks noChangeArrowheads="1"/>
          </p:cNvSpPr>
          <p:nvPr/>
        </p:nvSpPr>
        <p:spPr bwMode="auto">
          <a:xfrm rot="10800000" flipH="1">
            <a:off x="3863" y="876434"/>
            <a:ext cx="12187767" cy="26855"/>
          </a:xfrm>
          <a:prstGeom prst="rect">
            <a:avLst/>
          </a:prstGeom>
          <a:solidFill>
            <a:srgbClr val="800000"/>
          </a:solidFill>
          <a:ln w="9525">
            <a:solidFill>
              <a:srgbClr val="800000"/>
            </a:solidFill>
            <a:miter lim="800000"/>
            <a:headEnd/>
            <a:tailEnd/>
          </a:ln>
        </p:spPr>
        <p:txBody>
          <a:bodyPr wrap="none" anchor="ctr"/>
          <a:lstStyle/>
          <a:p>
            <a:pPr defTabSz="914400" fontAlgn="base">
              <a:spcBef>
                <a:spcPct val="0"/>
              </a:spcBef>
              <a:spcAft>
                <a:spcPct val="0"/>
              </a:spcAft>
            </a:pPr>
            <a:endParaRPr lang="en-US" sz="1800">
              <a:solidFill>
                <a:prstClr val="black"/>
              </a:solidFill>
              <a:latin typeface="Arial" pitchFamily="34" charset="0"/>
              <a:ea typeface="ＭＳ Ｐゴシック" pitchFamily="34" charset="-128"/>
            </a:endParaRPr>
          </a:p>
        </p:txBody>
      </p:sp>
      <p:sp>
        <p:nvSpPr>
          <p:cNvPr id="1034" name="Rectangle 7"/>
          <p:cNvSpPr>
            <a:spLocks noChangeArrowheads="1"/>
          </p:cNvSpPr>
          <p:nvPr/>
        </p:nvSpPr>
        <p:spPr bwMode="auto">
          <a:xfrm rot="10800000" flipH="1">
            <a:off x="-2117" y="711201"/>
            <a:ext cx="12198351" cy="145333"/>
          </a:xfrm>
          <a:prstGeom prst="rect">
            <a:avLst/>
          </a:prstGeom>
          <a:gradFill flip="none" rotWithShape="1">
            <a:gsLst>
              <a:gs pos="0">
                <a:schemeClr val="tx2">
                  <a:lumMod val="60000"/>
                  <a:lumOff val="40000"/>
                </a:schemeClr>
              </a:gs>
              <a:gs pos="78000">
                <a:schemeClr val="accent5">
                  <a:lumMod val="75000"/>
                </a:schemeClr>
              </a:gs>
            </a:gsLst>
            <a:lin ang="0" scaled="1"/>
            <a:tileRect/>
          </a:gradFill>
          <a:ln w="9525">
            <a:noFill/>
            <a:miter lim="800000"/>
            <a:headEnd/>
            <a:tailEnd/>
          </a:ln>
        </p:spPr>
        <p:txBody>
          <a:bodyPr rot="10800000" wrap="none" anchor="ctr"/>
          <a:lstStyle/>
          <a:p>
            <a:pPr algn="r" defTabSz="914400" fontAlgn="base">
              <a:spcBef>
                <a:spcPct val="0"/>
              </a:spcBef>
              <a:spcAft>
                <a:spcPct val="0"/>
              </a:spcAft>
            </a:pPr>
            <a:r>
              <a:rPr lang="en-US" sz="1050">
                <a:solidFill>
                  <a:prstClr val="white"/>
                </a:solidFill>
                <a:latin typeface="Helvetica Light"/>
                <a:ea typeface="Helvetica Light"/>
                <a:cs typeface="Helvetica Light"/>
              </a:rPr>
              <a:t>Mars Sample Return</a:t>
            </a:r>
            <a:r>
              <a:rPr lang="en-US" sz="1050" baseline="0">
                <a:solidFill>
                  <a:prstClr val="white"/>
                </a:solidFill>
                <a:latin typeface="Helvetica Light"/>
                <a:ea typeface="Helvetica Light"/>
                <a:cs typeface="Helvetica Light"/>
              </a:rPr>
              <a:t> Mission Concept Review </a:t>
            </a:r>
            <a:endParaRPr lang="en-US" sz="1050">
              <a:solidFill>
                <a:prstClr val="white"/>
              </a:solidFill>
              <a:latin typeface="Helvetica Light"/>
              <a:ea typeface="Helvetica Light"/>
              <a:cs typeface="Helvetica Light"/>
            </a:endParaRPr>
          </a:p>
        </p:txBody>
      </p:sp>
      <p:pic>
        <p:nvPicPr>
          <p:cNvPr id="12" name="Picture 11" descr="NASA insignia2Color.eps"/>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698262" y="38337"/>
            <a:ext cx="1058605" cy="656539"/>
          </a:xfrm>
          <a:prstGeom prst="rect">
            <a:avLst/>
          </a:prstGeom>
        </p:spPr>
      </p:pic>
      <p:sp>
        <p:nvSpPr>
          <p:cNvPr id="9" name="Footer Placeholder 4"/>
          <p:cNvSpPr>
            <a:spLocks noGrp="1"/>
          </p:cNvSpPr>
          <p:nvPr>
            <p:ph type="ftr" sz="quarter" idx="11"/>
          </p:nvPr>
        </p:nvSpPr>
        <p:spPr>
          <a:xfrm>
            <a:off x="606116" y="6476530"/>
            <a:ext cx="11084637" cy="281544"/>
          </a:xfrm>
          <a:prstGeom prst="rect">
            <a:avLst/>
          </a:prstGeom>
        </p:spPr>
        <p:txBody>
          <a:bodyPr/>
          <a:lstStyle>
            <a:lvl1pPr algn="ctr">
              <a:defRPr sz="1050">
                <a:solidFill>
                  <a:schemeClr val="tx1"/>
                </a:solidFill>
              </a:defRPr>
            </a:lvl1pPr>
          </a:lstStyle>
          <a:p>
            <a:pPr fontAlgn="base">
              <a:spcBef>
                <a:spcPct val="0"/>
              </a:spcBef>
              <a:spcAft>
                <a:spcPct val="0"/>
              </a:spcAft>
              <a:defRPr/>
            </a:pPr>
            <a:endParaRPr lang="en-US"/>
          </a:p>
        </p:txBody>
      </p:sp>
      <p:pic>
        <p:nvPicPr>
          <p:cNvPr id="10" name="Picture 2" descr="Image result for esa logo">
            <a:extLst>
              <a:ext uri="{FF2B5EF4-FFF2-40B4-BE49-F238E27FC236}">
                <a16:creationId xmlns:a16="http://schemas.microsoft.com/office/drawing/2014/main" id="{3E70EF99-41E5-FF46-BFBA-14F65CA73830}"/>
              </a:ext>
            </a:extLst>
          </p:cNvPr>
          <p:cNvPicPr>
            <a:picLocks noChangeAspect="1" noChangeArrowheads="1"/>
          </p:cNvPicPr>
          <p:nvPr userDrawn="1"/>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301129" y="-73354"/>
            <a:ext cx="2409403" cy="8970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2910238"/>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Lst>
  <p:hf hdr="0" ftr="0" dt="0"/>
  <p:txStyles>
    <p:titleStyle>
      <a:lvl1pPr algn="l" rtl="0" eaLnBrk="1" fontAlgn="base" hangingPunct="1">
        <a:spcBef>
          <a:spcPct val="0"/>
        </a:spcBef>
        <a:spcAft>
          <a:spcPct val="0"/>
        </a:spcAft>
        <a:defRPr sz="2400" b="1">
          <a:solidFill>
            <a:schemeClr val="tx1"/>
          </a:solidFill>
          <a:latin typeface="Arial"/>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p:titleStyle>
    <p:bodyStyle>
      <a:lvl1pPr marL="342900" indent="-342900" algn="l" rtl="0" eaLnBrk="1" fontAlgn="base" hangingPunct="1">
        <a:spcBef>
          <a:spcPct val="20000"/>
        </a:spcBef>
        <a:spcAft>
          <a:spcPct val="0"/>
        </a:spcAft>
        <a:buChar char="•"/>
        <a:defRPr sz="2000">
          <a:solidFill>
            <a:schemeClr val="tx1"/>
          </a:solidFill>
          <a:latin typeface="Arial"/>
          <a:ea typeface="ＭＳ Ｐゴシック" charset="0"/>
          <a:cs typeface="Arial"/>
        </a:defRPr>
      </a:lvl1pPr>
      <a:lvl2pPr marL="742950" indent="-285750" algn="l" rtl="0" eaLnBrk="1" fontAlgn="base" hangingPunct="1">
        <a:spcBef>
          <a:spcPct val="20000"/>
        </a:spcBef>
        <a:spcAft>
          <a:spcPct val="0"/>
        </a:spcAft>
        <a:buChar char="–"/>
        <a:defRPr sz="1800">
          <a:solidFill>
            <a:schemeClr val="tx1"/>
          </a:solidFill>
          <a:latin typeface="Arial"/>
          <a:ea typeface="ＭＳ Ｐゴシック" charset="-128"/>
          <a:cs typeface="Arial"/>
        </a:defRPr>
      </a:lvl2pPr>
      <a:lvl3pPr marL="1143000" indent="-228600" algn="l" rtl="0" eaLnBrk="1" fontAlgn="base" hangingPunct="1">
        <a:spcBef>
          <a:spcPct val="20000"/>
        </a:spcBef>
        <a:spcAft>
          <a:spcPct val="0"/>
        </a:spcAft>
        <a:buChar char="•"/>
        <a:defRPr sz="1600">
          <a:solidFill>
            <a:schemeClr val="tx1"/>
          </a:solidFill>
          <a:latin typeface="Arial"/>
          <a:ea typeface="ＭＳ Ｐゴシック" charset="-128"/>
          <a:cs typeface="Arial"/>
        </a:defRPr>
      </a:lvl3pPr>
      <a:lvl4pPr marL="1600200" indent="-228600" algn="l" rtl="0" eaLnBrk="1" fontAlgn="base" hangingPunct="1">
        <a:spcBef>
          <a:spcPct val="20000"/>
        </a:spcBef>
        <a:spcAft>
          <a:spcPct val="0"/>
        </a:spcAft>
        <a:buChar char="–"/>
        <a:defRPr sz="1400">
          <a:solidFill>
            <a:schemeClr val="tx1"/>
          </a:solidFill>
          <a:latin typeface="Arial"/>
          <a:ea typeface="ＭＳ Ｐゴシック" charset="-128"/>
          <a:cs typeface="Arial"/>
        </a:defRPr>
      </a:lvl4pPr>
      <a:lvl5pPr marL="2057400" indent="-228600" algn="l" rtl="0" eaLnBrk="1" fontAlgn="base" hangingPunct="1">
        <a:spcBef>
          <a:spcPct val="20000"/>
        </a:spcBef>
        <a:spcAft>
          <a:spcPct val="0"/>
        </a:spcAft>
        <a:buChar char="»"/>
        <a:defRPr sz="1200">
          <a:solidFill>
            <a:schemeClr val="tx1"/>
          </a:solidFill>
          <a:latin typeface="Arial"/>
          <a:ea typeface="ＭＳ Ｐゴシック" charset="-128"/>
          <a:cs typeface="Arial"/>
        </a:defRPr>
      </a:lvl5pPr>
      <a:lvl6pPr marL="2514600" indent="-228600" algn="l" rtl="0" eaLnBrk="1" fontAlgn="base" hangingPunct="1">
        <a:spcBef>
          <a:spcPct val="20000"/>
        </a:spcBef>
        <a:spcAft>
          <a:spcPct val="0"/>
        </a:spcAft>
        <a:buChar char="»"/>
        <a:defRPr sz="1400">
          <a:solidFill>
            <a:srgbClr val="004080"/>
          </a:solidFill>
          <a:latin typeface="+mn-lt"/>
        </a:defRPr>
      </a:lvl6pPr>
      <a:lvl7pPr marL="2971800" indent="-228600" algn="l" rtl="0" eaLnBrk="1" fontAlgn="base" hangingPunct="1">
        <a:spcBef>
          <a:spcPct val="20000"/>
        </a:spcBef>
        <a:spcAft>
          <a:spcPct val="0"/>
        </a:spcAft>
        <a:buChar char="»"/>
        <a:defRPr sz="1400">
          <a:solidFill>
            <a:srgbClr val="004080"/>
          </a:solidFill>
          <a:latin typeface="+mn-lt"/>
        </a:defRPr>
      </a:lvl7pPr>
      <a:lvl8pPr marL="3429000" indent="-228600" algn="l" rtl="0" eaLnBrk="1" fontAlgn="base" hangingPunct="1">
        <a:spcBef>
          <a:spcPct val="20000"/>
        </a:spcBef>
        <a:spcAft>
          <a:spcPct val="0"/>
        </a:spcAft>
        <a:buChar char="»"/>
        <a:defRPr sz="1400">
          <a:solidFill>
            <a:srgbClr val="004080"/>
          </a:solidFill>
          <a:latin typeface="+mn-lt"/>
        </a:defRPr>
      </a:lvl8pPr>
      <a:lvl9pPr marL="3886200" indent="-228600" algn="l" rtl="0" eaLnBrk="1" fontAlgn="base" hangingPunct="1">
        <a:spcBef>
          <a:spcPct val="20000"/>
        </a:spcBef>
        <a:spcAft>
          <a:spcPct val="0"/>
        </a:spcAft>
        <a:buChar char="»"/>
        <a:defRPr sz="1400">
          <a:solidFill>
            <a:srgbClr val="004080"/>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32.png"/><Relationship Id="rId4" Type="http://schemas.openxmlformats.org/officeDocument/2006/relationships/image" Target="../media/image31.png"/></Relationships>
</file>

<file path=ppt/slides/_rels/slide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5.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xml"/><Relationship Id="rId1" Type="http://schemas.openxmlformats.org/officeDocument/2006/relationships/slideLayout" Target="../slideLayouts/slideLayout15.xml"/><Relationship Id="rId5" Type="http://schemas.openxmlformats.org/officeDocument/2006/relationships/image" Target="../media/image40.png"/><Relationship Id="rId4" Type="http://schemas.openxmlformats.org/officeDocument/2006/relationships/image" Target="../media/image39.png"/></Relationships>
</file>

<file path=ppt/slides/_rels/slide1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8.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430.pn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52.png"/><Relationship Id="rId2" Type="http://schemas.openxmlformats.org/officeDocument/2006/relationships/image" Target="../media/image51.png"/><Relationship Id="rId1" Type="http://schemas.openxmlformats.org/officeDocument/2006/relationships/slideLayout" Target="../slideLayouts/slideLayout17.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97.png"/></Relationships>
</file>

<file path=ppt/slides/_rels/slide2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600.png"/><Relationship Id="rId1" Type="http://schemas.openxmlformats.org/officeDocument/2006/relationships/slideLayout" Target="../slideLayouts/slideLayout17.xml"/><Relationship Id="rId5" Type="http://schemas.openxmlformats.org/officeDocument/2006/relationships/image" Target="../media/image56.png"/><Relationship Id="rId4" Type="http://schemas.openxmlformats.org/officeDocument/2006/relationships/image" Target="../media/image55.png"/></Relationships>
</file>

<file path=ppt/slides/_rels/slide2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2.png"/><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94EB2-A825-405A-848E-BB6E20A7DF4B}"/>
              </a:ext>
            </a:extLst>
          </p:cNvPr>
          <p:cNvSpPr>
            <a:spLocks noGrp="1"/>
          </p:cNvSpPr>
          <p:nvPr>
            <p:ph type="ctrTitle"/>
          </p:nvPr>
        </p:nvSpPr>
        <p:spPr/>
        <p:txBody>
          <a:bodyPr/>
          <a:lstStyle/>
          <a:p>
            <a:r>
              <a:rPr lang="en-US" sz="2800" dirty="0"/>
              <a:t>ICM ConOps &amp; Budgets Update</a:t>
            </a:r>
          </a:p>
        </p:txBody>
      </p:sp>
      <p:sp>
        <p:nvSpPr>
          <p:cNvPr id="3" name="Subtitle 2">
            <a:extLst>
              <a:ext uri="{FF2B5EF4-FFF2-40B4-BE49-F238E27FC236}">
                <a16:creationId xmlns:a16="http://schemas.microsoft.com/office/drawing/2014/main" id="{C7C30EA5-3819-405D-BE1C-194EC72CBEB1}"/>
              </a:ext>
            </a:extLst>
          </p:cNvPr>
          <p:cNvSpPr>
            <a:spLocks noGrp="1"/>
          </p:cNvSpPr>
          <p:nvPr>
            <p:ph type="subTitle" idx="1"/>
          </p:nvPr>
        </p:nvSpPr>
        <p:spPr/>
        <p:txBody>
          <a:bodyPr/>
          <a:lstStyle/>
          <a:p>
            <a:r>
              <a:rPr lang="en-US" dirty="0"/>
              <a:t>Joseph Bowkett</a:t>
            </a:r>
          </a:p>
        </p:txBody>
      </p:sp>
      <p:sp>
        <p:nvSpPr>
          <p:cNvPr id="4" name="Text Placeholder 3">
            <a:extLst>
              <a:ext uri="{FF2B5EF4-FFF2-40B4-BE49-F238E27FC236}">
                <a16:creationId xmlns:a16="http://schemas.microsoft.com/office/drawing/2014/main" id="{10680B02-26A3-4AC2-85BD-D7FB90C14579}"/>
              </a:ext>
            </a:extLst>
          </p:cNvPr>
          <p:cNvSpPr>
            <a:spLocks noGrp="1"/>
          </p:cNvSpPr>
          <p:nvPr>
            <p:ph type="body" sz="quarter" idx="12"/>
          </p:nvPr>
        </p:nvSpPr>
        <p:spPr/>
        <p:txBody>
          <a:bodyPr/>
          <a:lstStyle/>
          <a:p>
            <a:r>
              <a:rPr lang="en-US" dirty="0"/>
              <a:t>2023-12-06</a:t>
            </a:r>
          </a:p>
        </p:txBody>
      </p:sp>
      <p:sp>
        <p:nvSpPr>
          <p:cNvPr id="5" name="Text Placeholder 4">
            <a:extLst>
              <a:ext uri="{FF2B5EF4-FFF2-40B4-BE49-F238E27FC236}">
                <a16:creationId xmlns:a16="http://schemas.microsoft.com/office/drawing/2014/main" id="{4D2F7DD8-221D-4FD2-AC7C-9C53AB8323A4}"/>
              </a:ext>
            </a:extLst>
          </p:cNvPr>
          <p:cNvSpPr>
            <a:spLocks noGrp="1"/>
          </p:cNvSpPr>
          <p:nvPr>
            <p:ph type="body" sz="quarter" idx="13"/>
          </p:nvPr>
        </p:nvSpPr>
        <p:spPr/>
        <p:txBody>
          <a:bodyPr/>
          <a:lstStyle/>
          <a:p>
            <a:endParaRPr lang="en-US"/>
          </a:p>
        </p:txBody>
      </p:sp>
      <p:sp>
        <p:nvSpPr>
          <p:cNvPr id="6" name="Text Placeholder 5">
            <a:extLst>
              <a:ext uri="{FF2B5EF4-FFF2-40B4-BE49-F238E27FC236}">
                <a16:creationId xmlns:a16="http://schemas.microsoft.com/office/drawing/2014/main" id="{A58A014F-C6D9-42AC-BACB-E499D10BC970}"/>
              </a:ext>
            </a:extLst>
          </p:cNvPr>
          <p:cNvSpPr>
            <a:spLocks noGrp="1"/>
          </p:cNvSpPr>
          <p:nvPr>
            <p:ph type="body" sz="quarter" idx="14"/>
          </p:nvPr>
        </p:nvSpPr>
        <p:spPr/>
        <p:txBody>
          <a:bodyPr/>
          <a:lstStyle/>
          <a:p>
            <a:r>
              <a:rPr lang="en-US" dirty="0"/>
              <a:t>MSR-SRL-STS In-Contact Manipulation</a:t>
            </a:r>
          </a:p>
        </p:txBody>
      </p:sp>
      <p:sp>
        <p:nvSpPr>
          <p:cNvPr id="7" name="Text Placeholder 6">
            <a:extLst>
              <a:ext uri="{FF2B5EF4-FFF2-40B4-BE49-F238E27FC236}">
                <a16:creationId xmlns:a16="http://schemas.microsoft.com/office/drawing/2014/main" id="{C9A5273F-56FF-48D5-B84B-7265DE1F208B}"/>
              </a:ext>
            </a:extLst>
          </p:cNvPr>
          <p:cNvSpPr>
            <a:spLocks noGrp="1"/>
          </p:cNvSpPr>
          <p:nvPr>
            <p:ph type="body" sz="quarter" idx="15"/>
          </p:nvPr>
        </p:nvSpPr>
        <p:spPr/>
        <p:txBody>
          <a:bodyPr/>
          <a:lstStyle/>
          <a:p>
            <a:r>
              <a:rPr lang="en-US" dirty="0"/>
              <a:t>Sample Transfer &amp; Handling System</a:t>
            </a:r>
          </a:p>
        </p:txBody>
      </p:sp>
      <p:sp>
        <p:nvSpPr>
          <p:cNvPr id="8" name="Text Placeholder 7">
            <a:extLst>
              <a:ext uri="{FF2B5EF4-FFF2-40B4-BE49-F238E27FC236}">
                <a16:creationId xmlns:a16="http://schemas.microsoft.com/office/drawing/2014/main" id="{326FBCAB-300C-43A7-9DB5-D40DDB5A805C}"/>
              </a:ext>
            </a:extLst>
          </p:cNvPr>
          <p:cNvSpPr>
            <a:spLocks noGrp="1"/>
          </p:cNvSpPr>
          <p:nvPr>
            <p:ph type="body" sz="quarter" idx="16"/>
          </p:nvPr>
        </p:nvSpPr>
        <p:spPr/>
        <p:txBody>
          <a:bodyPr/>
          <a:lstStyle/>
          <a:p>
            <a:endParaRPr lang="en-US"/>
          </a:p>
        </p:txBody>
      </p:sp>
    </p:spTree>
    <p:extLst>
      <p:ext uri="{BB962C8B-B14F-4D97-AF65-F5344CB8AC3E}">
        <p14:creationId xmlns:p14="http://schemas.microsoft.com/office/powerpoint/2010/main" val="29219093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46A1EFF-70CB-A36B-B7EF-93320581BAD2}"/>
              </a:ext>
            </a:extLst>
          </p:cNvPr>
          <p:cNvSpPr>
            <a:spLocks noGrp="1"/>
          </p:cNvSpPr>
          <p:nvPr>
            <p:ph type="body" sz="quarter" idx="17"/>
          </p:nvPr>
        </p:nvSpPr>
        <p:spPr/>
        <p:txBody>
          <a:bodyPr>
            <a:normAutofit/>
          </a:bodyPr>
          <a:lstStyle/>
          <a:p>
            <a:r>
              <a:rPr lang="en-US" sz="4000" dirty="0"/>
              <a:t>Joel Model Progress</a:t>
            </a:r>
          </a:p>
          <a:p>
            <a:r>
              <a:rPr lang="en-US" sz="4000" dirty="0"/>
              <a:t>Preston Model Progress</a:t>
            </a:r>
          </a:p>
          <a:p>
            <a:r>
              <a:rPr lang="en-US" sz="4000" dirty="0"/>
              <a:t>Budget Status (</a:t>
            </a:r>
            <a:r>
              <a:rPr lang="en-US" sz="4000" dirty="0" err="1"/>
              <a:t>w.r.t.</a:t>
            </a:r>
            <a:r>
              <a:rPr lang="en-US" sz="4000" dirty="0"/>
              <a:t> updated models)</a:t>
            </a:r>
          </a:p>
          <a:p>
            <a:r>
              <a:rPr lang="en-US" sz="4000" dirty="0"/>
              <a:t>Asimov C6 Agile Initial Results</a:t>
            </a:r>
          </a:p>
          <a:p>
            <a:r>
              <a:rPr lang="en-US" sz="4000" dirty="0"/>
              <a:t>Model Validation Plan thru TTR (Q2 FY24)</a:t>
            </a:r>
          </a:p>
          <a:p>
            <a:r>
              <a:rPr lang="en-US" sz="4000" dirty="0"/>
              <a:t>Updated Peg-in-Hole ConOps</a:t>
            </a:r>
          </a:p>
          <a:p>
            <a:r>
              <a:rPr lang="en-US" sz="4000" dirty="0"/>
              <a:t>Summary</a:t>
            </a:r>
          </a:p>
        </p:txBody>
      </p:sp>
      <p:sp>
        <p:nvSpPr>
          <p:cNvPr id="3" name="Title 2">
            <a:extLst>
              <a:ext uri="{FF2B5EF4-FFF2-40B4-BE49-F238E27FC236}">
                <a16:creationId xmlns:a16="http://schemas.microsoft.com/office/drawing/2014/main" id="{191212DD-8ED0-269B-4FB9-AC9622F17855}"/>
              </a:ext>
            </a:extLst>
          </p:cNvPr>
          <p:cNvSpPr>
            <a:spLocks noGrp="1"/>
          </p:cNvSpPr>
          <p:nvPr>
            <p:ph type="title"/>
          </p:nvPr>
        </p:nvSpPr>
        <p:spPr/>
        <p:txBody>
          <a:bodyPr/>
          <a:lstStyle/>
          <a:p>
            <a:r>
              <a:rPr lang="en-US" sz="2800" dirty="0"/>
              <a:t>Contents: ICM ConOps &amp; Budgets Update</a:t>
            </a:r>
            <a:endParaRPr lang="en-US" dirty="0"/>
          </a:p>
        </p:txBody>
      </p:sp>
      <p:sp>
        <p:nvSpPr>
          <p:cNvPr id="4" name="Date Placeholder 3">
            <a:extLst>
              <a:ext uri="{FF2B5EF4-FFF2-40B4-BE49-F238E27FC236}">
                <a16:creationId xmlns:a16="http://schemas.microsoft.com/office/drawing/2014/main" id="{8064F496-8D75-DD4D-BC27-1F29B94265A2}"/>
              </a:ext>
            </a:extLst>
          </p:cNvPr>
          <p:cNvSpPr>
            <a:spLocks noGrp="1"/>
          </p:cNvSpPr>
          <p:nvPr>
            <p:ph type="dt" sz="half" idx="18"/>
          </p:nvPr>
        </p:nvSpPr>
        <p:spPr/>
        <p:txBody>
          <a:bodyPr/>
          <a:lstStyle/>
          <a:p>
            <a:r>
              <a:rPr lang="en-US"/>
              <a:t>DD/MM/YYYY</a:t>
            </a:r>
          </a:p>
        </p:txBody>
      </p:sp>
      <p:sp>
        <p:nvSpPr>
          <p:cNvPr id="5" name="Footer Placeholder 4">
            <a:extLst>
              <a:ext uri="{FF2B5EF4-FFF2-40B4-BE49-F238E27FC236}">
                <a16:creationId xmlns:a16="http://schemas.microsoft.com/office/drawing/2014/main" id="{9D18B52E-DEF1-1EB7-2E49-D9E8CAE9DF2D}"/>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6" name="Slide Number Placeholder 5">
            <a:extLst>
              <a:ext uri="{FF2B5EF4-FFF2-40B4-BE49-F238E27FC236}">
                <a16:creationId xmlns:a16="http://schemas.microsoft.com/office/drawing/2014/main" id="{4F066490-1192-619E-065A-19E851AFC0A0}"/>
              </a:ext>
            </a:extLst>
          </p:cNvPr>
          <p:cNvSpPr>
            <a:spLocks noGrp="1"/>
          </p:cNvSpPr>
          <p:nvPr>
            <p:ph type="sldNum" sz="quarter" idx="20"/>
          </p:nvPr>
        </p:nvSpPr>
        <p:spPr/>
        <p:txBody>
          <a:bodyPr/>
          <a:lstStyle/>
          <a:p>
            <a:fld id="{2D04F4CF-F641-6E4E-8F87-8EB8AA2BFA51}" type="slidenum">
              <a:rPr lang="en-US" smtClean="0"/>
              <a:pPr/>
              <a:t>2</a:t>
            </a:fld>
            <a:endParaRPr lang="en-US"/>
          </a:p>
        </p:txBody>
      </p:sp>
    </p:spTree>
    <p:extLst>
      <p:ext uri="{BB962C8B-B14F-4D97-AF65-F5344CB8AC3E}">
        <p14:creationId xmlns:p14="http://schemas.microsoft.com/office/powerpoint/2010/main" val="37968759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D74BE8-90FD-EB8C-59DA-6FE60A3EBA1C}"/>
              </a:ext>
            </a:extLst>
          </p:cNvPr>
          <p:cNvSpPr>
            <a:spLocks noGrp="1"/>
          </p:cNvSpPr>
          <p:nvPr>
            <p:ph type="title"/>
          </p:nvPr>
        </p:nvSpPr>
        <p:spPr/>
        <p:txBody>
          <a:bodyPr/>
          <a:lstStyle/>
          <a:p>
            <a:r>
              <a:rPr lang="en-US" dirty="0"/>
              <a:t>Joel Model Progress</a:t>
            </a:r>
          </a:p>
        </p:txBody>
      </p:sp>
      <p:sp>
        <p:nvSpPr>
          <p:cNvPr id="4" name="Date Placeholder 3">
            <a:extLst>
              <a:ext uri="{FF2B5EF4-FFF2-40B4-BE49-F238E27FC236}">
                <a16:creationId xmlns:a16="http://schemas.microsoft.com/office/drawing/2014/main" id="{D2796586-9308-F1FB-5F38-CE17DB7E1178}"/>
              </a:ext>
            </a:extLst>
          </p:cNvPr>
          <p:cNvSpPr>
            <a:spLocks noGrp="1"/>
          </p:cNvSpPr>
          <p:nvPr>
            <p:ph type="dt" sz="half" idx="18"/>
          </p:nvPr>
        </p:nvSpPr>
        <p:spPr/>
        <p:txBody>
          <a:bodyPr/>
          <a:lstStyle/>
          <a:p>
            <a:r>
              <a:rPr lang="en-US"/>
              <a:t>DD/MM/YYYY</a:t>
            </a:r>
          </a:p>
        </p:txBody>
      </p:sp>
      <p:sp>
        <p:nvSpPr>
          <p:cNvPr id="5" name="Footer Placeholder 4">
            <a:extLst>
              <a:ext uri="{FF2B5EF4-FFF2-40B4-BE49-F238E27FC236}">
                <a16:creationId xmlns:a16="http://schemas.microsoft.com/office/drawing/2014/main" id="{BB32DAB0-7DD8-5931-46E4-1F0E08D48B08}"/>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6" name="Slide Number Placeholder 5">
            <a:extLst>
              <a:ext uri="{FF2B5EF4-FFF2-40B4-BE49-F238E27FC236}">
                <a16:creationId xmlns:a16="http://schemas.microsoft.com/office/drawing/2014/main" id="{83E4427C-2CA8-B90E-F16C-23231E3FE281}"/>
              </a:ext>
            </a:extLst>
          </p:cNvPr>
          <p:cNvSpPr>
            <a:spLocks noGrp="1"/>
          </p:cNvSpPr>
          <p:nvPr>
            <p:ph type="sldNum" sz="quarter" idx="20"/>
          </p:nvPr>
        </p:nvSpPr>
        <p:spPr/>
        <p:txBody>
          <a:bodyPr/>
          <a:lstStyle/>
          <a:p>
            <a:fld id="{2D04F4CF-F641-6E4E-8F87-8EB8AA2BFA51}" type="slidenum">
              <a:rPr lang="en-US" smtClean="0"/>
              <a:pPr/>
              <a:t>3</a:t>
            </a:fld>
            <a:endParaRPr lang="en-US"/>
          </a:p>
        </p:txBody>
      </p:sp>
      <p:sp>
        <p:nvSpPr>
          <p:cNvPr id="27" name="Text Placeholder 1">
            <a:extLst>
              <a:ext uri="{FF2B5EF4-FFF2-40B4-BE49-F238E27FC236}">
                <a16:creationId xmlns:a16="http://schemas.microsoft.com/office/drawing/2014/main" id="{9DE558EA-9492-D75A-736B-5FB6B9814C49}"/>
              </a:ext>
            </a:extLst>
          </p:cNvPr>
          <p:cNvSpPr>
            <a:spLocks noGrp="1"/>
          </p:cNvSpPr>
          <p:nvPr>
            <p:ph type="body" sz="quarter" idx="17"/>
          </p:nvPr>
        </p:nvSpPr>
        <p:spPr>
          <a:xfrm>
            <a:off x="276222" y="1103488"/>
            <a:ext cx="4429591" cy="2346307"/>
          </a:xfrm>
        </p:spPr>
        <p:txBody>
          <a:bodyPr>
            <a:normAutofit lnSpcReduction="10000"/>
          </a:bodyPr>
          <a:lstStyle/>
          <a:p>
            <a:pPr marL="0" indent="0">
              <a:buNone/>
            </a:pPr>
            <a:r>
              <a:rPr lang="en-US" dirty="0"/>
              <a:t>JPL’s updated “actuator model” recently delivered by 3434 analyst.</a:t>
            </a:r>
          </a:p>
          <a:p>
            <a:pPr marL="0" indent="0">
              <a:buNone/>
            </a:pPr>
            <a:endParaRPr lang="en-US" dirty="0"/>
          </a:p>
          <a:p>
            <a:pPr marL="0" indent="0">
              <a:buNone/>
            </a:pPr>
            <a:r>
              <a:rPr lang="en-US" dirty="0"/>
              <a:t>Both Simulink and Transfer Function match the LDO quoted performance for same gain selection.</a:t>
            </a:r>
            <a:br>
              <a:rPr lang="en-US" dirty="0"/>
            </a:br>
            <a:br>
              <a:rPr lang="en-US" dirty="0"/>
            </a:br>
            <a:r>
              <a:rPr lang="en-US" dirty="0"/>
              <a:t>LDO velocity loop gains and stability:</a:t>
            </a:r>
          </a:p>
        </p:txBody>
      </p:sp>
      <p:grpSp>
        <p:nvGrpSpPr>
          <p:cNvPr id="28" name="Group 27">
            <a:extLst>
              <a:ext uri="{FF2B5EF4-FFF2-40B4-BE49-F238E27FC236}">
                <a16:creationId xmlns:a16="http://schemas.microsoft.com/office/drawing/2014/main" id="{C7BE4A1B-0CA4-9388-4340-238954656099}"/>
              </a:ext>
            </a:extLst>
          </p:cNvPr>
          <p:cNvGrpSpPr/>
          <p:nvPr/>
        </p:nvGrpSpPr>
        <p:grpSpPr>
          <a:xfrm>
            <a:off x="4995856" y="870711"/>
            <a:ext cx="7131095" cy="4369923"/>
            <a:chOff x="4995856" y="870711"/>
            <a:chExt cx="7131095" cy="4369923"/>
          </a:xfrm>
        </p:grpSpPr>
        <p:pic>
          <p:nvPicPr>
            <p:cNvPr id="29" name="Picture 6" descr="Diagram, schematic&#10;&#10;Description automatically generated">
              <a:extLst>
                <a:ext uri="{FF2B5EF4-FFF2-40B4-BE49-F238E27FC236}">
                  <a16:creationId xmlns:a16="http://schemas.microsoft.com/office/drawing/2014/main" id="{A5D852C3-E763-0F6E-DE32-FAAAD3914C5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2626" t="17936" r="7321" b="10260"/>
            <a:stretch/>
          </p:blipFill>
          <p:spPr bwMode="auto">
            <a:xfrm>
              <a:off x="4995856" y="870711"/>
              <a:ext cx="7070810" cy="431326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0" name="TextBox 29">
              <a:extLst>
                <a:ext uri="{FF2B5EF4-FFF2-40B4-BE49-F238E27FC236}">
                  <a16:creationId xmlns:a16="http://schemas.microsoft.com/office/drawing/2014/main" id="{603648FC-A6AD-567F-57B0-4CB6DB34916E}"/>
                </a:ext>
              </a:extLst>
            </p:cNvPr>
            <p:cNvSpPr txBox="1"/>
            <p:nvPr/>
          </p:nvSpPr>
          <p:spPr>
            <a:xfrm>
              <a:off x="9941312" y="4594303"/>
              <a:ext cx="2185639" cy="646331"/>
            </a:xfrm>
            <a:prstGeom prst="rect">
              <a:avLst/>
            </a:prstGeom>
          </p:spPr>
          <p:txBody>
            <a:bodyPr wrap="square" rtlCol="0">
              <a:spAutoFit/>
            </a:bodyPr>
            <a:lstStyle/>
            <a:p>
              <a:pPr algn="r"/>
              <a:r>
                <a:rPr lang="en-US" dirty="0"/>
                <a:t>Joel Shields (3434) Actuator Model</a:t>
              </a:r>
            </a:p>
          </p:txBody>
        </p:sp>
      </p:grpSp>
      <p:grpSp>
        <p:nvGrpSpPr>
          <p:cNvPr id="31" name="Group 30">
            <a:extLst>
              <a:ext uri="{FF2B5EF4-FFF2-40B4-BE49-F238E27FC236}">
                <a16:creationId xmlns:a16="http://schemas.microsoft.com/office/drawing/2014/main" id="{85369E40-1C3C-056E-B625-3BC9ACF90B73}"/>
              </a:ext>
            </a:extLst>
          </p:cNvPr>
          <p:cNvGrpSpPr/>
          <p:nvPr/>
        </p:nvGrpSpPr>
        <p:grpSpPr>
          <a:xfrm>
            <a:off x="125334" y="4594303"/>
            <a:ext cx="6879490" cy="2096920"/>
            <a:chOff x="125334" y="4594303"/>
            <a:chExt cx="6879490" cy="2096920"/>
          </a:xfrm>
        </p:grpSpPr>
        <p:pic>
          <p:nvPicPr>
            <p:cNvPr id="32" name="Picture 31">
              <a:extLst>
                <a:ext uri="{FF2B5EF4-FFF2-40B4-BE49-F238E27FC236}">
                  <a16:creationId xmlns:a16="http://schemas.microsoft.com/office/drawing/2014/main" id="{5A19FF4E-A8C7-9DCF-8CF8-ED079011B036}"/>
                </a:ext>
              </a:extLst>
            </p:cNvPr>
            <p:cNvPicPr>
              <a:picLocks noChangeAspect="1"/>
            </p:cNvPicPr>
            <p:nvPr/>
          </p:nvPicPr>
          <p:blipFill>
            <a:blip r:embed="rId3"/>
            <a:stretch>
              <a:fillRect/>
            </a:stretch>
          </p:blipFill>
          <p:spPr>
            <a:xfrm>
              <a:off x="125334" y="4594303"/>
              <a:ext cx="6789591" cy="201173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3" name="TextBox 32">
              <a:extLst>
                <a:ext uri="{FF2B5EF4-FFF2-40B4-BE49-F238E27FC236}">
                  <a16:creationId xmlns:a16="http://schemas.microsoft.com/office/drawing/2014/main" id="{F56E819B-DA0A-1995-8195-4A0B6E79296B}"/>
                </a:ext>
              </a:extLst>
            </p:cNvPr>
            <p:cNvSpPr txBox="1"/>
            <p:nvPr/>
          </p:nvSpPr>
          <p:spPr>
            <a:xfrm>
              <a:off x="4516243" y="6321891"/>
              <a:ext cx="2488581" cy="369332"/>
            </a:xfrm>
            <a:prstGeom prst="rect">
              <a:avLst/>
            </a:prstGeom>
          </p:spPr>
          <p:txBody>
            <a:bodyPr wrap="square" rtlCol="0">
              <a:spAutoFit/>
            </a:bodyPr>
            <a:lstStyle/>
            <a:p>
              <a:pPr algn="r"/>
              <a:r>
                <a:rPr lang="en-US" dirty="0"/>
                <a:t>LDO Actuator Model</a:t>
              </a:r>
            </a:p>
          </p:txBody>
        </p:sp>
      </p:grpSp>
      <p:pic>
        <p:nvPicPr>
          <p:cNvPr id="34" name="Picture 33">
            <a:extLst>
              <a:ext uri="{FF2B5EF4-FFF2-40B4-BE49-F238E27FC236}">
                <a16:creationId xmlns:a16="http://schemas.microsoft.com/office/drawing/2014/main" id="{52E977E7-26FB-34AE-F763-0AC2DF2F7445}"/>
              </a:ext>
            </a:extLst>
          </p:cNvPr>
          <p:cNvPicPr>
            <a:picLocks noChangeAspect="1"/>
          </p:cNvPicPr>
          <p:nvPr/>
        </p:nvPicPr>
        <p:blipFill>
          <a:blip r:embed="rId4"/>
          <a:stretch>
            <a:fillRect/>
          </a:stretch>
        </p:blipFill>
        <p:spPr>
          <a:xfrm>
            <a:off x="460721" y="3449795"/>
            <a:ext cx="4060595" cy="977037"/>
          </a:xfrm>
          <a:prstGeom prst="rect">
            <a:avLst/>
          </a:prstGeom>
        </p:spPr>
      </p:pic>
      <p:sp>
        <p:nvSpPr>
          <p:cNvPr id="35" name="Text Placeholder 1">
            <a:extLst>
              <a:ext uri="{FF2B5EF4-FFF2-40B4-BE49-F238E27FC236}">
                <a16:creationId xmlns:a16="http://schemas.microsoft.com/office/drawing/2014/main" id="{1E176DBC-E3A5-57DD-F635-0F06000C950B}"/>
              </a:ext>
            </a:extLst>
          </p:cNvPr>
          <p:cNvSpPr txBox="1">
            <a:spLocks/>
          </p:cNvSpPr>
          <p:nvPr/>
        </p:nvSpPr>
        <p:spPr>
          <a:xfrm>
            <a:off x="7219490" y="5575576"/>
            <a:ext cx="4776438" cy="917299"/>
          </a:xfrm>
          <a:prstGeom prst="rect">
            <a:avLst/>
          </a:prstGeom>
          <a:ln>
            <a:solidFill>
              <a:schemeClr val="accent1"/>
            </a:solidFill>
          </a:ln>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b="0" i="0" kern="1200">
                <a:solidFill>
                  <a:schemeClr val="tx1"/>
                </a:solidFill>
                <a:latin typeface="+mn-lt"/>
                <a:ea typeface="Helvetica Neue Thin" panose="020B0403020202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Helvetica Neue Thin" panose="020B0403020202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Helvetica Neue Thin" panose="020B0403020202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Helvetica Neue Thin" panose="020B0403020202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Helvetica Neue Thin" panose="020B0403020202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This is a first draft of our “truth” model of actuator performance, now being refined against dev testbeds and soon IFSM.</a:t>
            </a:r>
          </a:p>
        </p:txBody>
      </p:sp>
    </p:spTree>
    <p:extLst>
      <p:ext uri="{BB962C8B-B14F-4D97-AF65-F5344CB8AC3E}">
        <p14:creationId xmlns:p14="http://schemas.microsoft.com/office/powerpoint/2010/main" val="5169916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D74BE8-90FD-EB8C-59DA-6FE60A3EBA1C}"/>
              </a:ext>
            </a:extLst>
          </p:cNvPr>
          <p:cNvSpPr>
            <a:spLocks noGrp="1"/>
          </p:cNvSpPr>
          <p:nvPr>
            <p:ph type="title"/>
          </p:nvPr>
        </p:nvSpPr>
        <p:spPr/>
        <p:txBody>
          <a:bodyPr/>
          <a:lstStyle/>
          <a:p>
            <a:r>
              <a:rPr lang="en-US" dirty="0"/>
              <a:t>Joel Model Progress</a:t>
            </a:r>
          </a:p>
        </p:txBody>
      </p:sp>
      <p:sp>
        <p:nvSpPr>
          <p:cNvPr id="4" name="Date Placeholder 3">
            <a:extLst>
              <a:ext uri="{FF2B5EF4-FFF2-40B4-BE49-F238E27FC236}">
                <a16:creationId xmlns:a16="http://schemas.microsoft.com/office/drawing/2014/main" id="{D2796586-9308-F1FB-5F38-CE17DB7E1178}"/>
              </a:ext>
            </a:extLst>
          </p:cNvPr>
          <p:cNvSpPr>
            <a:spLocks noGrp="1"/>
          </p:cNvSpPr>
          <p:nvPr>
            <p:ph type="dt" sz="half" idx="18"/>
          </p:nvPr>
        </p:nvSpPr>
        <p:spPr/>
        <p:txBody>
          <a:bodyPr/>
          <a:lstStyle/>
          <a:p>
            <a:r>
              <a:rPr lang="en-US"/>
              <a:t>DD/MM/YYYY</a:t>
            </a:r>
          </a:p>
        </p:txBody>
      </p:sp>
      <p:sp>
        <p:nvSpPr>
          <p:cNvPr id="5" name="Footer Placeholder 4">
            <a:extLst>
              <a:ext uri="{FF2B5EF4-FFF2-40B4-BE49-F238E27FC236}">
                <a16:creationId xmlns:a16="http://schemas.microsoft.com/office/drawing/2014/main" id="{BB32DAB0-7DD8-5931-46E4-1F0E08D48B08}"/>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6" name="Slide Number Placeholder 5">
            <a:extLst>
              <a:ext uri="{FF2B5EF4-FFF2-40B4-BE49-F238E27FC236}">
                <a16:creationId xmlns:a16="http://schemas.microsoft.com/office/drawing/2014/main" id="{83E4427C-2CA8-B90E-F16C-23231E3FE281}"/>
              </a:ext>
            </a:extLst>
          </p:cNvPr>
          <p:cNvSpPr>
            <a:spLocks noGrp="1"/>
          </p:cNvSpPr>
          <p:nvPr>
            <p:ph type="sldNum" sz="quarter" idx="20"/>
          </p:nvPr>
        </p:nvSpPr>
        <p:spPr/>
        <p:txBody>
          <a:bodyPr/>
          <a:lstStyle/>
          <a:p>
            <a:fld id="{2D04F4CF-F641-6E4E-8F87-8EB8AA2BFA51}" type="slidenum">
              <a:rPr lang="en-US" smtClean="0"/>
              <a:pPr/>
              <a:t>4</a:t>
            </a:fld>
            <a:endParaRPr lang="en-US"/>
          </a:p>
        </p:txBody>
      </p:sp>
      <p:sp>
        <p:nvSpPr>
          <p:cNvPr id="27" name="Text Placeholder 1">
            <a:extLst>
              <a:ext uri="{FF2B5EF4-FFF2-40B4-BE49-F238E27FC236}">
                <a16:creationId xmlns:a16="http://schemas.microsoft.com/office/drawing/2014/main" id="{9DE558EA-9492-D75A-736B-5FB6B9814C49}"/>
              </a:ext>
            </a:extLst>
          </p:cNvPr>
          <p:cNvSpPr>
            <a:spLocks noGrp="1"/>
          </p:cNvSpPr>
          <p:nvPr>
            <p:ph type="body" sz="quarter" idx="17"/>
          </p:nvPr>
        </p:nvSpPr>
        <p:spPr>
          <a:xfrm>
            <a:off x="276222" y="1103488"/>
            <a:ext cx="4429591" cy="2346307"/>
          </a:xfrm>
        </p:spPr>
        <p:txBody>
          <a:bodyPr>
            <a:normAutofit lnSpcReduction="10000"/>
          </a:bodyPr>
          <a:lstStyle/>
          <a:p>
            <a:pPr marL="0" indent="0">
              <a:buNone/>
            </a:pPr>
            <a:r>
              <a:rPr lang="en-US" dirty="0"/>
              <a:t>JPL’s updated “actuator model” recently delivered by 3434 analyst.</a:t>
            </a:r>
          </a:p>
          <a:p>
            <a:pPr marL="0" indent="0">
              <a:buNone/>
            </a:pPr>
            <a:endParaRPr lang="en-US" dirty="0"/>
          </a:p>
          <a:p>
            <a:pPr marL="0" indent="0">
              <a:buNone/>
            </a:pPr>
            <a:r>
              <a:rPr lang="en-US" dirty="0"/>
              <a:t>Both Simulink and Transfer Function match the LDO quoted performance for same gain selection.</a:t>
            </a:r>
            <a:br>
              <a:rPr lang="en-US" dirty="0"/>
            </a:br>
            <a:br>
              <a:rPr lang="en-US" dirty="0"/>
            </a:br>
            <a:r>
              <a:rPr lang="en-US" dirty="0"/>
              <a:t>LDO velocity loop gains and stability:</a:t>
            </a:r>
          </a:p>
        </p:txBody>
      </p:sp>
      <p:grpSp>
        <p:nvGrpSpPr>
          <p:cNvPr id="31" name="Group 30">
            <a:extLst>
              <a:ext uri="{FF2B5EF4-FFF2-40B4-BE49-F238E27FC236}">
                <a16:creationId xmlns:a16="http://schemas.microsoft.com/office/drawing/2014/main" id="{85369E40-1C3C-056E-B625-3BC9ACF90B73}"/>
              </a:ext>
            </a:extLst>
          </p:cNvPr>
          <p:cNvGrpSpPr/>
          <p:nvPr/>
        </p:nvGrpSpPr>
        <p:grpSpPr>
          <a:xfrm>
            <a:off x="125334" y="4594303"/>
            <a:ext cx="6879490" cy="2096920"/>
            <a:chOff x="125334" y="4594303"/>
            <a:chExt cx="6879490" cy="2096920"/>
          </a:xfrm>
        </p:grpSpPr>
        <p:pic>
          <p:nvPicPr>
            <p:cNvPr id="32" name="Picture 31">
              <a:extLst>
                <a:ext uri="{FF2B5EF4-FFF2-40B4-BE49-F238E27FC236}">
                  <a16:creationId xmlns:a16="http://schemas.microsoft.com/office/drawing/2014/main" id="{5A19FF4E-A8C7-9DCF-8CF8-ED079011B036}"/>
                </a:ext>
              </a:extLst>
            </p:cNvPr>
            <p:cNvPicPr>
              <a:picLocks noChangeAspect="1"/>
            </p:cNvPicPr>
            <p:nvPr/>
          </p:nvPicPr>
          <p:blipFill>
            <a:blip r:embed="rId2"/>
            <a:stretch>
              <a:fillRect/>
            </a:stretch>
          </p:blipFill>
          <p:spPr>
            <a:xfrm>
              <a:off x="125334" y="4594303"/>
              <a:ext cx="6789591" cy="201173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3" name="TextBox 32">
              <a:extLst>
                <a:ext uri="{FF2B5EF4-FFF2-40B4-BE49-F238E27FC236}">
                  <a16:creationId xmlns:a16="http://schemas.microsoft.com/office/drawing/2014/main" id="{F56E819B-DA0A-1995-8195-4A0B6E79296B}"/>
                </a:ext>
              </a:extLst>
            </p:cNvPr>
            <p:cNvSpPr txBox="1"/>
            <p:nvPr/>
          </p:nvSpPr>
          <p:spPr>
            <a:xfrm>
              <a:off x="4516243" y="6321891"/>
              <a:ext cx="2488581" cy="369332"/>
            </a:xfrm>
            <a:prstGeom prst="rect">
              <a:avLst/>
            </a:prstGeom>
          </p:spPr>
          <p:txBody>
            <a:bodyPr wrap="square" rtlCol="0">
              <a:spAutoFit/>
            </a:bodyPr>
            <a:lstStyle/>
            <a:p>
              <a:pPr algn="r"/>
              <a:r>
                <a:rPr lang="en-US" dirty="0"/>
                <a:t>LDO Actuator Model</a:t>
              </a:r>
            </a:p>
          </p:txBody>
        </p:sp>
      </p:grpSp>
      <p:pic>
        <p:nvPicPr>
          <p:cNvPr id="34" name="Picture 33">
            <a:extLst>
              <a:ext uri="{FF2B5EF4-FFF2-40B4-BE49-F238E27FC236}">
                <a16:creationId xmlns:a16="http://schemas.microsoft.com/office/drawing/2014/main" id="{52E977E7-26FB-34AE-F763-0AC2DF2F7445}"/>
              </a:ext>
            </a:extLst>
          </p:cNvPr>
          <p:cNvPicPr>
            <a:picLocks noChangeAspect="1"/>
          </p:cNvPicPr>
          <p:nvPr/>
        </p:nvPicPr>
        <p:blipFill>
          <a:blip r:embed="rId3"/>
          <a:stretch>
            <a:fillRect/>
          </a:stretch>
        </p:blipFill>
        <p:spPr>
          <a:xfrm>
            <a:off x="460721" y="3449795"/>
            <a:ext cx="4060595" cy="977037"/>
          </a:xfrm>
          <a:prstGeom prst="rect">
            <a:avLst/>
          </a:prstGeom>
        </p:spPr>
      </p:pic>
      <p:sp>
        <p:nvSpPr>
          <p:cNvPr id="35" name="Text Placeholder 1">
            <a:extLst>
              <a:ext uri="{FF2B5EF4-FFF2-40B4-BE49-F238E27FC236}">
                <a16:creationId xmlns:a16="http://schemas.microsoft.com/office/drawing/2014/main" id="{1E176DBC-E3A5-57DD-F635-0F06000C950B}"/>
              </a:ext>
            </a:extLst>
          </p:cNvPr>
          <p:cNvSpPr txBox="1">
            <a:spLocks/>
          </p:cNvSpPr>
          <p:nvPr/>
        </p:nvSpPr>
        <p:spPr>
          <a:xfrm>
            <a:off x="7219490" y="5575576"/>
            <a:ext cx="4776438" cy="917299"/>
          </a:xfrm>
          <a:prstGeom prst="rect">
            <a:avLst/>
          </a:prstGeom>
          <a:ln>
            <a:solidFill>
              <a:schemeClr val="accent1"/>
            </a:solidFill>
          </a:ln>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b="0" i="0" kern="1200">
                <a:solidFill>
                  <a:schemeClr val="tx1"/>
                </a:solidFill>
                <a:latin typeface="+mn-lt"/>
                <a:ea typeface="Helvetica Neue Thin" panose="020B0403020202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Helvetica Neue Thin" panose="020B0403020202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Helvetica Neue Thin" panose="020B0403020202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Helvetica Neue Thin" panose="020B0403020202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Helvetica Neue Thin" panose="020B0403020202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This is a first draft of our “truth” model of actuator performance, now being refined against dev testbeds and soon IFSM.</a:t>
            </a:r>
          </a:p>
        </p:txBody>
      </p:sp>
      <p:sp>
        <p:nvSpPr>
          <p:cNvPr id="2" name="Text Placeholder 1">
            <a:extLst>
              <a:ext uri="{FF2B5EF4-FFF2-40B4-BE49-F238E27FC236}">
                <a16:creationId xmlns:a16="http://schemas.microsoft.com/office/drawing/2014/main" id="{8F769A30-C7C2-0084-C35F-47862ADECC14}"/>
              </a:ext>
            </a:extLst>
          </p:cNvPr>
          <p:cNvSpPr txBox="1">
            <a:spLocks/>
          </p:cNvSpPr>
          <p:nvPr/>
        </p:nvSpPr>
        <p:spPr>
          <a:xfrm>
            <a:off x="5475248" y="913863"/>
            <a:ext cx="6297655" cy="3428473"/>
          </a:xfrm>
          <a:prstGeom prst="rect">
            <a:avLst/>
          </a:prstGeom>
          <a:ln w="38100">
            <a:solidFill>
              <a:schemeClr val="accent4"/>
            </a:solidFill>
          </a:ln>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b="0" i="0" kern="1200">
                <a:solidFill>
                  <a:schemeClr val="tx1"/>
                </a:solidFill>
                <a:latin typeface="+mn-lt"/>
                <a:ea typeface="Helvetica Neue Thin" panose="020B0403020202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Helvetica Neue Thin" panose="020B0403020202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Helvetica Neue Thin" panose="020B0403020202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Helvetica Neue Thin" panose="020B0403020202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Helvetica Neue Thin" panose="020B0403020202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Next steps:</a:t>
            </a:r>
          </a:p>
          <a:p>
            <a:pPr marL="0" indent="0">
              <a:buFont typeface="Arial" panose="020B0604020202020204" pitchFamily="34" charset="0"/>
              <a:buNone/>
            </a:pPr>
            <a:r>
              <a:rPr lang="en-US" dirty="0"/>
              <a:t>This model has already been used to update the force and stability budgets for RGA-OS, now being rolled out to other subfunctions (making a MATLAB for loop go beyond index=1)</a:t>
            </a:r>
          </a:p>
          <a:p>
            <a:pPr marL="0" indent="0">
              <a:buFont typeface="Arial" panose="020B0604020202020204" pitchFamily="34" charset="0"/>
              <a:buNone/>
            </a:pPr>
            <a:r>
              <a:rPr lang="en-US" dirty="0"/>
              <a:t>Joel is now refining this model against Clark and will do same for IFSM once that arrives. Will compare this against LDO model if they ever deliver it.</a:t>
            </a:r>
          </a:p>
          <a:p>
            <a:pPr marL="0" indent="0">
              <a:buFont typeface="Arial" panose="020B0604020202020204" pitchFamily="34" charset="0"/>
              <a:buNone/>
            </a:pPr>
            <a:r>
              <a:rPr lang="en-US" dirty="0"/>
              <a:t>State parameter sensitivities with LTI model.</a:t>
            </a:r>
          </a:p>
          <a:p>
            <a:pPr marL="0" indent="0">
              <a:buFont typeface="Arial" panose="020B0604020202020204" pitchFamily="34" charset="0"/>
              <a:buNone/>
            </a:pPr>
            <a:r>
              <a:rPr lang="en-US" dirty="0"/>
              <a:t>This is the </a:t>
            </a:r>
            <a:r>
              <a:rPr lang="en-US" i="1" dirty="0"/>
              <a:t>model</a:t>
            </a:r>
            <a:r>
              <a:rPr lang="en-US" dirty="0"/>
              <a:t> used for FM LTI stability DP closure.</a:t>
            </a:r>
          </a:p>
        </p:txBody>
      </p:sp>
      <p:sp>
        <p:nvSpPr>
          <p:cNvPr id="7" name="TextBox 6">
            <a:extLst>
              <a:ext uri="{FF2B5EF4-FFF2-40B4-BE49-F238E27FC236}">
                <a16:creationId xmlns:a16="http://schemas.microsoft.com/office/drawing/2014/main" id="{AB35A9E9-49EE-9683-40C2-084188E462A6}"/>
              </a:ext>
            </a:extLst>
          </p:cNvPr>
          <p:cNvSpPr txBox="1"/>
          <p:nvPr/>
        </p:nvSpPr>
        <p:spPr>
          <a:xfrm>
            <a:off x="7219490" y="4514018"/>
            <a:ext cx="4627756" cy="923330"/>
          </a:xfrm>
          <a:prstGeom prst="rect">
            <a:avLst/>
          </a:prstGeom>
        </p:spPr>
        <p:txBody>
          <a:bodyPr wrap="square" rtlCol="0">
            <a:spAutoFit/>
          </a:bodyPr>
          <a:lstStyle/>
          <a:p>
            <a:pPr algn="l"/>
            <a:r>
              <a:rPr lang="en-US" dirty="0"/>
              <a:t>This is both the underpinning model of the full system, but also used for “disembodied actuator” test comparison against Clark.</a:t>
            </a:r>
          </a:p>
        </p:txBody>
      </p:sp>
    </p:spTree>
    <p:extLst>
      <p:ext uri="{BB962C8B-B14F-4D97-AF65-F5344CB8AC3E}">
        <p14:creationId xmlns:p14="http://schemas.microsoft.com/office/powerpoint/2010/main" val="36848852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612DF14-C3CF-7B37-64E5-3C8FFFDAE54D}"/>
              </a:ext>
            </a:extLst>
          </p:cNvPr>
          <p:cNvSpPr>
            <a:spLocks noGrp="1"/>
          </p:cNvSpPr>
          <p:nvPr>
            <p:ph type="body" sz="quarter" idx="17"/>
          </p:nvPr>
        </p:nvSpPr>
        <p:spPr>
          <a:xfrm>
            <a:off x="138051" y="1157451"/>
            <a:ext cx="5633655" cy="5253445"/>
          </a:xfrm>
        </p:spPr>
        <p:txBody>
          <a:bodyPr>
            <a:normAutofit fontScale="92500"/>
          </a:bodyPr>
          <a:lstStyle/>
          <a:p>
            <a:r>
              <a:rPr lang="en-US" dirty="0"/>
              <a:t>Current status:</a:t>
            </a:r>
          </a:p>
          <a:p>
            <a:pPr lvl="1"/>
            <a:r>
              <a:rPr lang="en-US" dirty="0"/>
              <a:t>Delivered collision-based simulation of true peg-in-hole “geometric deflection profile”, which improves on the rough ramp profile used thus far</a:t>
            </a:r>
          </a:p>
          <a:p>
            <a:pPr lvl="1"/>
            <a:r>
              <a:rPr lang="en-US" dirty="0"/>
              <a:t>Gradient values from this model used to update the RGA-OS subfunction AC excitation rates</a:t>
            </a:r>
          </a:p>
          <a:p>
            <a:pPr lvl="1"/>
            <a:r>
              <a:rPr lang="en-US" dirty="0"/>
              <a:t>This model provides the “disembodied tool” response, where we show the resultant force profile for some tool-station interaction if the arm and actuators were perfect</a:t>
            </a:r>
          </a:p>
          <a:p>
            <a:r>
              <a:rPr lang="en-US" dirty="0"/>
              <a:t>Next steps:</a:t>
            </a:r>
          </a:p>
          <a:p>
            <a:pPr lvl="1"/>
            <a:r>
              <a:rPr lang="en-US" dirty="0"/>
              <a:t>Compare this model’s force profile predictions against Asimov C6 on RGA-OS and TGA-Glove interactions</a:t>
            </a:r>
          </a:p>
          <a:p>
            <a:pPr lvl="1"/>
            <a:r>
              <a:rPr lang="en-US" dirty="0"/>
              <a:t>Expand RGA-OS subfunction LTI budgets analysis across all subfunctions</a:t>
            </a:r>
          </a:p>
          <a:p>
            <a:pPr lvl="1"/>
            <a:r>
              <a:rPr lang="en-US" dirty="0"/>
              <a:t>Integrate tool-station profile model with actuator model for the “non-linear” simulation of peak forces, compare to LTI analytical values</a:t>
            </a:r>
          </a:p>
        </p:txBody>
      </p:sp>
      <p:sp>
        <p:nvSpPr>
          <p:cNvPr id="3" name="Title 2">
            <a:extLst>
              <a:ext uri="{FF2B5EF4-FFF2-40B4-BE49-F238E27FC236}">
                <a16:creationId xmlns:a16="http://schemas.microsoft.com/office/drawing/2014/main" id="{0CD74BE8-90FD-EB8C-59DA-6FE60A3EBA1C}"/>
              </a:ext>
            </a:extLst>
          </p:cNvPr>
          <p:cNvSpPr>
            <a:spLocks noGrp="1"/>
          </p:cNvSpPr>
          <p:nvPr>
            <p:ph type="title"/>
          </p:nvPr>
        </p:nvSpPr>
        <p:spPr/>
        <p:txBody>
          <a:bodyPr/>
          <a:lstStyle/>
          <a:p>
            <a:r>
              <a:rPr lang="en-US" dirty="0"/>
              <a:t>Preston Model Progress</a:t>
            </a:r>
          </a:p>
        </p:txBody>
      </p:sp>
      <p:sp>
        <p:nvSpPr>
          <p:cNvPr id="4" name="Date Placeholder 3">
            <a:extLst>
              <a:ext uri="{FF2B5EF4-FFF2-40B4-BE49-F238E27FC236}">
                <a16:creationId xmlns:a16="http://schemas.microsoft.com/office/drawing/2014/main" id="{D2796586-9308-F1FB-5F38-CE17DB7E1178}"/>
              </a:ext>
            </a:extLst>
          </p:cNvPr>
          <p:cNvSpPr>
            <a:spLocks noGrp="1"/>
          </p:cNvSpPr>
          <p:nvPr>
            <p:ph type="dt" sz="half" idx="18"/>
          </p:nvPr>
        </p:nvSpPr>
        <p:spPr/>
        <p:txBody>
          <a:bodyPr/>
          <a:lstStyle/>
          <a:p>
            <a:r>
              <a:rPr lang="en-US"/>
              <a:t>DD/MM/YYYY</a:t>
            </a:r>
          </a:p>
        </p:txBody>
      </p:sp>
      <p:sp>
        <p:nvSpPr>
          <p:cNvPr id="5" name="Footer Placeholder 4">
            <a:extLst>
              <a:ext uri="{FF2B5EF4-FFF2-40B4-BE49-F238E27FC236}">
                <a16:creationId xmlns:a16="http://schemas.microsoft.com/office/drawing/2014/main" id="{BB32DAB0-7DD8-5931-46E4-1F0E08D48B08}"/>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6" name="Slide Number Placeholder 5">
            <a:extLst>
              <a:ext uri="{FF2B5EF4-FFF2-40B4-BE49-F238E27FC236}">
                <a16:creationId xmlns:a16="http://schemas.microsoft.com/office/drawing/2014/main" id="{83E4427C-2CA8-B90E-F16C-23231E3FE281}"/>
              </a:ext>
            </a:extLst>
          </p:cNvPr>
          <p:cNvSpPr>
            <a:spLocks noGrp="1"/>
          </p:cNvSpPr>
          <p:nvPr>
            <p:ph type="sldNum" sz="quarter" idx="20"/>
          </p:nvPr>
        </p:nvSpPr>
        <p:spPr/>
        <p:txBody>
          <a:bodyPr/>
          <a:lstStyle/>
          <a:p>
            <a:fld id="{2D04F4CF-F641-6E4E-8F87-8EB8AA2BFA51}" type="slidenum">
              <a:rPr lang="en-US" smtClean="0"/>
              <a:pPr/>
              <a:t>5</a:t>
            </a:fld>
            <a:endParaRPr lang="en-US"/>
          </a:p>
        </p:txBody>
      </p:sp>
      <p:pic>
        <p:nvPicPr>
          <p:cNvPr id="8" name="Picture 7">
            <a:extLst>
              <a:ext uri="{FF2B5EF4-FFF2-40B4-BE49-F238E27FC236}">
                <a16:creationId xmlns:a16="http://schemas.microsoft.com/office/drawing/2014/main" id="{1621AC8D-5884-49EE-E9BD-148691C566E8}"/>
              </a:ext>
            </a:extLst>
          </p:cNvPr>
          <p:cNvPicPr>
            <a:picLocks noChangeAspect="1"/>
          </p:cNvPicPr>
          <p:nvPr/>
        </p:nvPicPr>
        <p:blipFill>
          <a:blip r:embed="rId2"/>
          <a:stretch>
            <a:fillRect/>
          </a:stretch>
        </p:blipFill>
        <p:spPr>
          <a:xfrm>
            <a:off x="5815361" y="921659"/>
            <a:ext cx="3915065" cy="316362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9" name="TextBox 8">
            <a:extLst>
              <a:ext uri="{FF2B5EF4-FFF2-40B4-BE49-F238E27FC236}">
                <a16:creationId xmlns:a16="http://schemas.microsoft.com/office/drawing/2014/main" id="{A768BECB-E5B1-C017-1CBD-D9EC7EA3A867}"/>
              </a:ext>
            </a:extLst>
          </p:cNvPr>
          <p:cNvSpPr txBox="1"/>
          <p:nvPr/>
        </p:nvSpPr>
        <p:spPr>
          <a:xfrm>
            <a:off x="9781071" y="1095123"/>
            <a:ext cx="2236113" cy="2031325"/>
          </a:xfrm>
          <a:prstGeom prst="rect">
            <a:avLst/>
          </a:prstGeom>
        </p:spPr>
        <p:txBody>
          <a:bodyPr wrap="square" rtlCol="0">
            <a:spAutoFit/>
          </a:bodyPr>
          <a:lstStyle/>
          <a:p>
            <a:pPr algn="l"/>
            <a:r>
              <a:rPr lang="en-US" sz="1400" dirty="0"/>
              <a:t>Plot of “peg” orientation and corner points during any form of insertion operation. Geometric only, force response applied on top of this, not to scale. Fully general and parameterized.</a:t>
            </a:r>
          </a:p>
          <a:p>
            <a:pPr algn="l"/>
            <a:endParaRPr lang="en-US" sz="1400" dirty="0"/>
          </a:p>
        </p:txBody>
      </p:sp>
      <p:pic>
        <p:nvPicPr>
          <p:cNvPr id="11" name="Picture 10">
            <a:extLst>
              <a:ext uri="{FF2B5EF4-FFF2-40B4-BE49-F238E27FC236}">
                <a16:creationId xmlns:a16="http://schemas.microsoft.com/office/drawing/2014/main" id="{8BAF5D6D-5C8F-3191-4AF3-AF809039F39F}"/>
              </a:ext>
            </a:extLst>
          </p:cNvPr>
          <p:cNvPicPr>
            <a:picLocks noChangeAspect="1"/>
          </p:cNvPicPr>
          <p:nvPr/>
        </p:nvPicPr>
        <p:blipFill>
          <a:blip r:embed="rId3"/>
          <a:stretch>
            <a:fillRect/>
          </a:stretch>
        </p:blipFill>
        <p:spPr>
          <a:xfrm>
            <a:off x="8239066" y="3514817"/>
            <a:ext cx="3828764" cy="303173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2" name="TextBox 11">
            <a:extLst>
              <a:ext uri="{FF2B5EF4-FFF2-40B4-BE49-F238E27FC236}">
                <a16:creationId xmlns:a16="http://schemas.microsoft.com/office/drawing/2014/main" id="{79FD572A-B2F2-27B4-F6E1-D469A841246B}"/>
              </a:ext>
            </a:extLst>
          </p:cNvPr>
          <p:cNvSpPr txBox="1"/>
          <p:nvPr/>
        </p:nvSpPr>
        <p:spPr>
          <a:xfrm>
            <a:off x="5909157" y="4547189"/>
            <a:ext cx="2236113" cy="1815882"/>
          </a:xfrm>
          <a:prstGeom prst="rect">
            <a:avLst/>
          </a:prstGeom>
        </p:spPr>
        <p:txBody>
          <a:bodyPr wrap="square" rtlCol="0">
            <a:spAutoFit/>
          </a:bodyPr>
          <a:lstStyle/>
          <a:p>
            <a:pPr algn="r"/>
            <a:r>
              <a:rPr lang="en-US" sz="1400" dirty="0"/>
              <a:t>“Actual deflection” of tool relative to baseline trajectory. This is what feeds into the force profile prediction.</a:t>
            </a:r>
          </a:p>
          <a:p>
            <a:pPr algn="r"/>
            <a:endParaRPr lang="en-US" sz="1400" dirty="0"/>
          </a:p>
          <a:p>
            <a:pPr algn="r"/>
            <a:r>
              <a:rPr lang="en-US" sz="1400" dirty="0"/>
              <a:t>May present on this next week</a:t>
            </a:r>
          </a:p>
        </p:txBody>
      </p:sp>
      <p:sp>
        <p:nvSpPr>
          <p:cNvPr id="7" name="TextBox 6">
            <a:extLst>
              <a:ext uri="{FF2B5EF4-FFF2-40B4-BE49-F238E27FC236}">
                <a16:creationId xmlns:a16="http://schemas.microsoft.com/office/drawing/2014/main" id="{2DB730EE-CE6E-A572-4DC8-5B0CBEAE2CC0}"/>
              </a:ext>
            </a:extLst>
          </p:cNvPr>
          <p:cNvSpPr txBox="1"/>
          <p:nvPr/>
        </p:nvSpPr>
        <p:spPr>
          <a:xfrm>
            <a:off x="6378990" y="1168664"/>
            <a:ext cx="2787806" cy="830997"/>
          </a:xfrm>
          <a:prstGeom prst="rect">
            <a:avLst/>
          </a:prstGeom>
        </p:spPr>
        <p:txBody>
          <a:bodyPr wrap="square" rtlCol="0">
            <a:spAutoFit/>
          </a:bodyPr>
          <a:lstStyle/>
          <a:p>
            <a:pPr algn="l"/>
            <a:r>
              <a:rPr lang="en-US" sz="1600" dirty="0"/>
              <a:t>Note, this contains no notion of compliance, boundary conditions, or force</a:t>
            </a:r>
          </a:p>
        </p:txBody>
      </p:sp>
    </p:spTree>
    <p:extLst>
      <p:ext uri="{BB962C8B-B14F-4D97-AF65-F5344CB8AC3E}">
        <p14:creationId xmlns:p14="http://schemas.microsoft.com/office/powerpoint/2010/main" val="37497187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BB1484D-50EE-099B-1D4B-6533C8C1D25C}"/>
              </a:ext>
            </a:extLst>
          </p:cNvPr>
          <p:cNvSpPr>
            <a:spLocks noGrp="1"/>
          </p:cNvSpPr>
          <p:nvPr>
            <p:ph type="body" sz="quarter" idx="17"/>
          </p:nvPr>
        </p:nvSpPr>
        <p:spPr/>
        <p:txBody>
          <a:bodyPr/>
          <a:lstStyle/>
          <a:p>
            <a:pPr marL="0" indent="0">
              <a:buNone/>
            </a:pPr>
            <a:r>
              <a:rPr lang="en-US" dirty="0"/>
              <a:t>Present RGA-OS insertion budgets are evaluated against a) present notional gains, b) latest LDO actuator model from 3434 analyst, and c) </a:t>
            </a:r>
            <a:r>
              <a:rPr lang="en-US" i="1" dirty="0"/>
              <a:t>2</a:t>
            </a:r>
            <a:r>
              <a:rPr lang="en-US" i="1" baseline="30000" dirty="0"/>
              <a:t>nd</a:t>
            </a:r>
            <a:r>
              <a:rPr lang="en-US" dirty="0"/>
              <a:t> order active compliance (up from 1</a:t>
            </a:r>
            <a:r>
              <a:rPr lang="en-US" baseline="30000" dirty="0"/>
              <a:t>st</a:t>
            </a:r>
            <a:r>
              <a:rPr lang="en-US" dirty="0"/>
              <a:t>)</a:t>
            </a:r>
          </a:p>
          <a:p>
            <a:pPr marL="0" indent="0">
              <a:buNone/>
            </a:pPr>
            <a:r>
              <a:rPr lang="en-US" dirty="0"/>
              <a:t>Parameters:</a:t>
            </a:r>
          </a:p>
          <a:p>
            <a:pPr marL="0" indent="0">
              <a:buNone/>
            </a:pPr>
            <a:r>
              <a:rPr lang="en-US" dirty="0"/>
              <a:t>Baseline insertion speed: 1.2mm/s</a:t>
            </a:r>
          </a:p>
          <a:p>
            <a:pPr marL="0" indent="0">
              <a:buNone/>
            </a:pPr>
            <a:r>
              <a:rPr lang="en-US" dirty="0"/>
              <a:t>Translational misalignment: 3.5mm</a:t>
            </a:r>
          </a:p>
          <a:p>
            <a:pPr marL="0" indent="0">
              <a:buNone/>
            </a:pPr>
            <a:r>
              <a:rPr lang="en-US" dirty="0"/>
              <a:t>Rotational misalignment: 69 mrad (down from 87)</a:t>
            </a:r>
          </a:p>
        </p:txBody>
      </p:sp>
      <p:sp>
        <p:nvSpPr>
          <p:cNvPr id="3" name="Title 2">
            <a:extLst>
              <a:ext uri="{FF2B5EF4-FFF2-40B4-BE49-F238E27FC236}">
                <a16:creationId xmlns:a16="http://schemas.microsoft.com/office/drawing/2014/main" id="{4B8D5CE3-3F28-C263-7972-09CFEE99CE9D}"/>
              </a:ext>
            </a:extLst>
          </p:cNvPr>
          <p:cNvSpPr>
            <a:spLocks noGrp="1"/>
          </p:cNvSpPr>
          <p:nvPr>
            <p:ph type="title"/>
          </p:nvPr>
        </p:nvSpPr>
        <p:spPr/>
        <p:txBody>
          <a:bodyPr/>
          <a:lstStyle/>
          <a:p>
            <a:r>
              <a:rPr lang="en-US" dirty="0"/>
              <a:t>Current Budget Status: RGA-OS Insertion Sleeve 7</a:t>
            </a:r>
          </a:p>
        </p:txBody>
      </p:sp>
      <p:sp>
        <p:nvSpPr>
          <p:cNvPr id="4" name="Date Placeholder 3">
            <a:extLst>
              <a:ext uri="{FF2B5EF4-FFF2-40B4-BE49-F238E27FC236}">
                <a16:creationId xmlns:a16="http://schemas.microsoft.com/office/drawing/2014/main" id="{C0917663-509F-EE6C-9416-C3A20CA877A4}"/>
              </a:ext>
            </a:extLst>
          </p:cNvPr>
          <p:cNvSpPr>
            <a:spLocks noGrp="1"/>
          </p:cNvSpPr>
          <p:nvPr>
            <p:ph type="dt" sz="half" idx="18"/>
          </p:nvPr>
        </p:nvSpPr>
        <p:spPr/>
        <p:txBody>
          <a:bodyPr/>
          <a:lstStyle/>
          <a:p>
            <a:r>
              <a:rPr lang="en-US"/>
              <a:t>DD/MM/YYYY</a:t>
            </a:r>
          </a:p>
        </p:txBody>
      </p:sp>
      <p:sp>
        <p:nvSpPr>
          <p:cNvPr id="5" name="Footer Placeholder 4">
            <a:extLst>
              <a:ext uri="{FF2B5EF4-FFF2-40B4-BE49-F238E27FC236}">
                <a16:creationId xmlns:a16="http://schemas.microsoft.com/office/drawing/2014/main" id="{5AEAEE47-3D8F-6E50-9F85-F5062517FA89}"/>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6" name="Slide Number Placeholder 5">
            <a:extLst>
              <a:ext uri="{FF2B5EF4-FFF2-40B4-BE49-F238E27FC236}">
                <a16:creationId xmlns:a16="http://schemas.microsoft.com/office/drawing/2014/main" id="{19759201-E894-F4BB-37BC-6A8D34126F64}"/>
              </a:ext>
            </a:extLst>
          </p:cNvPr>
          <p:cNvSpPr>
            <a:spLocks noGrp="1"/>
          </p:cNvSpPr>
          <p:nvPr>
            <p:ph type="sldNum" sz="quarter" idx="20"/>
          </p:nvPr>
        </p:nvSpPr>
        <p:spPr/>
        <p:txBody>
          <a:bodyPr/>
          <a:lstStyle/>
          <a:p>
            <a:fld id="{2D04F4CF-F641-6E4E-8F87-8EB8AA2BFA51}" type="slidenum">
              <a:rPr lang="en-US" smtClean="0"/>
              <a:pPr/>
              <a:t>6</a:t>
            </a:fld>
            <a:endParaRPr lang="en-US"/>
          </a:p>
        </p:txBody>
      </p:sp>
      <p:graphicFrame>
        <p:nvGraphicFramePr>
          <p:cNvPr id="7" name="Table 6">
            <a:extLst>
              <a:ext uri="{FF2B5EF4-FFF2-40B4-BE49-F238E27FC236}">
                <a16:creationId xmlns:a16="http://schemas.microsoft.com/office/drawing/2014/main" id="{5C81DDD2-934C-68CB-0333-4B343CD5BF30}"/>
              </a:ext>
            </a:extLst>
          </p:cNvPr>
          <p:cNvGraphicFramePr>
            <a:graphicFrameLocks noGrp="1"/>
          </p:cNvGraphicFramePr>
          <p:nvPr>
            <p:extLst>
              <p:ext uri="{D42A27DB-BD31-4B8C-83A1-F6EECF244321}">
                <p14:modId xmlns:p14="http://schemas.microsoft.com/office/powerpoint/2010/main" val="2433399766"/>
              </p:ext>
            </p:extLst>
          </p:nvPr>
        </p:nvGraphicFramePr>
        <p:xfrm>
          <a:off x="352612" y="3629597"/>
          <a:ext cx="11234857" cy="1854200"/>
        </p:xfrm>
        <a:graphic>
          <a:graphicData uri="http://schemas.openxmlformats.org/drawingml/2006/table">
            <a:tbl>
              <a:tblPr firstRow="1" bandRow="1">
                <a:tableStyleId>{5C22544A-7EE6-4342-B048-85BDC9FD1C3A}</a:tableStyleId>
              </a:tblPr>
              <a:tblGrid>
                <a:gridCol w="1366025">
                  <a:extLst>
                    <a:ext uri="{9D8B030D-6E8A-4147-A177-3AD203B41FA5}">
                      <a16:colId xmlns:a16="http://schemas.microsoft.com/office/drawing/2014/main" val="2781750057"/>
                    </a:ext>
                  </a:extLst>
                </a:gridCol>
                <a:gridCol w="2467208">
                  <a:extLst>
                    <a:ext uri="{9D8B030D-6E8A-4147-A177-3AD203B41FA5}">
                      <a16:colId xmlns:a16="http://schemas.microsoft.com/office/drawing/2014/main" val="156452151"/>
                    </a:ext>
                  </a:extLst>
                </a:gridCol>
                <a:gridCol w="3084750">
                  <a:extLst>
                    <a:ext uri="{9D8B030D-6E8A-4147-A177-3AD203B41FA5}">
                      <a16:colId xmlns:a16="http://schemas.microsoft.com/office/drawing/2014/main" val="1481281895"/>
                    </a:ext>
                  </a:extLst>
                </a:gridCol>
                <a:gridCol w="2274849">
                  <a:extLst>
                    <a:ext uri="{9D8B030D-6E8A-4147-A177-3AD203B41FA5}">
                      <a16:colId xmlns:a16="http://schemas.microsoft.com/office/drawing/2014/main" val="2916694678"/>
                    </a:ext>
                  </a:extLst>
                </a:gridCol>
                <a:gridCol w="2042025">
                  <a:extLst>
                    <a:ext uri="{9D8B030D-6E8A-4147-A177-3AD203B41FA5}">
                      <a16:colId xmlns:a16="http://schemas.microsoft.com/office/drawing/2014/main" val="4203825856"/>
                    </a:ext>
                  </a:extLst>
                </a:gridCol>
              </a:tblGrid>
              <a:tr h="370840">
                <a:tc>
                  <a:txBody>
                    <a:bodyPr/>
                    <a:lstStyle/>
                    <a:p>
                      <a:r>
                        <a:rPr lang="en-US" dirty="0"/>
                        <a:t>Axis</a:t>
                      </a:r>
                    </a:p>
                  </a:txBody>
                  <a:tcPr/>
                </a:tc>
                <a:tc>
                  <a:txBody>
                    <a:bodyPr/>
                    <a:lstStyle/>
                    <a:p>
                      <a:r>
                        <a:rPr lang="en-US" dirty="0"/>
                        <a:t>Operational Budget</a:t>
                      </a:r>
                    </a:p>
                  </a:txBody>
                  <a:tcPr/>
                </a:tc>
                <a:tc>
                  <a:txBody>
                    <a:bodyPr/>
                    <a:lstStyle/>
                    <a:p>
                      <a:r>
                        <a:rPr lang="en-US" dirty="0"/>
                        <a:t>Present Model Max</a:t>
                      </a:r>
                    </a:p>
                  </a:txBody>
                  <a:tcPr/>
                </a:tc>
                <a:tc>
                  <a:txBody>
                    <a:bodyPr/>
                    <a:lstStyle/>
                    <a:p>
                      <a:r>
                        <a:rPr lang="en-US" dirty="0"/>
                        <a:t>Gain Margin</a:t>
                      </a:r>
                    </a:p>
                  </a:txBody>
                  <a:tcPr/>
                </a:tc>
                <a:tc>
                  <a:txBody>
                    <a:bodyPr/>
                    <a:lstStyle/>
                    <a:p>
                      <a:r>
                        <a:rPr lang="en-US" dirty="0"/>
                        <a:t>Phase Margin</a:t>
                      </a:r>
                    </a:p>
                  </a:txBody>
                  <a:tcPr/>
                </a:tc>
                <a:extLst>
                  <a:ext uri="{0D108BD9-81ED-4DB2-BD59-A6C34878D82A}">
                    <a16:rowId xmlns:a16="http://schemas.microsoft.com/office/drawing/2014/main" val="1107807215"/>
                  </a:ext>
                </a:extLst>
              </a:tr>
              <a:tr h="370840">
                <a:tc>
                  <a:txBody>
                    <a:bodyPr/>
                    <a:lstStyle/>
                    <a:p>
                      <a:r>
                        <a:rPr lang="en-US" dirty="0"/>
                        <a:t>Force X</a:t>
                      </a:r>
                    </a:p>
                  </a:txBody>
                  <a:tcPr/>
                </a:tc>
                <a:tc>
                  <a:txBody>
                    <a:bodyPr/>
                    <a:lstStyle/>
                    <a:p>
                      <a:r>
                        <a:rPr lang="en-US" dirty="0"/>
                        <a:t>15N</a:t>
                      </a:r>
                    </a:p>
                  </a:txBody>
                  <a:tcPr/>
                </a:tc>
                <a:tc>
                  <a:txBody>
                    <a:bodyPr/>
                    <a:lstStyle/>
                    <a:p>
                      <a:r>
                        <a:rPr lang="en-US" dirty="0">
                          <a:solidFill>
                            <a:schemeClr val="accent4"/>
                          </a:solidFill>
                        </a:rPr>
                        <a:t>5.46N      (64% margin)</a:t>
                      </a:r>
                    </a:p>
                  </a:txBody>
                  <a:tcPr/>
                </a:tc>
                <a:tc>
                  <a:txBody>
                    <a:bodyPr/>
                    <a:lstStyle/>
                    <a:p>
                      <a:r>
                        <a:rPr lang="en-US" dirty="0"/>
                        <a:t>22.4dB</a:t>
                      </a:r>
                    </a:p>
                  </a:txBody>
                  <a:tcPr/>
                </a:tc>
                <a:tc>
                  <a:txBody>
                    <a:bodyPr/>
                    <a:lstStyle/>
                    <a:p>
                      <a:r>
                        <a:rPr lang="en-US" dirty="0"/>
                        <a:t>66.3 deg</a:t>
                      </a:r>
                    </a:p>
                  </a:txBody>
                  <a:tcPr/>
                </a:tc>
                <a:extLst>
                  <a:ext uri="{0D108BD9-81ED-4DB2-BD59-A6C34878D82A}">
                    <a16:rowId xmlns:a16="http://schemas.microsoft.com/office/drawing/2014/main" val="568469836"/>
                  </a:ext>
                </a:extLst>
              </a:tr>
              <a:tr h="370840">
                <a:tc>
                  <a:txBody>
                    <a:bodyPr/>
                    <a:lstStyle/>
                    <a:p>
                      <a:r>
                        <a:rPr lang="en-US" dirty="0"/>
                        <a:t>Force Y</a:t>
                      </a:r>
                    </a:p>
                  </a:txBody>
                  <a:tcPr/>
                </a:tc>
                <a:tc>
                  <a:txBody>
                    <a:bodyPr/>
                    <a:lstStyle/>
                    <a:p>
                      <a:r>
                        <a:rPr lang="en-US" dirty="0"/>
                        <a:t>15N</a:t>
                      </a:r>
                    </a:p>
                  </a:txBody>
                  <a:tcPr/>
                </a:tc>
                <a:tc>
                  <a:txBody>
                    <a:bodyPr/>
                    <a:lstStyle/>
                    <a:p>
                      <a:r>
                        <a:rPr lang="en-US" dirty="0">
                          <a:solidFill>
                            <a:schemeClr val="accent4"/>
                          </a:solidFill>
                        </a:rPr>
                        <a:t>5.43N      (63% margin)</a:t>
                      </a:r>
                    </a:p>
                  </a:txBody>
                  <a:tcPr/>
                </a:tc>
                <a:tc>
                  <a:txBody>
                    <a:bodyPr/>
                    <a:lstStyle/>
                    <a:p>
                      <a:r>
                        <a:rPr lang="en-US" dirty="0"/>
                        <a:t>23.2dB</a:t>
                      </a:r>
                    </a:p>
                  </a:txBody>
                  <a:tcPr/>
                </a:tc>
                <a:tc>
                  <a:txBody>
                    <a:bodyPr/>
                    <a:lstStyle/>
                    <a:p>
                      <a:r>
                        <a:rPr lang="en-US" dirty="0"/>
                        <a:t>68.7 deg</a:t>
                      </a:r>
                    </a:p>
                  </a:txBody>
                  <a:tcPr/>
                </a:tc>
                <a:extLst>
                  <a:ext uri="{0D108BD9-81ED-4DB2-BD59-A6C34878D82A}">
                    <a16:rowId xmlns:a16="http://schemas.microsoft.com/office/drawing/2014/main" val="87562137"/>
                  </a:ext>
                </a:extLst>
              </a:tr>
              <a:tr h="370840">
                <a:tc>
                  <a:txBody>
                    <a:bodyPr/>
                    <a:lstStyle/>
                    <a:p>
                      <a:r>
                        <a:rPr lang="en-US" dirty="0"/>
                        <a:t>Torque X</a:t>
                      </a:r>
                    </a:p>
                  </a:txBody>
                  <a:tcPr/>
                </a:tc>
                <a:tc>
                  <a:txBody>
                    <a:bodyPr/>
                    <a:lstStyle/>
                    <a:p>
                      <a:r>
                        <a:rPr lang="en-US" dirty="0"/>
                        <a:t>2.25Nm</a:t>
                      </a:r>
                    </a:p>
                  </a:txBody>
                  <a:tcPr/>
                </a:tc>
                <a:tc>
                  <a:txBody>
                    <a:bodyPr/>
                    <a:lstStyle/>
                    <a:p>
                      <a:r>
                        <a:rPr lang="en-US" dirty="0">
                          <a:solidFill>
                            <a:schemeClr val="accent4"/>
                          </a:solidFill>
                        </a:rPr>
                        <a:t>1.03Nm   (54% margin)</a:t>
                      </a:r>
                    </a:p>
                  </a:txBody>
                  <a:tcPr/>
                </a:tc>
                <a:tc>
                  <a:txBody>
                    <a:bodyPr/>
                    <a:lstStyle/>
                    <a:p>
                      <a:r>
                        <a:rPr lang="en-US" dirty="0"/>
                        <a:t>21.3dB</a:t>
                      </a:r>
                    </a:p>
                  </a:txBody>
                  <a:tcPr/>
                </a:tc>
                <a:tc>
                  <a:txBody>
                    <a:bodyPr/>
                    <a:lstStyle/>
                    <a:p>
                      <a:r>
                        <a:rPr lang="en-US" dirty="0"/>
                        <a:t>61.7 deg</a:t>
                      </a:r>
                    </a:p>
                  </a:txBody>
                  <a:tcPr/>
                </a:tc>
                <a:extLst>
                  <a:ext uri="{0D108BD9-81ED-4DB2-BD59-A6C34878D82A}">
                    <a16:rowId xmlns:a16="http://schemas.microsoft.com/office/drawing/2014/main" val="4007692234"/>
                  </a:ext>
                </a:extLst>
              </a:tr>
              <a:tr h="370840">
                <a:tc>
                  <a:txBody>
                    <a:bodyPr/>
                    <a:lstStyle/>
                    <a:p>
                      <a:r>
                        <a:rPr lang="en-US" dirty="0"/>
                        <a:t>Torque Y</a:t>
                      </a:r>
                    </a:p>
                  </a:txBody>
                  <a:tcPr/>
                </a:tc>
                <a:tc>
                  <a:txBody>
                    <a:bodyPr/>
                    <a:lstStyle/>
                    <a:p>
                      <a:r>
                        <a:rPr lang="en-US" dirty="0"/>
                        <a:t>2.25Nm</a:t>
                      </a:r>
                    </a:p>
                  </a:txBody>
                  <a:tcPr/>
                </a:tc>
                <a:tc>
                  <a:txBody>
                    <a:bodyPr/>
                    <a:lstStyle/>
                    <a:p>
                      <a:r>
                        <a:rPr lang="en-US" dirty="0">
                          <a:solidFill>
                            <a:schemeClr val="accent4"/>
                          </a:solidFill>
                        </a:rPr>
                        <a:t>1.03Nm   (54% margin)</a:t>
                      </a:r>
                    </a:p>
                  </a:txBody>
                  <a:tcPr/>
                </a:tc>
                <a:tc>
                  <a:txBody>
                    <a:bodyPr/>
                    <a:lstStyle/>
                    <a:p>
                      <a:r>
                        <a:rPr lang="en-US" dirty="0"/>
                        <a:t>21.2dB</a:t>
                      </a:r>
                    </a:p>
                  </a:txBody>
                  <a:tcPr/>
                </a:tc>
                <a:tc>
                  <a:txBody>
                    <a:bodyPr/>
                    <a:lstStyle/>
                    <a:p>
                      <a:r>
                        <a:rPr lang="en-US" dirty="0"/>
                        <a:t>61.4 deg</a:t>
                      </a:r>
                    </a:p>
                  </a:txBody>
                  <a:tcPr/>
                </a:tc>
                <a:extLst>
                  <a:ext uri="{0D108BD9-81ED-4DB2-BD59-A6C34878D82A}">
                    <a16:rowId xmlns:a16="http://schemas.microsoft.com/office/drawing/2014/main" val="555350524"/>
                  </a:ext>
                </a:extLst>
              </a:tr>
            </a:tbl>
          </a:graphicData>
        </a:graphic>
      </p:graphicFrame>
      <p:sp>
        <p:nvSpPr>
          <p:cNvPr id="9" name="TextBox 8">
            <a:extLst>
              <a:ext uri="{FF2B5EF4-FFF2-40B4-BE49-F238E27FC236}">
                <a16:creationId xmlns:a16="http://schemas.microsoft.com/office/drawing/2014/main" id="{29C8497C-7EDB-36CC-226B-05197690515F}"/>
              </a:ext>
            </a:extLst>
          </p:cNvPr>
          <p:cNvSpPr txBox="1"/>
          <p:nvPr/>
        </p:nvSpPr>
        <p:spPr>
          <a:xfrm>
            <a:off x="6679631" y="2212740"/>
            <a:ext cx="5131369" cy="1015663"/>
          </a:xfrm>
          <a:prstGeom prst="rect">
            <a:avLst/>
          </a:prstGeom>
        </p:spPr>
        <p:txBody>
          <a:bodyPr wrap="square" rtlCol="0">
            <a:spAutoFit/>
          </a:bodyPr>
          <a:lstStyle/>
          <a:p>
            <a:pPr algn="l"/>
            <a:r>
              <a:rPr lang="en-US" sz="2000" dirty="0"/>
              <a:t>Control rate: </a:t>
            </a:r>
            <a:r>
              <a:rPr lang="en-US" sz="2000" dirty="0">
                <a:solidFill>
                  <a:srgbClr val="FFC000"/>
                </a:solidFill>
              </a:rPr>
              <a:t>64Hz</a:t>
            </a:r>
            <a:r>
              <a:rPr lang="en-US" sz="2000" dirty="0"/>
              <a:t>/</a:t>
            </a:r>
            <a:r>
              <a:rPr lang="en-US" sz="2000" dirty="0">
                <a:solidFill>
                  <a:schemeClr val="accent4"/>
                </a:solidFill>
              </a:rPr>
              <a:t>128Hz</a:t>
            </a:r>
            <a:r>
              <a:rPr lang="en-US" sz="2000" dirty="0"/>
              <a:t> (down from </a:t>
            </a:r>
            <a:r>
              <a:rPr lang="en-US" sz="2000" dirty="0">
                <a:solidFill>
                  <a:schemeClr val="accent4"/>
                </a:solidFill>
              </a:rPr>
              <a:t>256</a:t>
            </a:r>
            <a:r>
              <a:rPr lang="en-US" sz="2000" dirty="0"/>
              <a:t>)</a:t>
            </a:r>
          </a:p>
          <a:p>
            <a:pPr algn="l"/>
            <a:r>
              <a:rPr lang="en-US" sz="2000" dirty="0"/>
              <a:t>Control delay cycles: 6</a:t>
            </a:r>
          </a:p>
          <a:p>
            <a:pPr algn="l"/>
            <a:r>
              <a:rPr lang="en-US" sz="2000" dirty="0"/>
              <a:t>Insertion motion duration: </a:t>
            </a:r>
            <a:r>
              <a:rPr lang="en-US" sz="2000" dirty="0">
                <a:solidFill>
                  <a:schemeClr val="accent4"/>
                </a:solidFill>
              </a:rPr>
              <a:t>2 minutes</a:t>
            </a:r>
          </a:p>
        </p:txBody>
      </p:sp>
      <p:sp>
        <p:nvSpPr>
          <p:cNvPr id="10" name="TextBox 9">
            <a:extLst>
              <a:ext uri="{FF2B5EF4-FFF2-40B4-BE49-F238E27FC236}">
                <a16:creationId xmlns:a16="http://schemas.microsoft.com/office/drawing/2014/main" id="{C65BDB8C-BD45-8D18-16B4-C48D03A947F6}"/>
              </a:ext>
            </a:extLst>
          </p:cNvPr>
          <p:cNvSpPr txBox="1"/>
          <p:nvPr/>
        </p:nvSpPr>
        <p:spPr>
          <a:xfrm>
            <a:off x="352612" y="5590822"/>
            <a:ext cx="6957012" cy="923330"/>
          </a:xfrm>
          <a:prstGeom prst="rect">
            <a:avLst/>
          </a:prstGeom>
        </p:spPr>
        <p:txBody>
          <a:bodyPr wrap="square" rtlCol="0">
            <a:spAutoFit/>
          </a:bodyPr>
          <a:lstStyle/>
          <a:p>
            <a:pPr algn="l"/>
            <a:r>
              <a:rPr lang="en-US" dirty="0"/>
              <a:t>Key takeaways:</a:t>
            </a:r>
          </a:p>
          <a:p>
            <a:pPr marL="285750" indent="-285750" algn="l">
              <a:buFont typeface="Arial" panose="020B0604020202020204" pitchFamily="34" charset="0"/>
              <a:buChar char="•"/>
            </a:pPr>
            <a:r>
              <a:rPr lang="en-US" dirty="0"/>
              <a:t>All axes meet operational force budgets with &gt;50% margin</a:t>
            </a:r>
          </a:p>
          <a:p>
            <a:pPr marL="285750" indent="-285750" algn="l">
              <a:buFont typeface="Arial" panose="020B0604020202020204" pitchFamily="34" charset="0"/>
              <a:buChar char="•"/>
            </a:pPr>
            <a:r>
              <a:rPr lang="en-US" dirty="0"/>
              <a:t>All axes meet JPL Design Principles for phase and gain margin</a:t>
            </a:r>
          </a:p>
        </p:txBody>
      </p:sp>
      <p:graphicFrame>
        <p:nvGraphicFramePr>
          <p:cNvPr id="12" name="Table 11">
            <a:extLst>
              <a:ext uri="{FF2B5EF4-FFF2-40B4-BE49-F238E27FC236}">
                <a16:creationId xmlns:a16="http://schemas.microsoft.com/office/drawing/2014/main" id="{119275C2-7DB7-A02A-21DF-055CA9B10065}"/>
              </a:ext>
            </a:extLst>
          </p:cNvPr>
          <p:cNvGraphicFramePr>
            <a:graphicFrameLocks noGrp="1"/>
          </p:cNvGraphicFramePr>
          <p:nvPr>
            <p:extLst>
              <p:ext uri="{D42A27DB-BD31-4B8C-83A1-F6EECF244321}">
                <p14:modId xmlns:p14="http://schemas.microsoft.com/office/powerpoint/2010/main" val="796045715"/>
              </p:ext>
            </p:extLst>
          </p:nvPr>
        </p:nvGraphicFramePr>
        <p:xfrm>
          <a:off x="7615964" y="5592573"/>
          <a:ext cx="3971505" cy="1040442"/>
        </p:xfrm>
        <a:graphic>
          <a:graphicData uri="http://schemas.openxmlformats.org/drawingml/2006/table">
            <a:tbl>
              <a:tblPr firstRow="1" bandRow="1">
                <a:tableStyleId>{5C22544A-7EE6-4342-B048-85BDC9FD1C3A}</a:tableStyleId>
              </a:tblPr>
              <a:tblGrid>
                <a:gridCol w="2283683">
                  <a:extLst>
                    <a:ext uri="{9D8B030D-6E8A-4147-A177-3AD203B41FA5}">
                      <a16:colId xmlns:a16="http://schemas.microsoft.com/office/drawing/2014/main" val="4131314662"/>
                    </a:ext>
                  </a:extLst>
                </a:gridCol>
                <a:gridCol w="932869">
                  <a:extLst>
                    <a:ext uri="{9D8B030D-6E8A-4147-A177-3AD203B41FA5}">
                      <a16:colId xmlns:a16="http://schemas.microsoft.com/office/drawing/2014/main" val="1339470156"/>
                    </a:ext>
                  </a:extLst>
                </a:gridCol>
                <a:gridCol w="754953">
                  <a:extLst>
                    <a:ext uri="{9D8B030D-6E8A-4147-A177-3AD203B41FA5}">
                      <a16:colId xmlns:a16="http://schemas.microsoft.com/office/drawing/2014/main" val="886925492"/>
                    </a:ext>
                  </a:extLst>
                </a:gridCol>
              </a:tblGrid>
              <a:tr h="346814">
                <a:tc>
                  <a:txBody>
                    <a:bodyPr/>
                    <a:lstStyle/>
                    <a:p>
                      <a:r>
                        <a:rPr lang="en-US" sz="1400" dirty="0"/>
                        <a:t>JPL DP Stability Margins</a:t>
                      </a:r>
                    </a:p>
                  </a:txBody>
                  <a:tcPr/>
                </a:tc>
                <a:tc>
                  <a:txBody>
                    <a:bodyPr/>
                    <a:lstStyle/>
                    <a:p>
                      <a:r>
                        <a:rPr lang="en-US" sz="1400" dirty="0"/>
                        <a:t>Gain</a:t>
                      </a:r>
                    </a:p>
                  </a:txBody>
                  <a:tcPr/>
                </a:tc>
                <a:tc>
                  <a:txBody>
                    <a:bodyPr/>
                    <a:lstStyle/>
                    <a:p>
                      <a:r>
                        <a:rPr lang="en-US" sz="1400" dirty="0"/>
                        <a:t>Phase</a:t>
                      </a:r>
                    </a:p>
                  </a:txBody>
                  <a:tcPr/>
                </a:tc>
                <a:extLst>
                  <a:ext uri="{0D108BD9-81ED-4DB2-BD59-A6C34878D82A}">
                    <a16:rowId xmlns:a16="http://schemas.microsoft.com/office/drawing/2014/main" val="523639729"/>
                  </a:ext>
                </a:extLst>
              </a:tr>
              <a:tr h="346814">
                <a:tc>
                  <a:txBody>
                    <a:bodyPr/>
                    <a:lstStyle/>
                    <a:p>
                      <a:r>
                        <a:rPr lang="en-US" sz="1400" dirty="0"/>
                        <a:t>Standard</a:t>
                      </a:r>
                    </a:p>
                  </a:txBody>
                  <a:tcPr/>
                </a:tc>
                <a:tc>
                  <a:txBody>
                    <a:bodyPr/>
                    <a:lstStyle/>
                    <a:p>
                      <a:r>
                        <a:rPr lang="en-US" sz="1400" dirty="0"/>
                        <a:t>10 dB</a:t>
                      </a:r>
                    </a:p>
                  </a:txBody>
                  <a:tcPr/>
                </a:tc>
                <a:tc>
                  <a:txBody>
                    <a:bodyPr/>
                    <a:lstStyle/>
                    <a:p>
                      <a:r>
                        <a:rPr lang="en-US" sz="1400" dirty="0"/>
                        <a:t>60 deg</a:t>
                      </a:r>
                    </a:p>
                  </a:txBody>
                  <a:tcPr/>
                </a:tc>
                <a:extLst>
                  <a:ext uri="{0D108BD9-81ED-4DB2-BD59-A6C34878D82A}">
                    <a16:rowId xmlns:a16="http://schemas.microsoft.com/office/drawing/2014/main" val="1926699146"/>
                  </a:ext>
                </a:extLst>
              </a:tr>
              <a:tr h="346814">
                <a:tc>
                  <a:txBody>
                    <a:bodyPr/>
                    <a:lstStyle/>
                    <a:p>
                      <a:r>
                        <a:rPr lang="en-US" sz="1400" dirty="0"/>
                        <a:t>“High performance”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6 dB</a:t>
                      </a:r>
                    </a:p>
                  </a:txBody>
                  <a:tcPr/>
                </a:tc>
                <a:tc>
                  <a:txBody>
                    <a:bodyPr/>
                    <a:lstStyle/>
                    <a:p>
                      <a:r>
                        <a:rPr lang="en-US" sz="1400" dirty="0"/>
                        <a:t>30 deg</a:t>
                      </a:r>
                    </a:p>
                  </a:txBody>
                  <a:tcPr/>
                </a:tc>
                <a:extLst>
                  <a:ext uri="{0D108BD9-81ED-4DB2-BD59-A6C34878D82A}">
                    <a16:rowId xmlns:a16="http://schemas.microsoft.com/office/drawing/2014/main" val="1748551744"/>
                  </a:ext>
                </a:extLst>
              </a:tr>
            </a:tbl>
          </a:graphicData>
        </a:graphic>
      </p:graphicFrame>
      <p:sp>
        <p:nvSpPr>
          <p:cNvPr id="8" name="TextBox 7">
            <a:extLst>
              <a:ext uri="{FF2B5EF4-FFF2-40B4-BE49-F238E27FC236}">
                <a16:creationId xmlns:a16="http://schemas.microsoft.com/office/drawing/2014/main" id="{F5826335-74A7-5CB9-C1E7-FAAFF5AFBBC6}"/>
              </a:ext>
            </a:extLst>
          </p:cNvPr>
          <p:cNvSpPr txBox="1"/>
          <p:nvPr/>
        </p:nvSpPr>
        <p:spPr>
          <a:xfrm>
            <a:off x="9595625" y="711920"/>
            <a:ext cx="2596376" cy="369332"/>
          </a:xfrm>
          <a:prstGeom prst="rect">
            <a:avLst/>
          </a:prstGeom>
        </p:spPr>
        <p:txBody>
          <a:bodyPr wrap="square" rtlCol="0">
            <a:spAutoFit/>
          </a:bodyPr>
          <a:lstStyle/>
          <a:p>
            <a:pPr algn="l"/>
            <a:r>
              <a:rPr lang="en-US" dirty="0">
                <a:solidFill>
                  <a:schemeClr val="accent4"/>
                </a:solidFill>
              </a:rPr>
              <a:t>Green = improvements</a:t>
            </a:r>
          </a:p>
        </p:txBody>
      </p:sp>
    </p:spTree>
    <p:extLst>
      <p:ext uri="{BB962C8B-B14F-4D97-AF65-F5344CB8AC3E}">
        <p14:creationId xmlns:p14="http://schemas.microsoft.com/office/powerpoint/2010/main" val="4087262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5D5D9-6F69-5CC5-1928-91A5639B6018}"/>
              </a:ext>
            </a:extLst>
          </p:cNvPr>
          <p:cNvSpPr>
            <a:spLocks noGrp="1"/>
          </p:cNvSpPr>
          <p:nvPr>
            <p:ph type="title"/>
          </p:nvPr>
        </p:nvSpPr>
        <p:spPr/>
        <p:txBody>
          <a:bodyPr/>
          <a:lstStyle/>
          <a:p>
            <a:r>
              <a:rPr lang="en-US" sz="2800" dirty="0"/>
              <a:t>Asimov C6 Agile Initial Results</a:t>
            </a:r>
            <a:endParaRPr lang="en-US" dirty="0"/>
          </a:p>
        </p:txBody>
      </p:sp>
      <p:sp>
        <p:nvSpPr>
          <p:cNvPr id="3" name="Date Placeholder 2">
            <a:extLst>
              <a:ext uri="{FF2B5EF4-FFF2-40B4-BE49-F238E27FC236}">
                <a16:creationId xmlns:a16="http://schemas.microsoft.com/office/drawing/2014/main" id="{535F9ABE-2BA3-5C21-34B3-D881A98117F2}"/>
              </a:ext>
            </a:extLst>
          </p:cNvPr>
          <p:cNvSpPr>
            <a:spLocks noGrp="1"/>
          </p:cNvSpPr>
          <p:nvPr>
            <p:ph type="dt" sz="half" idx="18"/>
          </p:nvPr>
        </p:nvSpPr>
        <p:spPr/>
        <p:txBody>
          <a:bodyPr/>
          <a:lstStyle/>
          <a:p>
            <a:r>
              <a:rPr lang="en-US"/>
              <a:t>DD/MM/YYYY</a:t>
            </a:r>
          </a:p>
        </p:txBody>
      </p:sp>
      <p:sp>
        <p:nvSpPr>
          <p:cNvPr id="4" name="Footer Placeholder 3">
            <a:extLst>
              <a:ext uri="{FF2B5EF4-FFF2-40B4-BE49-F238E27FC236}">
                <a16:creationId xmlns:a16="http://schemas.microsoft.com/office/drawing/2014/main" id="{EDACA2FB-BE6C-0D28-AA1B-8128F6818EAF}"/>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5" name="Slide Number Placeholder 4">
            <a:extLst>
              <a:ext uri="{FF2B5EF4-FFF2-40B4-BE49-F238E27FC236}">
                <a16:creationId xmlns:a16="http://schemas.microsoft.com/office/drawing/2014/main" id="{DA37A366-F846-6583-7C58-5CA2CA7F7728}"/>
              </a:ext>
            </a:extLst>
          </p:cNvPr>
          <p:cNvSpPr>
            <a:spLocks noGrp="1"/>
          </p:cNvSpPr>
          <p:nvPr>
            <p:ph type="sldNum" sz="quarter" idx="20"/>
          </p:nvPr>
        </p:nvSpPr>
        <p:spPr/>
        <p:txBody>
          <a:bodyPr/>
          <a:lstStyle/>
          <a:p>
            <a:fld id="{2D04F4CF-F641-6E4E-8F87-8EB8AA2BFA51}" type="slidenum">
              <a:rPr lang="en-US" smtClean="0"/>
              <a:pPr/>
              <a:t>7</a:t>
            </a:fld>
            <a:endParaRPr lang="en-US"/>
          </a:p>
        </p:txBody>
      </p:sp>
      <p:pic>
        <p:nvPicPr>
          <p:cNvPr id="7" name="Picture 6">
            <a:extLst>
              <a:ext uri="{FF2B5EF4-FFF2-40B4-BE49-F238E27FC236}">
                <a16:creationId xmlns:a16="http://schemas.microsoft.com/office/drawing/2014/main" id="{F18CEA3A-061A-A5DA-AEA3-F8D1C5EE1F22}"/>
              </a:ext>
            </a:extLst>
          </p:cNvPr>
          <p:cNvPicPr>
            <a:picLocks noChangeAspect="1"/>
          </p:cNvPicPr>
          <p:nvPr/>
        </p:nvPicPr>
        <p:blipFill>
          <a:blip r:embed="rId4"/>
          <a:stretch>
            <a:fillRect/>
          </a:stretch>
        </p:blipFill>
        <p:spPr>
          <a:xfrm>
            <a:off x="0" y="1092895"/>
            <a:ext cx="7633010" cy="5399980"/>
          </a:xfrm>
          <a:prstGeom prst="rect">
            <a:avLst/>
          </a:prstGeom>
        </p:spPr>
      </p:pic>
      <p:sp>
        <p:nvSpPr>
          <p:cNvPr id="8" name="TextBox 7">
            <a:extLst>
              <a:ext uri="{FF2B5EF4-FFF2-40B4-BE49-F238E27FC236}">
                <a16:creationId xmlns:a16="http://schemas.microsoft.com/office/drawing/2014/main" id="{DC46C92F-3010-56F2-D339-8AD8BD8657C0}"/>
              </a:ext>
            </a:extLst>
          </p:cNvPr>
          <p:cNvSpPr txBox="1"/>
          <p:nvPr/>
        </p:nvSpPr>
        <p:spPr>
          <a:xfrm>
            <a:off x="401444" y="1911757"/>
            <a:ext cx="1371600" cy="584775"/>
          </a:xfrm>
          <a:prstGeom prst="rect">
            <a:avLst/>
          </a:prstGeom>
        </p:spPr>
        <p:txBody>
          <a:bodyPr wrap="square" rtlCol="0">
            <a:spAutoFit/>
          </a:bodyPr>
          <a:lstStyle/>
          <a:p>
            <a:pPr algn="l"/>
            <a:r>
              <a:rPr lang="en-US" sz="1600" dirty="0"/>
              <a:t>1</a:t>
            </a:r>
            <a:r>
              <a:rPr lang="en-US" sz="1600" baseline="30000" dirty="0"/>
              <a:t>st</a:t>
            </a:r>
            <a:r>
              <a:rPr lang="en-US" sz="1600" dirty="0"/>
              <a:t> chamfer contact</a:t>
            </a:r>
          </a:p>
        </p:txBody>
      </p:sp>
      <p:sp>
        <p:nvSpPr>
          <p:cNvPr id="9" name="TextBox 8">
            <a:extLst>
              <a:ext uri="{FF2B5EF4-FFF2-40B4-BE49-F238E27FC236}">
                <a16:creationId xmlns:a16="http://schemas.microsoft.com/office/drawing/2014/main" id="{DE03E938-ABF0-06C2-CA00-415E21F70371}"/>
              </a:ext>
            </a:extLst>
          </p:cNvPr>
          <p:cNvSpPr txBox="1"/>
          <p:nvPr/>
        </p:nvSpPr>
        <p:spPr>
          <a:xfrm>
            <a:off x="1875786" y="1911757"/>
            <a:ext cx="1451517" cy="584775"/>
          </a:xfrm>
          <a:prstGeom prst="rect">
            <a:avLst/>
          </a:prstGeom>
        </p:spPr>
        <p:txBody>
          <a:bodyPr wrap="square" rtlCol="0">
            <a:spAutoFit/>
          </a:bodyPr>
          <a:lstStyle/>
          <a:p>
            <a:pPr algn="l"/>
            <a:r>
              <a:rPr lang="en-US" sz="1600" dirty="0"/>
              <a:t>2</a:t>
            </a:r>
            <a:r>
              <a:rPr lang="en-US" sz="1600" baseline="30000" dirty="0"/>
              <a:t>nd</a:t>
            </a:r>
            <a:r>
              <a:rPr lang="en-US" sz="1600" dirty="0"/>
              <a:t> chamfer contact</a:t>
            </a:r>
          </a:p>
        </p:txBody>
      </p:sp>
      <p:sp>
        <p:nvSpPr>
          <p:cNvPr id="10" name="TextBox 9">
            <a:extLst>
              <a:ext uri="{FF2B5EF4-FFF2-40B4-BE49-F238E27FC236}">
                <a16:creationId xmlns:a16="http://schemas.microsoft.com/office/drawing/2014/main" id="{4FA6C0F4-D474-9E57-3D6A-1F147C4F1080}"/>
              </a:ext>
            </a:extLst>
          </p:cNvPr>
          <p:cNvSpPr txBox="1"/>
          <p:nvPr/>
        </p:nvSpPr>
        <p:spPr>
          <a:xfrm>
            <a:off x="3596732" y="1911756"/>
            <a:ext cx="968094" cy="584775"/>
          </a:xfrm>
          <a:prstGeom prst="rect">
            <a:avLst/>
          </a:prstGeom>
        </p:spPr>
        <p:txBody>
          <a:bodyPr wrap="square" rtlCol="0">
            <a:spAutoFit/>
          </a:bodyPr>
          <a:lstStyle/>
          <a:p>
            <a:pPr algn="l"/>
            <a:r>
              <a:rPr lang="en-US" sz="1600" dirty="0"/>
              <a:t>Pawl contact</a:t>
            </a:r>
          </a:p>
        </p:txBody>
      </p:sp>
      <p:cxnSp>
        <p:nvCxnSpPr>
          <p:cNvPr id="11" name="Straight Arrow Connector 10">
            <a:extLst>
              <a:ext uri="{FF2B5EF4-FFF2-40B4-BE49-F238E27FC236}">
                <a16:creationId xmlns:a16="http://schemas.microsoft.com/office/drawing/2014/main" id="{BEC802C9-A631-FA28-FFEF-80CE8063A586}"/>
              </a:ext>
            </a:extLst>
          </p:cNvPr>
          <p:cNvCxnSpPr>
            <a:cxnSpLocks/>
          </p:cNvCxnSpPr>
          <p:nvPr/>
        </p:nvCxnSpPr>
        <p:spPr>
          <a:xfrm flipV="1">
            <a:off x="919976" y="1436833"/>
            <a:ext cx="128238" cy="4749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3C68DDB6-58C0-A4C9-76A6-E051FD5B7D9B}"/>
              </a:ext>
            </a:extLst>
          </p:cNvPr>
          <p:cNvCxnSpPr>
            <a:cxnSpLocks/>
            <a:stCxn id="9" idx="0"/>
          </p:cNvCxnSpPr>
          <p:nvPr/>
        </p:nvCxnSpPr>
        <p:spPr>
          <a:xfrm flipH="1" flipV="1">
            <a:off x="2145215" y="1510990"/>
            <a:ext cx="456330" cy="4007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A0C5C07E-B02F-AFF9-46B8-C600B63FF243}"/>
              </a:ext>
            </a:extLst>
          </p:cNvPr>
          <p:cNvCxnSpPr>
            <a:cxnSpLocks/>
            <a:stCxn id="10" idx="0"/>
          </p:cNvCxnSpPr>
          <p:nvPr/>
        </p:nvCxnSpPr>
        <p:spPr>
          <a:xfrm flipV="1">
            <a:off x="4080779" y="1436833"/>
            <a:ext cx="753476" cy="4749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CCB8D7DD-659A-1A7B-3C39-01188790E028}"/>
              </a:ext>
            </a:extLst>
          </p:cNvPr>
          <p:cNvSpPr txBox="1"/>
          <p:nvPr/>
        </p:nvSpPr>
        <p:spPr>
          <a:xfrm>
            <a:off x="5861545" y="2680268"/>
            <a:ext cx="1304693" cy="584775"/>
          </a:xfrm>
          <a:prstGeom prst="rect">
            <a:avLst/>
          </a:prstGeom>
        </p:spPr>
        <p:txBody>
          <a:bodyPr wrap="square" rtlCol="0">
            <a:spAutoFit/>
          </a:bodyPr>
          <a:lstStyle/>
          <a:p>
            <a:pPr algn="r"/>
            <a:r>
              <a:rPr lang="en-US" sz="1600" dirty="0"/>
              <a:t>Force fault Fz=35N</a:t>
            </a:r>
          </a:p>
        </p:txBody>
      </p:sp>
      <p:sp>
        <p:nvSpPr>
          <p:cNvPr id="21" name="Text Placeholder 1">
            <a:extLst>
              <a:ext uri="{FF2B5EF4-FFF2-40B4-BE49-F238E27FC236}">
                <a16:creationId xmlns:a16="http://schemas.microsoft.com/office/drawing/2014/main" id="{E403BDC2-BC04-AA90-78D8-9880E98F8BA9}"/>
              </a:ext>
            </a:extLst>
          </p:cNvPr>
          <p:cNvSpPr txBox="1">
            <a:spLocks/>
          </p:cNvSpPr>
          <p:nvPr/>
        </p:nvSpPr>
        <p:spPr>
          <a:xfrm>
            <a:off x="6227534" y="3282806"/>
            <a:ext cx="4674789" cy="3374026"/>
          </a:xfrm>
          <a:prstGeom prst="rect">
            <a:avLst/>
          </a:prstGeom>
          <a:solidFill>
            <a:schemeClr val="bg1"/>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t>Both TGA -&gt; Glove and also</a:t>
            </a:r>
            <a:br>
              <a:rPr lang="en-US" sz="1800" dirty="0"/>
            </a:br>
            <a:r>
              <a:rPr lang="en-US" sz="1800" dirty="0"/>
              <a:t>RGA -&gt; OS Sleeve worked</a:t>
            </a:r>
            <a:br>
              <a:rPr lang="en-US" sz="1800" dirty="0"/>
            </a:br>
            <a:r>
              <a:rPr lang="en-US" sz="1800" dirty="0"/>
              <a:t>perfectly first time on EDU</a:t>
            </a:r>
            <a:br>
              <a:rPr lang="en-US" sz="1800" dirty="0"/>
            </a:br>
            <a:r>
              <a:rPr lang="en-US" sz="1800" dirty="0"/>
              <a:t>hardware.</a:t>
            </a:r>
          </a:p>
          <a:p>
            <a:pPr marL="0" indent="0">
              <a:buNone/>
            </a:pPr>
            <a:r>
              <a:rPr lang="en-US" sz="1800" dirty="0"/>
              <a:t>Models predicted the wrench</a:t>
            </a:r>
            <a:br>
              <a:rPr lang="en-US" sz="1800" dirty="0"/>
            </a:br>
            <a:r>
              <a:rPr lang="en-US" sz="1800" dirty="0"/>
              <a:t>magnitudes well.</a:t>
            </a:r>
          </a:p>
          <a:p>
            <a:pPr marL="0" indent="0">
              <a:buNone/>
            </a:pPr>
            <a:r>
              <a:rPr lang="en-US" sz="1800" dirty="0"/>
              <a:t>Test outcomes:</a:t>
            </a:r>
          </a:p>
          <a:p>
            <a:r>
              <a:rPr lang="en-US" sz="1800" dirty="0"/>
              <a:t>Misalignment: ~3mm, ~0.017 mrad</a:t>
            </a:r>
          </a:p>
          <a:p>
            <a:r>
              <a:rPr lang="en-US" sz="1800" dirty="0"/>
              <a:t>Peak force: 5.3N (predicted 5.5N)</a:t>
            </a:r>
          </a:p>
          <a:p>
            <a:r>
              <a:rPr lang="en-US" sz="1800" dirty="0"/>
              <a:t>Peak moment: 0.15Nm (predicted 0.33Nm)</a:t>
            </a:r>
          </a:p>
        </p:txBody>
      </p:sp>
      <p:pic>
        <p:nvPicPr>
          <p:cNvPr id="20" name="c6_rga-os">
            <a:hlinkClick r:id="" action="ppaction://media"/>
            <a:extLst>
              <a:ext uri="{FF2B5EF4-FFF2-40B4-BE49-F238E27FC236}">
                <a16:creationId xmlns:a16="http://schemas.microsoft.com/office/drawing/2014/main" id="{3DF38F70-D1CC-1157-DF62-07088B1558E6}"/>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9620082" y="814363"/>
            <a:ext cx="2549614" cy="4532647"/>
          </a:xfrm>
          <a:prstGeom prst="rect">
            <a:avLst/>
          </a:prstGeom>
        </p:spPr>
      </p:pic>
      <p:sp>
        <p:nvSpPr>
          <p:cNvPr id="22" name="TextBox 21">
            <a:extLst>
              <a:ext uri="{FF2B5EF4-FFF2-40B4-BE49-F238E27FC236}">
                <a16:creationId xmlns:a16="http://schemas.microsoft.com/office/drawing/2014/main" id="{3CCFB04E-2E73-AAB6-2827-2A3E34758E62}"/>
              </a:ext>
            </a:extLst>
          </p:cNvPr>
          <p:cNvSpPr txBox="1"/>
          <p:nvPr/>
        </p:nvSpPr>
        <p:spPr>
          <a:xfrm>
            <a:off x="7866820" y="814363"/>
            <a:ext cx="1759637" cy="2031325"/>
          </a:xfrm>
          <a:prstGeom prst="rect">
            <a:avLst/>
          </a:prstGeom>
        </p:spPr>
        <p:txBody>
          <a:bodyPr wrap="square" rtlCol="0">
            <a:spAutoFit/>
          </a:bodyPr>
          <a:lstStyle/>
          <a:p>
            <a:pPr algn="r"/>
            <a:r>
              <a:rPr lang="en-US" dirty="0"/>
              <a:t>ASIMOV475:</a:t>
            </a:r>
          </a:p>
          <a:p>
            <a:pPr algn="r"/>
            <a:endParaRPr lang="en-US" dirty="0"/>
          </a:p>
          <a:p>
            <a:pPr algn="r"/>
            <a:r>
              <a:rPr lang="en-US" dirty="0"/>
              <a:t>Credit to Sihah Joonhigh, Danny Green, and Kris Wehage</a:t>
            </a:r>
          </a:p>
        </p:txBody>
      </p:sp>
      <p:sp>
        <p:nvSpPr>
          <p:cNvPr id="23" name="TextBox 22">
            <a:extLst>
              <a:ext uri="{FF2B5EF4-FFF2-40B4-BE49-F238E27FC236}">
                <a16:creationId xmlns:a16="http://schemas.microsoft.com/office/drawing/2014/main" id="{3003F786-8893-C1B2-9901-E15DE5523805}"/>
              </a:ext>
            </a:extLst>
          </p:cNvPr>
          <p:cNvSpPr txBox="1"/>
          <p:nvPr/>
        </p:nvSpPr>
        <p:spPr>
          <a:xfrm>
            <a:off x="2389539" y="3080686"/>
            <a:ext cx="2164383" cy="338554"/>
          </a:xfrm>
          <a:prstGeom prst="rect">
            <a:avLst/>
          </a:prstGeom>
        </p:spPr>
        <p:txBody>
          <a:bodyPr wrap="square" rtlCol="0">
            <a:spAutoFit/>
          </a:bodyPr>
          <a:lstStyle/>
          <a:p>
            <a:pPr algn="l"/>
            <a:r>
              <a:rPr lang="en-US" sz="1600" dirty="0"/>
              <a:t>Undamped Response</a:t>
            </a:r>
          </a:p>
        </p:txBody>
      </p:sp>
      <p:cxnSp>
        <p:nvCxnSpPr>
          <p:cNvPr id="24" name="Straight Arrow Connector 23">
            <a:extLst>
              <a:ext uri="{FF2B5EF4-FFF2-40B4-BE49-F238E27FC236}">
                <a16:creationId xmlns:a16="http://schemas.microsoft.com/office/drawing/2014/main" id="{945E96D1-46D7-8BF2-47E5-D2CF5466C3D6}"/>
              </a:ext>
            </a:extLst>
          </p:cNvPr>
          <p:cNvCxnSpPr>
            <a:cxnSpLocks/>
          </p:cNvCxnSpPr>
          <p:nvPr/>
        </p:nvCxnSpPr>
        <p:spPr>
          <a:xfrm flipH="1" flipV="1">
            <a:off x="5634110" y="2759927"/>
            <a:ext cx="461890" cy="2127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6CFD6524-5DD2-8FF5-77D0-18D68B90461A}"/>
              </a:ext>
            </a:extLst>
          </p:cNvPr>
          <p:cNvCxnSpPr>
            <a:cxnSpLocks/>
          </p:cNvCxnSpPr>
          <p:nvPr/>
        </p:nvCxnSpPr>
        <p:spPr>
          <a:xfrm flipH="1">
            <a:off x="1276815" y="3249963"/>
            <a:ext cx="1112724" cy="824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FE788927-6CD8-EB9F-5C82-3466B69AAF88}"/>
              </a:ext>
            </a:extLst>
          </p:cNvPr>
          <p:cNvCxnSpPr>
            <a:cxnSpLocks/>
          </p:cNvCxnSpPr>
          <p:nvPr/>
        </p:nvCxnSpPr>
        <p:spPr>
          <a:xfrm flipH="1">
            <a:off x="2142763" y="3265043"/>
            <a:ext cx="246776" cy="1737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3E7DF3A3-95D3-CAA8-E0BC-905C81EA1190}"/>
              </a:ext>
            </a:extLst>
          </p:cNvPr>
          <p:cNvCxnSpPr>
            <a:cxnSpLocks/>
          </p:cNvCxnSpPr>
          <p:nvPr/>
        </p:nvCxnSpPr>
        <p:spPr>
          <a:xfrm flipV="1">
            <a:off x="4532302" y="3143603"/>
            <a:ext cx="323781" cy="1214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C5BB98F7-FB42-5C4E-BB75-14F67189031F}"/>
              </a:ext>
            </a:extLst>
          </p:cNvPr>
          <p:cNvSpPr txBox="1"/>
          <p:nvPr/>
        </p:nvSpPr>
        <p:spPr>
          <a:xfrm>
            <a:off x="2533568" y="3656504"/>
            <a:ext cx="1998734" cy="338554"/>
          </a:xfrm>
          <a:prstGeom prst="rect">
            <a:avLst/>
          </a:prstGeom>
        </p:spPr>
        <p:txBody>
          <a:bodyPr wrap="square" rtlCol="0">
            <a:spAutoFit/>
          </a:bodyPr>
          <a:lstStyle/>
          <a:p>
            <a:pPr algn="l"/>
            <a:r>
              <a:rPr lang="en-US" sz="1600" dirty="0"/>
              <a:t>Damped Response</a:t>
            </a:r>
          </a:p>
        </p:txBody>
      </p:sp>
      <p:cxnSp>
        <p:nvCxnSpPr>
          <p:cNvPr id="38" name="Straight Arrow Connector 37">
            <a:extLst>
              <a:ext uri="{FF2B5EF4-FFF2-40B4-BE49-F238E27FC236}">
                <a16:creationId xmlns:a16="http://schemas.microsoft.com/office/drawing/2014/main" id="{C02DABDA-9467-5C2C-899C-6B7867E20DF1}"/>
              </a:ext>
            </a:extLst>
          </p:cNvPr>
          <p:cNvCxnSpPr>
            <a:cxnSpLocks/>
          </p:cNvCxnSpPr>
          <p:nvPr/>
        </p:nvCxnSpPr>
        <p:spPr>
          <a:xfrm flipH="1" flipV="1">
            <a:off x="1276815" y="3739878"/>
            <a:ext cx="1324729" cy="850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FA5B67F9-926C-8F02-6339-F9495086F17A}"/>
              </a:ext>
            </a:extLst>
          </p:cNvPr>
          <p:cNvCxnSpPr>
            <a:cxnSpLocks/>
          </p:cNvCxnSpPr>
          <p:nvPr/>
        </p:nvCxnSpPr>
        <p:spPr>
          <a:xfrm flipH="1" flipV="1">
            <a:off x="2200954" y="3633518"/>
            <a:ext cx="400590" cy="1913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Text Placeholder 1">
            <a:extLst>
              <a:ext uri="{FF2B5EF4-FFF2-40B4-BE49-F238E27FC236}">
                <a16:creationId xmlns:a16="http://schemas.microsoft.com/office/drawing/2014/main" id="{E4F49B31-B118-63B4-6705-AC54B2A83CA5}"/>
              </a:ext>
            </a:extLst>
          </p:cNvPr>
          <p:cNvSpPr txBox="1">
            <a:spLocks/>
          </p:cNvSpPr>
          <p:nvPr/>
        </p:nvSpPr>
        <p:spPr>
          <a:xfrm>
            <a:off x="401444" y="4578095"/>
            <a:ext cx="4957077" cy="845548"/>
          </a:xfrm>
          <a:prstGeom prst="rect">
            <a:avLst/>
          </a:prstGeom>
          <a:no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dirty="0"/>
              <a:t>As expected, pawl activation incurs much higher forces, as also experienced by Bit Shuttle testing. Needs more exploration in Asimov C6 proper.</a:t>
            </a:r>
          </a:p>
        </p:txBody>
      </p:sp>
    </p:spTree>
    <p:extLst>
      <p:ext uri="{BB962C8B-B14F-4D97-AF65-F5344CB8AC3E}">
        <p14:creationId xmlns:p14="http://schemas.microsoft.com/office/powerpoint/2010/main" val="2689736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108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9B889-3AC9-41EF-554E-DD8157CF9149}"/>
              </a:ext>
            </a:extLst>
          </p:cNvPr>
          <p:cNvSpPr>
            <a:spLocks noGrp="1"/>
          </p:cNvSpPr>
          <p:nvPr>
            <p:ph type="title"/>
          </p:nvPr>
        </p:nvSpPr>
        <p:spPr>
          <a:xfrm>
            <a:off x="276352" y="154160"/>
            <a:ext cx="10151325" cy="552594"/>
          </a:xfrm>
        </p:spPr>
        <p:txBody>
          <a:bodyPr/>
          <a:lstStyle/>
          <a:p>
            <a:r>
              <a:rPr lang="en-US" dirty="0"/>
              <a:t>Model Validation Plan thru TTR</a:t>
            </a:r>
          </a:p>
        </p:txBody>
      </p:sp>
      <p:sp>
        <p:nvSpPr>
          <p:cNvPr id="3" name="Date Placeholder 2">
            <a:extLst>
              <a:ext uri="{FF2B5EF4-FFF2-40B4-BE49-F238E27FC236}">
                <a16:creationId xmlns:a16="http://schemas.microsoft.com/office/drawing/2014/main" id="{467355C0-817F-F843-BE8F-2BCFD0AD6C27}"/>
              </a:ext>
            </a:extLst>
          </p:cNvPr>
          <p:cNvSpPr>
            <a:spLocks noGrp="1"/>
          </p:cNvSpPr>
          <p:nvPr>
            <p:ph type="dt" sz="half" idx="18"/>
          </p:nvPr>
        </p:nvSpPr>
        <p:spPr/>
        <p:txBody>
          <a:bodyPr/>
          <a:lstStyle/>
          <a:p>
            <a:r>
              <a:rPr lang="en-US"/>
              <a:t>DD/MM/YYYY</a:t>
            </a:r>
          </a:p>
        </p:txBody>
      </p:sp>
      <p:sp>
        <p:nvSpPr>
          <p:cNvPr id="4" name="Footer Placeholder 3">
            <a:extLst>
              <a:ext uri="{FF2B5EF4-FFF2-40B4-BE49-F238E27FC236}">
                <a16:creationId xmlns:a16="http://schemas.microsoft.com/office/drawing/2014/main" id="{A1F4A8F2-CAF7-E1C1-AFF3-E3B8F1588114}"/>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5" name="Slide Number Placeholder 4">
            <a:extLst>
              <a:ext uri="{FF2B5EF4-FFF2-40B4-BE49-F238E27FC236}">
                <a16:creationId xmlns:a16="http://schemas.microsoft.com/office/drawing/2014/main" id="{B2ACCD40-3219-F5C4-BC95-F942D1A6CB84}"/>
              </a:ext>
            </a:extLst>
          </p:cNvPr>
          <p:cNvSpPr>
            <a:spLocks noGrp="1"/>
          </p:cNvSpPr>
          <p:nvPr>
            <p:ph type="sldNum" sz="quarter" idx="20"/>
          </p:nvPr>
        </p:nvSpPr>
        <p:spPr/>
        <p:txBody>
          <a:bodyPr/>
          <a:lstStyle/>
          <a:p>
            <a:fld id="{2D04F4CF-F641-6E4E-8F87-8EB8AA2BFA51}" type="slidenum">
              <a:rPr lang="en-US" smtClean="0"/>
              <a:pPr/>
              <a:t>8</a:t>
            </a:fld>
            <a:endParaRPr lang="en-US"/>
          </a:p>
        </p:txBody>
      </p:sp>
      <p:sp>
        <p:nvSpPr>
          <p:cNvPr id="6" name="Text Placeholder 5">
            <a:extLst>
              <a:ext uri="{FF2B5EF4-FFF2-40B4-BE49-F238E27FC236}">
                <a16:creationId xmlns:a16="http://schemas.microsoft.com/office/drawing/2014/main" id="{B49D7192-7749-3015-B4A6-FA18EE80C792}"/>
              </a:ext>
            </a:extLst>
          </p:cNvPr>
          <p:cNvSpPr>
            <a:spLocks noGrp="1"/>
          </p:cNvSpPr>
          <p:nvPr>
            <p:ph type="body" sz="quarter" idx="10"/>
          </p:nvPr>
        </p:nvSpPr>
        <p:spPr/>
        <p:txBody>
          <a:bodyPr/>
          <a:lstStyle/>
          <a:p>
            <a:r>
              <a:rPr lang="en-US" dirty="0"/>
              <a:t>MSR-SRL-STS In-Contact Manipulation</a:t>
            </a:r>
          </a:p>
        </p:txBody>
      </p:sp>
      <p:cxnSp>
        <p:nvCxnSpPr>
          <p:cNvPr id="8" name="Straight Arrow Connector 7">
            <a:extLst>
              <a:ext uri="{FF2B5EF4-FFF2-40B4-BE49-F238E27FC236}">
                <a16:creationId xmlns:a16="http://schemas.microsoft.com/office/drawing/2014/main" id="{78F0FF4B-E9C1-37A9-C9CA-5FBFA2C094C5}"/>
              </a:ext>
            </a:extLst>
          </p:cNvPr>
          <p:cNvCxnSpPr/>
          <p:nvPr/>
        </p:nvCxnSpPr>
        <p:spPr>
          <a:xfrm>
            <a:off x="343360" y="6295292"/>
            <a:ext cx="11505280" cy="0"/>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2B7CC259-E2D8-1D90-1958-0F552A539BFE}"/>
              </a:ext>
            </a:extLst>
          </p:cNvPr>
          <p:cNvSpPr txBox="1"/>
          <p:nvPr/>
        </p:nvSpPr>
        <p:spPr>
          <a:xfrm>
            <a:off x="5832231" y="6287500"/>
            <a:ext cx="720969" cy="369332"/>
          </a:xfrm>
          <a:prstGeom prst="rect">
            <a:avLst/>
          </a:prstGeom>
        </p:spPr>
        <p:txBody>
          <a:bodyPr wrap="square" rtlCol="0">
            <a:spAutoFit/>
          </a:bodyPr>
          <a:lstStyle/>
          <a:p>
            <a:pPr algn="l"/>
            <a:r>
              <a:rPr lang="en-US" dirty="0">
                <a:solidFill>
                  <a:srgbClr val="0B3C90"/>
                </a:solidFill>
              </a:rPr>
              <a:t>Time</a:t>
            </a:r>
          </a:p>
        </p:txBody>
      </p:sp>
      <p:sp>
        <p:nvSpPr>
          <p:cNvPr id="10" name="TextBox 9">
            <a:extLst>
              <a:ext uri="{FF2B5EF4-FFF2-40B4-BE49-F238E27FC236}">
                <a16:creationId xmlns:a16="http://schemas.microsoft.com/office/drawing/2014/main" id="{A7E53E01-D61A-D712-F8AD-451E74C9EC61}"/>
              </a:ext>
            </a:extLst>
          </p:cNvPr>
          <p:cNvSpPr txBox="1"/>
          <p:nvPr/>
        </p:nvSpPr>
        <p:spPr>
          <a:xfrm>
            <a:off x="10275" y="5516138"/>
            <a:ext cx="1408217" cy="584775"/>
          </a:xfrm>
          <a:prstGeom prst="rect">
            <a:avLst/>
          </a:prstGeom>
        </p:spPr>
        <p:txBody>
          <a:bodyPr wrap="square" rtlCol="0">
            <a:spAutoFit/>
          </a:bodyPr>
          <a:lstStyle/>
          <a:p>
            <a:pPr algn="l"/>
            <a:r>
              <a:rPr lang="en-US" sz="1600" dirty="0"/>
              <a:t>Disembodied actuator</a:t>
            </a:r>
          </a:p>
        </p:txBody>
      </p:sp>
      <p:sp>
        <p:nvSpPr>
          <p:cNvPr id="11" name="TextBox 10">
            <a:extLst>
              <a:ext uri="{FF2B5EF4-FFF2-40B4-BE49-F238E27FC236}">
                <a16:creationId xmlns:a16="http://schemas.microsoft.com/office/drawing/2014/main" id="{FD8A21D0-B43E-9557-6AE2-85D467FCDE06}"/>
              </a:ext>
            </a:extLst>
          </p:cNvPr>
          <p:cNvSpPr txBox="1"/>
          <p:nvPr/>
        </p:nvSpPr>
        <p:spPr>
          <a:xfrm>
            <a:off x="4413" y="1610260"/>
            <a:ext cx="1419940" cy="584775"/>
          </a:xfrm>
          <a:prstGeom prst="rect">
            <a:avLst/>
          </a:prstGeom>
        </p:spPr>
        <p:txBody>
          <a:bodyPr wrap="square" rtlCol="0">
            <a:spAutoFit/>
          </a:bodyPr>
          <a:lstStyle/>
          <a:p>
            <a:pPr algn="l"/>
            <a:r>
              <a:rPr lang="en-US" sz="1600" dirty="0"/>
              <a:t>Disembodied tool</a:t>
            </a:r>
          </a:p>
        </p:txBody>
      </p:sp>
      <p:grpSp>
        <p:nvGrpSpPr>
          <p:cNvPr id="41" name="Group 40">
            <a:extLst>
              <a:ext uri="{FF2B5EF4-FFF2-40B4-BE49-F238E27FC236}">
                <a16:creationId xmlns:a16="http://schemas.microsoft.com/office/drawing/2014/main" id="{A7185844-5929-F1DD-F4A6-8F513B4A6B93}"/>
              </a:ext>
            </a:extLst>
          </p:cNvPr>
          <p:cNvGrpSpPr/>
          <p:nvPr/>
        </p:nvGrpSpPr>
        <p:grpSpPr>
          <a:xfrm>
            <a:off x="3299043" y="1360797"/>
            <a:ext cx="4595626" cy="2061873"/>
            <a:chOff x="3739679" y="1367127"/>
            <a:chExt cx="4132603" cy="1854133"/>
          </a:xfrm>
        </p:grpSpPr>
        <p:pic>
          <p:nvPicPr>
            <p:cNvPr id="33" name="Picture 32">
              <a:extLst>
                <a:ext uri="{FF2B5EF4-FFF2-40B4-BE49-F238E27FC236}">
                  <a16:creationId xmlns:a16="http://schemas.microsoft.com/office/drawing/2014/main" id="{135C4440-E2CF-A850-3B5A-0CC9C43DFFE4}"/>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739679" y="1392768"/>
              <a:ext cx="4132603" cy="1828492"/>
            </a:xfrm>
            <a:prstGeom prst="rect">
              <a:avLst/>
            </a:prstGeom>
            <a:ln w="38100">
              <a:noFill/>
            </a:ln>
          </p:spPr>
        </p:pic>
        <p:sp>
          <p:nvSpPr>
            <p:cNvPr id="13" name="TextBox 12">
              <a:extLst>
                <a:ext uri="{FF2B5EF4-FFF2-40B4-BE49-F238E27FC236}">
                  <a16:creationId xmlns:a16="http://schemas.microsoft.com/office/drawing/2014/main" id="{97D130C7-6A88-96CA-6076-45951ECA98EA}"/>
                </a:ext>
              </a:extLst>
            </p:cNvPr>
            <p:cNvSpPr txBox="1"/>
            <p:nvPr/>
          </p:nvSpPr>
          <p:spPr>
            <a:xfrm>
              <a:off x="4209633" y="1367127"/>
              <a:ext cx="1602553" cy="584775"/>
            </a:xfrm>
            <a:prstGeom prst="rect">
              <a:avLst/>
            </a:prstGeom>
          </p:spPr>
          <p:txBody>
            <a:bodyPr wrap="square" rtlCol="0">
              <a:spAutoFit/>
            </a:bodyPr>
            <a:lstStyle/>
            <a:p>
              <a:pPr algn="l"/>
              <a:r>
                <a:rPr lang="en-US" sz="1600" dirty="0"/>
                <a:t>7 “parallelized” actuators</a:t>
              </a:r>
            </a:p>
          </p:txBody>
        </p:sp>
      </p:grpSp>
      <p:sp>
        <p:nvSpPr>
          <p:cNvPr id="14" name="Rectangle 13">
            <a:extLst>
              <a:ext uri="{FF2B5EF4-FFF2-40B4-BE49-F238E27FC236}">
                <a16:creationId xmlns:a16="http://schemas.microsoft.com/office/drawing/2014/main" id="{4011684E-61B7-731F-C19F-8E007480B608}"/>
              </a:ext>
            </a:extLst>
          </p:cNvPr>
          <p:cNvSpPr/>
          <p:nvPr/>
        </p:nvSpPr>
        <p:spPr>
          <a:xfrm>
            <a:off x="1770591" y="5651040"/>
            <a:ext cx="1137139" cy="4630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Clark C2</a:t>
            </a:r>
          </a:p>
        </p:txBody>
      </p:sp>
      <p:sp>
        <p:nvSpPr>
          <p:cNvPr id="15" name="Rectangle 14">
            <a:extLst>
              <a:ext uri="{FF2B5EF4-FFF2-40B4-BE49-F238E27FC236}">
                <a16:creationId xmlns:a16="http://schemas.microsoft.com/office/drawing/2014/main" id="{1BDFC47D-0642-BD93-A092-1092245158C8}"/>
              </a:ext>
            </a:extLst>
          </p:cNvPr>
          <p:cNvSpPr/>
          <p:nvPr/>
        </p:nvSpPr>
        <p:spPr>
          <a:xfrm>
            <a:off x="2256456" y="1188018"/>
            <a:ext cx="1377227" cy="4630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Asimov C6</a:t>
            </a:r>
          </a:p>
        </p:txBody>
      </p:sp>
      <p:pic>
        <p:nvPicPr>
          <p:cNvPr id="16" name="Picture 15">
            <a:extLst>
              <a:ext uri="{FF2B5EF4-FFF2-40B4-BE49-F238E27FC236}">
                <a16:creationId xmlns:a16="http://schemas.microsoft.com/office/drawing/2014/main" id="{EA155E6C-A8FE-D448-8FFB-DA6E57DBE24E}"/>
              </a:ext>
            </a:extLst>
          </p:cNvPr>
          <p:cNvPicPr>
            <a:picLocks noChangeAspect="1"/>
          </p:cNvPicPr>
          <p:nvPr/>
        </p:nvPicPr>
        <p:blipFill>
          <a:blip r:embed="rId3"/>
          <a:stretch>
            <a:fillRect/>
          </a:stretch>
        </p:blipFill>
        <p:spPr>
          <a:xfrm>
            <a:off x="70514" y="1993476"/>
            <a:ext cx="1635194" cy="1243669"/>
          </a:xfrm>
          <a:prstGeom prst="rect">
            <a:avLst/>
          </a:prstGeom>
        </p:spPr>
      </p:pic>
      <p:grpSp>
        <p:nvGrpSpPr>
          <p:cNvPr id="42" name="Group 41">
            <a:extLst>
              <a:ext uri="{FF2B5EF4-FFF2-40B4-BE49-F238E27FC236}">
                <a16:creationId xmlns:a16="http://schemas.microsoft.com/office/drawing/2014/main" id="{EB6B054A-6BDC-A077-8D77-7CCC809FD422}"/>
              </a:ext>
            </a:extLst>
          </p:cNvPr>
          <p:cNvGrpSpPr/>
          <p:nvPr/>
        </p:nvGrpSpPr>
        <p:grpSpPr>
          <a:xfrm>
            <a:off x="3722489" y="3827608"/>
            <a:ext cx="3267524" cy="1756084"/>
            <a:chOff x="4063435" y="4352147"/>
            <a:chExt cx="2596681" cy="1395549"/>
          </a:xfrm>
        </p:grpSpPr>
        <p:sp>
          <p:nvSpPr>
            <p:cNvPr id="12" name="TextBox 11">
              <a:extLst>
                <a:ext uri="{FF2B5EF4-FFF2-40B4-BE49-F238E27FC236}">
                  <a16:creationId xmlns:a16="http://schemas.microsoft.com/office/drawing/2014/main" id="{F81EF518-5755-0CF4-329F-87D32C6B50F5}"/>
                </a:ext>
              </a:extLst>
            </p:cNvPr>
            <p:cNvSpPr txBox="1"/>
            <p:nvPr/>
          </p:nvSpPr>
          <p:spPr>
            <a:xfrm>
              <a:off x="4239322" y="5409142"/>
              <a:ext cx="2267841" cy="338554"/>
            </a:xfrm>
            <a:prstGeom prst="rect">
              <a:avLst/>
            </a:prstGeom>
          </p:spPr>
          <p:txBody>
            <a:bodyPr wrap="square" rtlCol="0">
              <a:spAutoFit/>
            </a:bodyPr>
            <a:lstStyle/>
            <a:p>
              <a:pPr algn="l"/>
              <a:r>
                <a:rPr lang="en-US" sz="1600" dirty="0"/>
                <a:t>Single DoF AC and FR</a:t>
              </a:r>
            </a:p>
          </p:txBody>
        </p:sp>
        <p:pic>
          <p:nvPicPr>
            <p:cNvPr id="17" name="Picture 16">
              <a:extLst>
                <a:ext uri="{FF2B5EF4-FFF2-40B4-BE49-F238E27FC236}">
                  <a16:creationId xmlns:a16="http://schemas.microsoft.com/office/drawing/2014/main" id="{1F3B35D8-63A9-249B-E9B1-B3EC1B8838DC}"/>
                </a:ext>
              </a:extLst>
            </p:cNvPr>
            <p:cNvPicPr>
              <a:picLocks noChangeAspect="1"/>
            </p:cNvPicPr>
            <p:nvPr/>
          </p:nvPicPr>
          <p:blipFill>
            <a:blip r:embed="rId4"/>
            <a:stretch>
              <a:fillRect/>
            </a:stretch>
          </p:blipFill>
          <p:spPr>
            <a:xfrm>
              <a:off x="4063435" y="4352147"/>
              <a:ext cx="2596681" cy="1092106"/>
            </a:xfrm>
            <a:prstGeom prst="rect">
              <a:avLst/>
            </a:prstGeom>
          </p:spPr>
        </p:pic>
      </p:grpSp>
      <p:pic>
        <p:nvPicPr>
          <p:cNvPr id="18" name="Picture 17">
            <a:extLst>
              <a:ext uri="{FF2B5EF4-FFF2-40B4-BE49-F238E27FC236}">
                <a16:creationId xmlns:a16="http://schemas.microsoft.com/office/drawing/2014/main" id="{BDF962EF-E371-3EDC-5AEE-6B01B050ED84}"/>
              </a:ext>
            </a:extLst>
          </p:cNvPr>
          <p:cNvPicPr>
            <a:picLocks noChangeAspect="1"/>
          </p:cNvPicPr>
          <p:nvPr/>
        </p:nvPicPr>
        <p:blipFill rotWithShape="1">
          <a:blip r:embed="rId5">
            <a:clrChange>
              <a:clrFrom>
                <a:srgbClr val="FFFFFF"/>
              </a:clrFrom>
              <a:clrTo>
                <a:srgbClr val="FFFFFF">
                  <a:alpha val="0"/>
                </a:srgbClr>
              </a:clrTo>
            </a:clrChange>
          </a:blip>
          <a:srcRect l="1" r="46675"/>
          <a:stretch/>
        </p:blipFill>
        <p:spPr>
          <a:xfrm>
            <a:off x="10275" y="3995440"/>
            <a:ext cx="2182056" cy="1588252"/>
          </a:xfrm>
          <a:prstGeom prst="rect">
            <a:avLst/>
          </a:prstGeom>
        </p:spPr>
      </p:pic>
      <p:cxnSp>
        <p:nvCxnSpPr>
          <p:cNvPr id="20" name="Straight Arrow Connector 19">
            <a:extLst>
              <a:ext uri="{FF2B5EF4-FFF2-40B4-BE49-F238E27FC236}">
                <a16:creationId xmlns:a16="http://schemas.microsoft.com/office/drawing/2014/main" id="{DDFC9A72-CB58-CEF1-153D-783BBF5DEB66}"/>
              </a:ext>
            </a:extLst>
          </p:cNvPr>
          <p:cNvCxnSpPr>
            <a:cxnSpLocks/>
            <a:stCxn id="15" idx="1"/>
          </p:cNvCxnSpPr>
          <p:nvPr/>
        </p:nvCxnSpPr>
        <p:spPr>
          <a:xfrm flipH="1">
            <a:off x="1226634" y="1419549"/>
            <a:ext cx="1029822" cy="1033615"/>
          </a:xfrm>
          <a:prstGeom prst="straightConnector1">
            <a:avLst/>
          </a:prstGeom>
          <a:ln w="28575">
            <a:prstDash val="sys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3FBCF247-1AFC-C91E-25AD-86EEA0190A26}"/>
              </a:ext>
            </a:extLst>
          </p:cNvPr>
          <p:cNvCxnSpPr>
            <a:cxnSpLocks/>
            <a:stCxn id="14" idx="1"/>
          </p:cNvCxnSpPr>
          <p:nvPr/>
        </p:nvCxnSpPr>
        <p:spPr>
          <a:xfrm flipH="1" flipV="1">
            <a:off x="1522141" y="5497607"/>
            <a:ext cx="248450" cy="384964"/>
          </a:xfrm>
          <a:prstGeom prst="straightConnector1">
            <a:avLst/>
          </a:prstGeom>
          <a:ln w="28575">
            <a:prstDash val="sys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68CF56C2-1D95-CE45-F829-998AE773DE6B}"/>
              </a:ext>
            </a:extLst>
          </p:cNvPr>
          <p:cNvSpPr/>
          <p:nvPr/>
        </p:nvSpPr>
        <p:spPr>
          <a:xfrm>
            <a:off x="7315700" y="5151359"/>
            <a:ext cx="1137139" cy="4630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Clark C3</a:t>
            </a:r>
          </a:p>
        </p:txBody>
      </p:sp>
      <p:cxnSp>
        <p:nvCxnSpPr>
          <p:cNvPr id="29" name="Straight Arrow Connector 28">
            <a:extLst>
              <a:ext uri="{FF2B5EF4-FFF2-40B4-BE49-F238E27FC236}">
                <a16:creationId xmlns:a16="http://schemas.microsoft.com/office/drawing/2014/main" id="{0911DC8E-1181-639F-501D-5A80F0B6E498}"/>
              </a:ext>
            </a:extLst>
          </p:cNvPr>
          <p:cNvCxnSpPr>
            <a:cxnSpLocks/>
            <a:stCxn id="28" idx="1"/>
            <a:endCxn id="17" idx="3"/>
          </p:cNvCxnSpPr>
          <p:nvPr/>
        </p:nvCxnSpPr>
        <p:spPr>
          <a:xfrm flipH="1" flipV="1">
            <a:off x="6990013" y="4514732"/>
            <a:ext cx="325687" cy="868158"/>
          </a:xfrm>
          <a:prstGeom prst="straightConnector1">
            <a:avLst/>
          </a:prstGeom>
          <a:ln w="28575">
            <a:prstDash val="sys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D9756552-5F6F-6F08-4E3C-4EE7B6B9D277}"/>
              </a:ext>
            </a:extLst>
          </p:cNvPr>
          <p:cNvSpPr/>
          <p:nvPr/>
        </p:nvSpPr>
        <p:spPr>
          <a:xfrm>
            <a:off x="8764267" y="1022846"/>
            <a:ext cx="1663410" cy="4630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Bradbury C1+</a:t>
            </a:r>
          </a:p>
        </p:txBody>
      </p:sp>
      <p:cxnSp>
        <p:nvCxnSpPr>
          <p:cNvPr id="34" name="Straight Arrow Connector 33">
            <a:extLst>
              <a:ext uri="{FF2B5EF4-FFF2-40B4-BE49-F238E27FC236}">
                <a16:creationId xmlns:a16="http://schemas.microsoft.com/office/drawing/2014/main" id="{A44F8FEE-E197-3C5D-F296-C95A23B0F993}"/>
              </a:ext>
            </a:extLst>
          </p:cNvPr>
          <p:cNvCxnSpPr>
            <a:cxnSpLocks/>
            <a:stCxn id="32" idx="1"/>
          </p:cNvCxnSpPr>
          <p:nvPr/>
        </p:nvCxnSpPr>
        <p:spPr>
          <a:xfrm flipH="1">
            <a:off x="7950594" y="1254377"/>
            <a:ext cx="813673" cy="1058692"/>
          </a:xfrm>
          <a:prstGeom prst="straightConnector1">
            <a:avLst/>
          </a:prstGeom>
          <a:ln w="28575">
            <a:prstDash val="sys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8949C559-1A8F-87B9-700F-C2F24C50D914}"/>
              </a:ext>
            </a:extLst>
          </p:cNvPr>
          <p:cNvCxnSpPr>
            <a:cxnSpLocks/>
            <a:stCxn id="16" idx="3"/>
            <a:endCxn id="33" idx="1"/>
          </p:cNvCxnSpPr>
          <p:nvPr/>
        </p:nvCxnSpPr>
        <p:spPr>
          <a:xfrm flipV="1">
            <a:off x="1705708" y="2405991"/>
            <a:ext cx="1593335" cy="209320"/>
          </a:xfrm>
          <a:prstGeom prst="straightConnector1">
            <a:avLst/>
          </a:prstGeom>
          <a:ln w="28575">
            <a:solidFill>
              <a:schemeClr val="accent4"/>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2C4DD6E5-47B1-A251-2BFB-ABBD1ECC1E36}"/>
              </a:ext>
            </a:extLst>
          </p:cNvPr>
          <p:cNvCxnSpPr>
            <a:cxnSpLocks/>
            <a:endCxn id="17" idx="1"/>
          </p:cNvCxnSpPr>
          <p:nvPr/>
        </p:nvCxnSpPr>
        <p:spPr>
          <a:xfrm flipV="1">
            <a:off x="2316622" y="4514732"/>
            <a:ext cx="1405867" cy="273696"/>
          </a:xfrm>
          <a:prstGeom prst="straightConnector1">
            <a:avLst/>
          </a:prstGeom>
          <a:ln w="28575">
            <a:solidFill>
              <a:schemeClr val="accent4"/>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1D92E914-F4A7-9C39-617B-6588AAAF5C14}"/>
              </a:ext>
            </a:extLst>
          </p:cNvPr>
          <p:cNvCxnSpPr>
            <a:cxnSpLocks/>
          </p:cNvCxnSpPr>
          <p:nvPr/>
        </p:nvCxnSpPr>
        <p:spPr>
          <a:xfrm flipV="1">
            <a:off x="1851102" y="2571542"/>
            <a:ext cx="1383816" cy="1833295"/>
          </a:xfrm>
          <a:prstGeom prst="straightConnector1">
            <a:avLst/>
          </a:prstGeom>
          <a:ln w="28575">
            <a:solidFill>
              <a:schemeClr val="accent4"/>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DF743050-95AA-4ECB-E125-CFD2C2322683}"/>
              </a:ext>
            </a:extLst>
          </p:cNvPr>
          <p:cNvSpPr/>
          <p:nvPr/>
        </p:nvSpPr>
        <p:spPr>
          <a:xfrm>
            <a:off x="10241507" y="2380437"/>
            <a:ext cx="1663410" cy="944779"/>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FM Budget,</a:t>
            </a:r>
            <a:br>
              <a:rPr lang="en-US" dirty="0"/>
            </a:br>
            <a:r>
              <a:rPr lang="en-US" dirty="0"/>
              <a:t>Stability,</a:t>
            </a:r>
            <a:br>
              <a:rPr lang="en-US" dirty="0"/>
            </a:br>
            <a:r>
              <a:rPr lang="en-US" dirty="0"/>
              <a:t>Sensitivities</a:t>
            </a:r>
          </a:p>
        </p:txBody>
      </p:sp>
      <p:cxnSp>
        <p:nvCxnSpPr>
          <p:cNvPr id="57" name="Straight Arrow Connector 56">
            <a:extLst>
              <a:ext uri="{FF2B5EF4-FFF2-40B4-BE49-F238E27FC236}">
                <a16:creationId xmlns:a16="http://schemas.microsoft.com/office/drawing/2014/main" id="{2BCB8E06-12B3-41B4-D274-9C0B1CD24647}"/>
              </a:ext>
            </a:extLst>
          </p:cNvPr>
          <p:cNvCxnSpPr>
            <a:cxnSpLocks/>
          </p:cNvCxnSpPr>
          <p:nvPr/>
        </p:nvCxnSpPr>
        <p:spPr>
          <a:xfrm>
            <a:off x="8034454" y="2510651"/>
            <a:ext cx="2207053" cy="127041"/>
          </a:xfrm>
          <a:prstGeom prst="straightConnector1">
            <a:avLst/>
          </a:prstGeom>
          <a:ln w="28575">
            <a:solidFill>
              <a:schemeClr val="accent4"/>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61" name="Picture 60">
            <a:extLst>
              <a:ext uri="{FF2B5EF4-FFF2-40B4-BE49-F238E27FC236}">
                <a16:creationId xmlns:a16="http://schemas.microsoft.com/office/drawing/2014/main" id="{476D90C8-9DD2-E6B0-5216-B3B224B24000}"/>
              </a:ext>
            </a:extLst>
          </p:cNvPr>
          <p:cNvPicPr>
            <a:picLocks noChangeAspect="1"/>
          </p:cNvPicPr>
          <p:nvPr/>
        </p:nvPicPr>
        <p:blipFill>
          <a:blip r:embed="rId6">
            <a:clrChange>
              <a:clrFrom>
                <a:srgbClr val="FFFFFF"/>
              </a:clrFrom>
              <a:clrTo>
                <a:srgbClr val="FFFFFF">
                  <a:alpha val="0"/>
                </a:srgbClr>
              </a:clrTo>
            </a:clrChange>
          </a:blip>
          <a:stretch>
            <a:fillRect/>
          </a:stretch>
        </p:blipFill>
        <p:spPr>
          <a:xfrm>
            <a:off x="9355213" y="4370547"/>
            <a:ext cx="1659376" cy="1257028"/>
          </a:xfrm>
          <a:prstGeom prst="rect">
            <a:avLst/>
          </a:prstGeom>
        </p:spPr>
      </p:pic>
      <p:sp>
        <p:nvSpPr>
          <p:cNvPr id="62" name="TextBox 61">
            <a:extLst>
              <a:ext uri="{FF2B5EF4-FFF2-40B4-BE49-F238E27FC236}">
                <a16:creationId xmlns:a16="http://schemas.microsoft.com/office/drawing/2014/main" id="{BAA6CEC0-38D1-0042-EBF1-6884D58928C9}"/>
              </a:ext>
            </a:extLst>
          </p:cNvPr>
          <p:cNvSpPr txBox="1"/>
          <p:nvPr/>
        </p:nvSpPr>
        <p:spPr>
          <a:xfrm>
            <a:off x="9066869" y="5533734"/>
            <a:ext cx="2597593" cy="584775"/>
          </a:xfrm>
          <a:prstGeom prst="rect">
            <a:avLst/>
          </a:prstGeom>
        </p:spPr>
        <p:txBody>
          <a:bodyPr wrap="square" rtlCol="0">
            <a:spAutoFit/>
          </a:bodyPr>
          <a:lstStyle/>
          <a:p>
            <a:pPr algn="l"/>
            <a:r>
              <a:rPr lang="en-US" sz="1600" dirty="0"/>
              <a:t>(if needed) Full non-linear arm dynamics model</a:t>
            </a:r>
          </a:p>
        </p:txBody>
      </p:sp>
      <p:cxnSp>
        <p:nvCxnSpPr>
          <p:cNvPr id="63" name="Straight Arrow Connector 62">
            <a:extLst>
              <a:ext uri="{FF2B5EF4-FFF2-40B4-BE49-F238E27FC236}">
                <a16:creationId xmlns:a16="http://schemas.microsoft.com/office/drawing/2014/main" id="{78B7DEF6-9B00-818F-66D3-4A10B04BE4D1}"/>
              </a:ext>
            </a:extLst>
          </p:cNvPr>
          <p:cNvCxnSpPr>
            <a:cxnSpLocks/>
          </p:cNvCxnSpPr>
          <p:nvPr/>
        </p:nvCxnSpPr>
        <p:spPr>
          <a:xfrm>
            <a:off x="7884269" y="3379497"/>
            <a:ext cx="1711703" cy="1549718"/>
          </a:xfrm>
          <a:prstGeom prst="straightConnector1">
            <a:avLst/>
          </a:prstGeom>
          <a:ln w="28575">
            <a:solidFill>
              <a:schemeClr val="accent6"/>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F7CA2EA3-4C60-E355-1F96-E52FBAB035E5}"/>
              </a:ext>
            </a:extLst>
          </p:cNvPr>
          <p:cNvCxnSpPr>
            <a:cxnSpLocks/>
            <a:stCxn id="61" idx="0"/>
          </p:cNvCxnSpPr>
          <p:nvPr/>
        </p:nvCxnSpPr>
        <p:spPr>
          <a:xfrm flipV="1">
            <a:off x="10184901" y="3331975"/>
            <a:ext cx="488961" cy="1038572"/>
          </a:xfrm>
          <a:prstGeom prst="straightConnector1">
            <a:avLst/>
          </a:prstGeom>
          <a:ln w="28575">
            <a:solidFill>
              <a:schemeClr val="accent6"/>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ABFD4A70-6877-97DD-1074-863A305AA0A1}"/>
              </a:ext>
            </a:extLst>
          </p:cNvPr>
          <p:cNvCxnSpPr/>
          <p:nvPr/>
        </p:nvCxnSpPr>
        <p:spPr>
          <a:xfrm>
            <a:off x="2063496" y="6131335"/>
            <a:ext cx="0" cy="45814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14452660-4714-E2A4-3F97-2487CCFFB1E7}"/>
              </a:ext>
            </a:extLst>
          </p:cNvPr>
          <p:cNvSpPr txBox="1"/>
          <p:nvPr/>
        </p:nvSpPr>
        <p:spPr>
          <a:xfrm>
            <a:off x="2063496" y="6349785"/>
            <a:ext cx="673841" cy="369332"/>
          </a:xfrm>
          <a:prstGeom prst="rect">
            <a:avLst/>
          </a:prstGeom>
        </p:spPr>
        <p:txBody>
          <a:bodyPr wrap="square" rtlCol="0">
            <a:spAutoFit/>
          </a:bodyPr>
          <a:lstStyle/>
          <a:p>
            <a:pPr algn="l"/>
            <a:r>
              <a:rPr lang="en-US" dirty="0">
                <a:solidFill>
                  <a:srgbClr val="FF0000"/>
                </a:solidFill>
              </a:rPr>
              <a:t>Now</a:t>
            </a:r>
          </a:p>
        </p:txBody>
      </p:sp>
      <p:sp>
        <p:nvSpPr>
          <p:cNvPr id="77" name="TextBox 76">
            <a:extLst>
              <a:ext uri="{FF2B5EF4-FFF2-40B4-BE49-F238E27FC236}">
                <a16:creationId xmlns:a16="http://schemas.microsoft.com/office/drawing/2014/main" id="{857B5000-FB80-B4EC-3E9F-1BDF5B628173}"/>
              </a:ext>
            </a:extLst>
          </p:cNvPr>
          <p:cNvSpPr txBox="1"/>
          <p:nvPr/>
        </p:nvSpPr>
        <p:spPr>
          <a:xfrm>
            <a:off x="10427677" y="847918"/>
            <a:ext cx="1759910" cy="738664"/>
          </a:xfrm>
          <a:prstGeom prst="rect">
            <a:avLst/>
          </a:prstGeom>
        </p:spPr>
        <p:txBody>
          <a:bodyPr wrap="square" rtlCol="0">
            <a:spAutoFit/>
          </a:bodyPr>
          <a:lstStyle/>
          <a:p>
            <a:pPr algn="l"/>
            <a:r>
              <a:rPr lang="en-US" sz="1400" dirty="0"/>
              <a:t>Immediately jump to end-to-end demo for each station</a:t>
            </a:r>
          </a:p>
        </p:txBody>
      </p:sp>
      <p:cxnSp>
        <p:nvCxnSpPr>
          <p:cNvPr id="78" name="Straight Connector 77">
            <a:extLst>
              <a:ext uri="{FF2B5EF4-FFF2-40B4-BE49-F238E27FC236}">
                <a16:creationId xmlns:a16="http://schemas.microsoft.com/office/drawing/2014/main" id="{F97BBF98-2F4E-C055-2B9E-A08506A182B2}"/>
              </a:ext>
            </a:extLst>
          </p:cNvPr>
          <p:cNvCxnSpPr/>
          <p:nvPr/>
        </p:nvCxnSpPr>
        <p:spPr>
          <a:xfrm>
            <a:off x="11424101" y="6084635"/>
            <a:ext cx="0" cy="45814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3B46A18E-AD14-35AA-610A-CA563A03EDBB}"/>
              </a:ext>
            </a:extLst>
          </p:cNvPr>
          <p:cNvSpPr txBox="1"/>
          <p:nvPr/>
        </p:nvSpPr>
        <p:spPr>
          <a:xfrm>
            <a:off x="11424101" y="6303085"/>
            <a:ext cx="721007" cy="369332"/>
          </a:xfrm>
          <a:prstGeom prst="rect">
            <a:avLst/>
          </a:prstGeom>
        </p:spPr>
        <p:txBody>
          <a:bodyPr wrap="square" rtlCol="0">
            <a:spAutoFit/>
          </a:bodyPr>
          <a:lstStyle/>
          <a:p>
            <a:pPr algn="l"/>
            <a:r>
              <a:rPr lang="en-US" dirty="0">
                <a:solidFill>
                  <a:srgbClr val="FF0000"/>
                </a:solidFill>
              </a:rPr>
              <a:t>TTR</a:t>
            </a:r>
          </a:p>
        </p:txBody>
      </p:sp>
    </p:spTree>
    <p:extLst>
      <p:ext uri="{BB962C8B-B14F-4D97-AF65-F5344CB8AC3E}">
        <p14:creationId xmlns:p14="http://schemas.microsoft.com/office/powerpoint/2010/main" val="19593908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FB0D0-239F-B726-9A5C-7AC6310A6E09}"/>
              </a:ext>
            </a:extLst>
          </p:cNvPr>
          <p:cNvSpPr>
            <a:spLocks noGrp="1"/>
          </p:cNvSpPr>
          <p:nvPr>
            <p:ph type="title"/>
          </p:nvPr>
        </p:nvSpPr>
        <p:spPr/>
        <p:txBody>
          <a:bodyPr/>
          <a:lstStyle/>
          <a:p>
            <a:r>
              <a:rPr lang="en-US" dirty="0"/>
              <a:t>Updated Peg-in-Hole ConOps</a:t>
            </a:r>
          </a:p>
        </p:txBody>
      </p:sp>
      <p:sp>
        <p:nvSpPr>
          <p:cNvPr id="3" name="Date Placeholder 2">
            <a:extLst>
              <a:ext uri="{FF2B5EF4-FFF2-40B4-BE49-F238E27FC236}">
                <a16:creationId xmlns:a16="http://schemas.microsoft.com/office/drawing/2014/main" id="{87B9FA99-BEA2-A6F7-3032-7575F89442BC}"/>
              </a:ext>
            </a:extLst>
          </p:cNvPr>
          <p:cNvSpPr>
            <a:spLocks noGrp="1"/>
          </p:cNvSpPr>
          <p:nvPr>
            <p:ph type="dt" sz="half" idx="18"/>
          </p:nvPr>
        </p:nvSpPr>
        <p:spPr/>
        <p:txBody>
          <a:bodyPr/>
          <a:lstStyle/>
          <a:p>
            <a:r>
              <a:rPr lang="en-US"/>
              <a:t>DD/MM/YYYY</a:t>
            </a:r>
          </a:p>
        </p:txBody>
      </p:sp>
      <p:sp>
        <p:nvSpPr>
          <p:cNvPr id="4" name="Footer Placeholder 3">
            <a:extLst>
              <a:ext uri="{FF2B5EF4-FFF2-40B4-BE49-F238E27FC236}">
                <a16:creationId xmlns:a16="http://schemas.microsoft.com/office/drawing/2014/main" id="{ABD559BB-3E1A-8FB4-6286-46D0B860F64D}"/>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5" name="Slide Number Placeholder 4">
            <a:extLst>
              <a:ext uri="{FF2B5EF4-FFF2-40B4-BE49-F238E27FC236}">
                <a16:creationId xmlns:a16="http://schemas.microsoft.com/office/drawing/2014/main" id="{C2FED9E0-8EE9-A656-33EA-389B4A936EBF}"/>
              </a:ext>
            </a:extLst>
          </p:cNvPr>
          <p:cNvSpPr>
            <a:spLocks noGrp="1"/>
          </p:cNvSpPr>
          <p:nvPr>
            <p:ph type="sldNum" sz="quarter" idx="20"/>
          </p:nvPr>
        </p:nvSpPr>
        <p:spPr/>
        <p:txBody>
          <a:bodyPr/>
          <a:lstStyle/>
          <a:p>
            <a:fld id="{2D04F4CF-F641-6E4E-8F87-8EB8AA2BFA51}" type="slidenum">
              <a:rPr lang="en-US" smtClean="0"/>
              <a:pPr/>
              <a:t>9</a:t>
            </a:fld>
            <a:endParaRPr lang="en-US"/>
          </a:p>
        </p:txBody>
      </p:sp>
      <p:sp>
        <p:nvSpPr>
          <p:cNvPr id="6" name="Text Placeholder 5">
            <a:extLst>
              <a:ext uri="{FF2B5EF4-FFF2-40B4-BE49-F238E27FC236}">
                <a16:creationId xmlns:a16="http://schemas.microsoft.com/office/drawing/2014/main" id="{D771DC6D-7133-7E4F-B8C5-1F0A5EAD22F1}"/>
              </a:ext>
            </a:extLst>
          </p:cNvPr>
          <p:cNvSpPr>
            <a:spLocks noGrp="1"/>
          </p:cNvSpPr>
          <p:nvPr>
            <p:ph type="body" sz="quarter" idx="10"/>
          </p:nvPr>
        </p:nvSpPr>
        <p:spPr/>
        <p:txBody>
          <a:bodyPr/>
          <a:lstStyle/>
          <a:p>
            <a:r>
              <a:rPr lang="en-US" dirty="0"/>
              <a:t>MSR-SRL-STS In-Contact Manipulation</a:t>
            </a:r>
          </a:p>
        </p:txBody>
      </p:sp>
      <p:sp>
        <p:nvSpPr>
          <p:cNvPr id="7" name="TextBox 6">
            <a:extLst>
              <a:ext uri="{FF2B5EF4-FFF2-40B4-BE49-F238E27FC236}">
                <a16:creationId xmlns:a16="http://schemas.microsoft.com/office/drawing/2014/main" id="{E0E3A928-2975-5549-3B03-905F3BF5A6BD}"/>
              </a:ext>
            </a:extLst>
          </p:cNvPr>
          <p:cNvSpPr txBox="1"/>
          <p:nvPr/>
        </p:nvSpPr>
        <p:spPr>
          <a:xfrm>
            <a:off x="145384" y="1269776"/>
            <a:ext cx="2843044" cy="1015663"/>
          </a:xfrm>
          <a:prstGeom prst="rect">
            <a:avLst/>
          </a:prstGeom>
        </p:spPr>
        <p:txBody>
          <a:bodyPr wrap="square" rtlCol="0">
            <a:spAutoFit/>
          </a:bodyPr>
          <a:lstStyle/>
          <a:p>
            <a:pPr algn="l"/>
            <a:r>
              <a:rPr lang="en-US" sz="2000" dirty="0"/>
              <a:t>1. Chamfer Find:</a:t>
            </a:r>
          </a:p>
          <a:p>
            <a:pPr algn="l"/>
            <a:r>
              <a:rPr lang="en-US" sz="2000" dirty="0"/>
              <a:t>Free space standoff -&gt;</a:t>
            </a:r>
            <a:br>
              <a:rPr lang="en-US" sz="2000" dirty="0"/>
            </a:br>
            <a:r>
              <a:rPr lang="en-US" sz="2000" dirty="0"/>
              <a:t>Free space centered</a:t>
            </a:r>
          </a:p>
        </p:txBody>
      </p:sp>
      <p:sp>
        <p:nvSpPr>
          <p:cNvPr id="8" name="TextBox 7">
            <a:extLst>
              <a:ext uri="{FF2B5EF4-FFF2-40B4-BE49-F238E27FC236}">
                <a16:creationId xmlns:a16="http://schemas.microsoft.com/office/drawing/2014/main" id="{79B62B3F-363D-4435-971E-971B727891E9}"/>
              </a:ext>
            </a:extLst>
          </p:cNvPr>
          <p:cNvSpPr txBox="1"/>
          <p:nvPr/>
        </p:nvSpPr>
        <p:spPr>
          <a:xfrm>
            <a:off x="3769961" y="1279719"/>
            <a:ext cx="2928529" cy="1015663"/>
          </a:xfrm>
          <a:prstGeom prst="rect">
            <a:avLst/>
          </a:prstGeom>
        </p:spPr>
        <p:txBody>
          <a:bodyPr wrap="square" rtlCol="0">
            <a:spAutoFit/>
          </a:bodyPr>
          <a:lstStyle/>
          <a:p>
            <a:pPr algn="l"/>
            <a:r>
              <a:rPr lang="en-US" sz="2000" dirty="0"/>
              <a:t>2. Active Compliance:</a:t>
            </a:r>
          </a:p>
          <a:p>
            <a:pPr algn="l"/>
            <a:r>
              <a:rPr lang="en-US" sz="2000" dirty="0"/>
              <a:t>Free space centered -&gt;</a:t>
            </a:r>
            <a:br>
              <a:rPr lang="en-US" sz="2000" dirty="0"/>
            </a:br>
            <a:r>
              <a:rPr lang="en-US" sz="2000" dirty="0"/>
              <a:t>Past high load region</a:t>
            </a:r>
          </a:p>
        </p:txBody>
      </p:sp>
      <p:sp>
        <p:nvSpPr>
          <p:cNvPr id="9" name="TextBox 8">
            <a:extLst>
              <a:ext uri="{FF2B5EF4-FFF2-40B4-BE49-F238E27FC236}">
                <a16:creationId xmlns:a16="http://schemas.microsoft.com/office/drawing/2014/main" id="{D38272EA-45D7-99AA-F40F-7C3EC9B80A69}"/>
              </a:ext>
            </a:extLst>
          </p:cNvPr>
          <p:cNvSpPr txBox="1"/>
          <p:nvPr/>
        </p:nvSpPr>
        <p:spPr>
          <a:xfrm>
            <a:off x="7071704" y="1275594"/>
            <a:ext cx="2503929" cy="1631216"/>
          </a:xfrm>
          <a:prstGeom prst="rect">
            <a:avLst/>
          </a:prstGeom>
        </p:spPr>
        <p:txBody>
          <a:bodyPr wrap="square" rtlCol="0">
            <a:spAutoFit/>
          </a:bodyPr>
          <a:lstStyle/>
          <a:p>
            <a:pPr algn="l"/>
            <a:r>
              <a:rPr lang="en-US" sz="2000" dirty="0"/>
              <a:t>3. Force Regulation:</a:t>
            </a:r>
          </a:p>
          <a:p>
            <a:pPr algn="l"/>
            <a:r>
              <a:rPr lang="en-US" sz="2000" dirty="0"/>
              <a:t>Stationary lateral force null to straighten RGA in sleeve</a:t>
            </a:r>
          </a:p>
        </p:txBody>
      </p:sp>
      <p:pic>
        <p:nvPicPr>
          <p:cNvPr id="10" name="Picture 9">
            <a:extLst>
              <a:ext uri="{FF2B5EF4-FFF2-40B4-BE49-F238E27FC236}">
                <a16:creationId xmlns:a16="http://schemas.microsoft.com/office/drawing/2014/main" id="{96C41C36-911F-014E-06CF-6ED424951E9A}"/>
              </a:ext>
            </a:extLst>
          </p:cNvPr>
          <p:cNvPicPr>
            <a:picLocks noChangeAspect="1"/>
          </p:cNvPicPr>
          <p:nvPr/>
        </p:nvPicPr>
        <p:blipFill>
          <a:blip r:embed="rId3"/>
          <a:stretch>
            <a:fillRect/>
          </a:stretch>
        </p:blipFill>
        <p:spPr>
          <a:xfrm>
            <a:off x="208102" y="2641824"/>
            <a:ext cx="2626205" cy="2299413"/>
          </a:xfrm>
          <a:prstGeom prst="rect">
            <a:avLst/>
          </a:prstGeom>
          <a:ln>
            <a:noFill/>
          </a:ln>
        </p:spPr>
      </p:pic>
      <p:grpSp>
        <p:nvGrpSpPr>
          <p:cNvPr id="14" name="Group 13">
            <a:extLst>
              <a:ext uri="{FF2B5EF4-FFF2-40B4-BE49-F238E27FC236}">
                <a16:creationId xmlns:a16="http://schemas.microsoft.com/office/drawing/2014/main" id="{0633333A-324E-4F72-DE8C-80756EC5400E}"/>
              </a:ext>
            </a:extLst>
          </p:cNvPr>
          <p:cNvGrpSpPr/>
          <p:nvPr/>
        </p:nvGrpSpPr>
        <p:grpSpPr>
          <a:xfrm>
            <a:off x="7664019" y="2964304"/>
            <a:ext cx="3771362" cy="1150668"/>
            <a:chOff x="7924623" y="3177110"/>
            <a:chExt cx="3771362" cy="1150668"/>
          </a:xfrm>
        </p:grpSpPr>
        <p:sp>
          <p:nvSpPr>
            <p:cNvPr id="30" name="Right Triangle 29">
              <a:extLst>
                <a:ext uri="{FF2B5EF4-FFF2-40B4-BE49-F238E27FC236}">
                  <a16:creationId xmlns:a16="http://schemas.microsoft.com/office/drawing/2014/main" id="{D0F01D92-DA06-80FB-EF86-DA7A19862757}"/>
                </a:ext>
              </a:extLst>
            </p:cNvPr>
            <p:cNvSpPr/>
            <p:nvPr/>
          </p:nvSpPr>
          <p:spPr>
            <a:xfrm rot="10800000">
              <a:off x="7924624" y="3177413"/>
              <a:ext cx="1526022" cy="28923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BC3C20F4-9DE6-870B-4E55-237FDCDEFEF9}"/>
                </a:ext>
              </a:extLst>
            </p:cNvPr>
            <p:cNvSpPr/>
            <p:nvPr/>
          </p:nvSpPr>
          <p:spPr>
            <a:xfrm>
              <a:off x="9450645" y="3177110"/>
              <a:ext cx="1956107" cy="28923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ight Triangle 32">
              <a:extLst>
                <a:ext uri="{FF2B5EF4-FFF2-40B4-BE49-F238E27FC236}">
                  <a16:creationId xmlns:a16="http://schemas.microsoft.com/office/drawing/2014/main" id="{37793720-0927-B637-BD8E-594B863144DC}"/>
                </a:ext>
              </a:extLst>
            </p:cNvPr>
            <p:cNvSpPr/>
            <p:nvPr/>
          </p:nvSpPr>
          <p:spPr>
            <a:xfrm rot="10800000" flipV="1">
              <a:off x="7924623" y="4038547"/>
              <a:ext cx="1526022" cy="288930"/>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2ACC1D30-8051-1265-CBE2-12D27647A715}"/>
                </a:ext>
              </a:extLst>
            </p:cNvPr>
            <p:cNvSpPr/>
            <p:nvPr/>
          </p:nvSpPr>
          <p:spPr>
            <a:xfrm flipV="1">
              <a:off x="9450644" y="4038847"/>
              <a:ext cx="1969278" cy="28893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C55C791-0708-412D-8023-5BA9E5500F3B}"/>
                </a:ext>
              </a:extLst>
            </p:cNvPr>
            <p:cNvSpPr/>
            <p:nvPr/>
          </p:nvSpPr>
          <p:spPr>
            <a:xfrm>
              <a:off x="9648481" y="3487107"/>
              <a:ext cx="1751709" cy="488651"/>
            </a:xfrm>
            <a:prstGeom prst="rect">
              <a:avLst/>
            </a:prstGeom>
            <a:solidFill>
              <a:schemeClr val="bg1">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A8B12D9F-9ABE-3CC4-77B4-0A9F7E9D3365}"/>
                </a:ext>
              </a:extLst>
            </p:cNvPr>
            <p:cNvSpPr/>
            <p:nvPr/>
          </p:nvSpPr>
          <p:spPr>
            <a:xfrm rot="21414638">
              <a:off x="9136573" y="3500835"/>
              <a:ext cx="1753998" cy="488651"/>
            </a:xfrm>
            <a:prstGeom prst="rect">
              <a:avLst/>
            </a:prstGeom>
            <a:noFill/>
            <a:ln>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106FBD45-7DC1-FFFF-5336-054B882BD6AB}"/>
                </a:ext>
              </a:extLst>
            </p:cNvPr>
            <p:cNvSpPr/>
            <p:nvPr/>
          </p:nvSpPr>
          <p:spPr>
            <a:xfrm rot="5400000">
              <a:off x="10976186" y="3607678"/>
              <a:ext cx="1150366" cy="28923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0" name="Straight Arrow Connector 39">
              <a:extLst>
                <a:ext uri="{FF2B5EF4-FFF2-40B4-BE49-F238E27FC236}">
                  <a16:creationId xmlns:a16="http://schemas.microsoft.com/office/drawing/2014/main" id="{8FB5121C-E6C2-6628-3720-CB6C016698A6}"/>
                </a:ext>
              </a:extLst>
            </p:cNvPr>
            <p:cNvCxnSpPr>
              <a:cxnSpLocks/>
            </p:cNvCxnSpPr>
            <p:nvPr/>
          </p:nvCxnSpPr>
          <p:spPr>
            <a:xfrm>
              <a:off x="9827581" y="3675355"/>
              <a:ext cx="77235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44" name="Group 43">
            <a:extLst>
              <a:ext uri="{FF2B5EF4-FFF2-40B4-BE49-F238E27FC236}">
                <a16:creationId xmlns:a16="http://schemas.microsoft.com/office/drawing/2014/main" id="{A8D7D2AE-5EE4-EF37-DBC0-CFE0D89F7666}"/>
              </a:ext>
            </a:extLst>
          </p:cNvPr>
          <p:cNvGrpSpPr/>
          <p:nvPr/>
        </p:nvGrpSpPr>
        <p:grpSpPr>
          <a:xfrm>
            <a:off x="3276840" y="2524685"/>
            <a:ext cx="3588199" cy="1150670"/>
            <a:chOff x="3567203" y="3114321"/>
            <a:chExt cx="3588199" cy="1150670"/>
          </a:xfrm>
        </p:grpSpPr>
        <p:grpSp>
          <p:nvGrpSpPr>
            <p:cNvPr id="23" name="Group 22">
              <a:extLst>
                <a:ext uri="{FF2B5EF4-FFF2-40B4-BE49-F238E27FC236}">
                  <a16:creationId xmlns:a16="http://schemas.microsoft.com/office/drawing/2014/main" id="{31F48523-1541-6450-00DC-5AE1BF45F2BE}"/>
                </a:ext>
              </a:extLst>
            </p:cNvPr>
            <p:cNvGrpSpPr/>
            <p:nvPr/>
          </p:nvGrpSpPr>
          <p:grpSpPr>
            <a:xfrm>
              <a:off x="4025012" y="3114321"/>
              <a:ext cx="3130390" cy="289535"/>
              <a:chOff x="4761859" y="3602499"/>
              <a:chExt cx="3479008" cy="562778"/>
            </a:xfrm>
          </p:grpSpPr>
          <p:sp>
            <p:nvSpPr>
              <p:cNvPr id="21" name="Right Triangle 20">
                <a:extLst>
                  <a:ext uri="{FF2B5EF4-FFF2-40B4-BE49-F238E27FC236}">
                    <a16:creationId xmlns:a16="http://schemas.microsoft.com/office/drawing/2014/main" id="{CF791427-F768-0320-099C-D5CC1446F502}"/>
                  </a:ext>
                </a:extLst>
              </p:cNvPr>
              <p:cNvSpPr/>
              <p:nvPr/>
            </p:nvSpPr>
            <p:spPr>
              <a:xfrm rot="10800000">
                <a:off x="4761859" y="3603088"/>
                <a:ext cx="1695968" cy="562189"/>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67BC5BCA-B870-3708-3930-409463C92B29}"/>
                  </a:ext>
                </a:extLst>
              </p:cNvPr>
              <p:cNvSpPr/>
              <p:nvPr/>
            </p:nvSpPr>
            <p:spPr>
              <a:xfrm>
                <a:off x="6457826" y="3602499"/>
                <a:ext cx="1783041" cy="56219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 name="Group 23">
              <a:extLst>
                <a:ext uri="{FF2B5EF4-FFF2-40B4-BE49-F238E27FC236}">
                  <a16:creationId xmlns:a16="http://schemas.microsoft.com/office/drawing/2014/main" id="{491630BC-10C7-D31E-2A15-2A0BDBC9B213}"/>
                </a:ext>
              </a:extLst>
            </p:cNvPr>
            <p:cNvGrpSpPr/>
            <p:nvPr/>
          </p:nvGrpSpPr>
          <p:grpSpPr>
            <a:xfrm flipV="1">
              <a:off x="4025011" y="3975758"/>
              <a:ext cx="3130391" cy="289233"/>
              <a:chOff x="4761859" y="3602499"/>
              <a:chExt cx="3479008" cy="562778"/>
            </a:xfrm>
          </p:grpSpPr>
          <p:sp>
            <p:nvSpPr>
              <p:cNvPr id="25" name="Right Triangle 24">
                <a:extLst>
                  <a:ext uri="{FF2B5EF4-FFF2-40B4-BE49-F238E27FC236}">
                    <a16:creationId xmlns:a16="http://schemas.microsoft.com/office/drawing/2014/main" id="{63759919-8BC8-1E47-B5AD-A4D6FE642507}"/>
                  </a:ext>
                </a:extLst>
              </p:cNvPr>
              <p:cNvSpPr/>
              <p:nvPr/>
            </p:nvSpPr>
            <p:spPr>
              <a:xfrm rot="10800000">
                <a:off x="4761859" y="3603088"/>
                <a:ext cx="1695968" cy="562189"/>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2F3C7144-138F-CF5F-6663-DF7D0532BAD6}"/>
                  </a:ext>
                </a:extLst>
              </p:cNvPr>
              <p:cNvSpPr/>
              <p:nvPr/>
            </p:nvSpPr>
            <p:spPr>
              <a:xfrm>
                <a:off x="6457826" y="3602499"/>
                <a:ext cx="1783041" cy="56219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Rectangle 26">
              <a:extLst>
                <a:ext uri="{FF2B5EF4-FFF2-40B4-BE49-F238E27FC236}">
                  <a16:creationId xmlns:a16="http://schemas.microsoft.com/office/drawing/2014/main" id="{435A6189-48B1-B035-F1D5-C560C72507B3}"/>
                </a:ext>
              </a:extLst>
            </p:cNvPr>
            <p:cNvSpPr/>
            <p:nvPr/>
          </p:nvSpPr>
          <p:spPr>
            <a:xfrm rot="21431840">
              <a:off x="5158921" y="3446089"/>
              <a:ext cx="1751709" cy="488651"/>
            </a:xfrm>
            <a:prstGeom prst="rect">
              <a:avLst/>
            </a:prstGeom>
            <a:solidFill>
              <a:schemeClr val="bg1">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FC469E20-122F-C3B4-EB10-AFA705998DF1}"/>
                </a:ext>
              </a:extLst>
            </p:cNvPr>
            <p:cNvSpPr/>
            <p:nvPr/>
          </p:nvSpPr>
          <p:spPr>
            <a:xfrm rot="21277281">
              <a:off x="3567203" y="3505530"/>
              <a:ext cx="1753998" cy="488651"/>
            </a:xfrm>
            <a:prstGeom prst="rect">
              <a:avLst/>
            </a:prstGeom>
            <a:noFill/>
            <a:ln>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Straight Arrow Connector 38">
              <a:extLst>
                <a:ext uri="{FF2B5EF4-FFF2-40B4-BE49-F238E27FC236}">
                  <a16:creationId xmlns:a16="http://schemas.microsoft.com/office/drawing/2014/main" id="{F90BFA73-54A9-36C3-F2B9-6EEBC30D5D9F}"/>
                </a:ext>
              </a:extLst>
            </p:cNvPr>
            <p:cNvCxnSpPr/>
            <p:nvPr/>
          </p:nvCxnSpPr>
          <p:spPr>
            <a:xfrm flipV="1">
              <a:off x="4305670" y="3675355"/>
              <a:ext cx="1677880" cy="9765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3" name="Arc 42">
              <a:extLst>
                <a:ext uri="{FF2B5EF4-FFF2-40B4-BE49-F238E27FC236}">
                  <a16:creationId xmlns:a16="http://schemas.microsoft.com/office/drawing/2014/main" id="{DCEBF93C-2FB2-D695-B95D-00A9539AD047}"/>
                </a:ext>
              </a:extLst>
            </p:cNvPr>
            <p:cNvSpPr/>
            <p:nvPr/>
          </p:nvSpPr>
          <p:spPr>
            <a:xfrm>
              <a:off x="5541193" y="3455462"/>
              <a:ext cx="559293" cy="470793"/>
            </a:xfrm>
            <a:prstGeom prst="arc">
              <a:avLst>
                <a:gd name="adj1" fmla="val 6604463"/>
                <a:gd name="adj2" fmla="val 19625485"/>
              </a:avLst>
            </a:prstGeom>
            <a:ln>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grpSp>
      <p:cxnSp>
        <p:nvCxnSpPr>
          <p:cNvPr id="46" name="Straight Connector 45">
            <a:extLst>
              <a:ext uri="{FF2B5EF4-FFF2-40B4-BE49-F238E27FC236}">
                <a16:creationId xmlns:a16="http://schemas.microsoft.com/office/drawing/2014/main" id="{37782E78-F528-BDEF-4CA2-9BB1CB905203}"/>
              </a:ext>
            </a:extLst>
          </p:cNvPr>
          <p:cNvCxnSpPr/>
          <p:nvPr/>
        </p:nvCxnSpPr>
        <p:spPr>
          <a:xfrm>
            <a:off x="3009660" y="1224023"/>
            <a:ext cx="0" cy="5303267"/>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25BE7157-C742-E8B9-3491-E212614A4DAD}"/>
              </a:ext>
            </a:extLst>
          </p:cNvPr>
          <p:cNvCxnSpPr/>
          <p:nvPr/>
        </p:nvCxnSpPr>
        <p:spPr>
          <a:xfrm>
            <a:off x="7057622" y="1267558"/>
            <a:ext cx="0" cy="5303267"/>
          </a:xfrm>
          <a:prstGeom prst="line">
            <a:avLst/>
          </a:prstGeom>
        </p:spPr>
        <p:style>
          <a:lnRef idx="1">
            <a:schemeClr val="accent1"/>
          </a:lnRef>
          <a:fillRef idx="0">
            <a:schemeClr val="accent1"/>
          </a:fillRef>
          <a:effectRef idx="0">
            <a:schemeClr val="accent1"/>
          </a:effectRef>
          <a:fontRef idx="minor">
            <a:schemeClr val="tx1"/>
          </a:fontRef>
        </p:style>
      </p:cxnSp>
      <p:pic>
        <p:nvPicPr>
          <p:cNvPr id="48" name="Picture 47">
            <a:extLst>
              <a:ext uri="{FF2B5EF4-FFF2-40B4-BE49-F238E27FC236}">
                <a16:creationId xmlns:a16="http://schemas.microsoft.com/office/drawing/2014/main" id="{ECBD4D3E-04CE-9235-273D-F0CED3DA5BB9}"/>
              </a:ext>
            </a:extLst>
          </p:cNvPr>
          <p:cNvPicPr>
            <a:picLocks noChangeAspect="1"/>
          </p:cNvPicPr>
          <p:nvPr/>
        </p:nvPicPr>
        <p:blipFill>
          <a:blip r:embed="rId4"/>
          <a:stretch>
            <a:fillRect/>
          </a:stretch>
        </p:blipFill>
        <p:spPr>
          <a:xfrm>
            <a:off x="3923925" y="3890985"/>
            <a:ext cx="2355179" cy="1910177"/>
          </a:xfrm>
          <a:prstGeom prst="rect">
            <a:avLst/>
          </a:prstGeom>
          <a:ln>
            <a:solidFill>
              <a:schemeClr val="tx1"/>
            </a:solidFill>
          </a:ln>
        </p:spPr>
      </p:pic>
      <p:pic>
        <p:nvPicPr>
          <p:cNvPr id="49" name="Picture 48">
            <a:extLst>
              <a:ext uri="{FF2B5EF4-FFF2-40B4-BE49-F238E27FC236}">
                <a16:creationId xmlns:a16="http://schemas.microsoft.com/office/drawing/2014/main" id="{5435A044-2668-BEFC-D10A-E795083F8DE8}"/>
              </a:ext>
            </a:extLst>
          </p:cNvPr>
          <p:cNvPicPr>
            <a:picLocks noChangeAspect="1"/>
          </p:cNvPicPr>
          <p:nvPr/>
        </p:nvPicPr>
        <p:blipFill>
          <a:blip r:embed="rId5"/>
          <a:stretch>
            <a:fillRect/>
          </a:stretch>
        </p:blipFill>
        <p:spPr>
          <a:xfrm>
            <a:off x="7763107" y="4180406"/>
            <a:ext cx="2248252" cy="1941672"/>
          </a:xfrm>
          <a:prstGeom prst="rect">
            <a:avLst/>
          </a:prstGeom>
          <a:ln>
            <a:solidFill>
              <a:schemeClr val="tx1"/>
            </a:solidFill>
          </a:ln>
        </p:spPr>
      </p:pic>
      <p:sp>
        <p:nvSpPr>
          <p:cNvPr id="50" name="TextBox 49">
            <a:extLst>
              <a:ext uri="{FF2B5EF4-FFF2-40B4-BE49-F238E27FC236}">
                <a16:creationId xmlns:a16="http://schemas.microsoft.com/office/drawing/2014/main" id="{071DB4C1-CE6B-C0BE-574A-D00248BE6908}"/>
              </a:ext>
            </a:extLst>
          </p:cNvPr>
          <p:cNvSpPr txBox="1"/>
          <p:nvPr/>
        </p:nvSpPr>
        <p:spPr>
          <a:xfrm>
            <a:off x="3230639" y="5905831"/>
            <a:ext cx="3730691" cy="646331"/>
          </a:xfrm>
          <a:prstGeom prst="rect">
            <a:avLst/>
          </a:prstGeom>
        </p:spPr>
        <p:txBody>
          <a:bodyPr wrap="square" rtlCol="0">
            <a:spAutoFit/>
          </a:bodyPr>
          <a:lstStyle/>
          <a:p>
            <a:pPr algn="ctr"/>
            <a:r>
              <a:rPr lang="en-US" dirty="0"/>
              <a:t>Behave like an RCCM to do “peg in hole” misalignment correction</a:t>
            </a:r>
          </a:p>
        </p:txBody>
      </p:sp>
      <p:sp>
        <p:nvSpPr>
          <p:cNvPr id="51" name="TextBox 50">
            <a:extLst>
              <a:ext uri="{FF2B5EF4-FFF2-40B4-BE49-F238E27FC236}">
                <a16:creationId xmlns:a16="http://schemas.microsoft.com/office/drawing/2014/main" id="{6B73E039-2E57-AB6C-1018-45B9D4DFCD55}"/>
              </a:ext>
            </a:extLst>
          </p:cNvPr>
          <p:cNvSpPr txBox="1"/>
          <p:nvPr/>
        </p:nvSpPr>
        <p:spPr>
          <a:xfrm>
            <a:off x="7136248" y="6107948"/>
            <a:ext cx="3462143" cy="646331"/>
          </a:xfrm>
          <a:prstGeom prst="rect">
            <a:avLst/>
          </a:prstGeom>
        </p:spPr>
        <p:txBody>
          <a:bodyPr wrap="square" rtlCol="0">
            <a:spAutoFit/>
          </a:bodyPr>
          <a:lstStyle/>
          <a:p>
            <a:pPr algn="ctr"/>
            <a:r>
              <a:rPr lang="en-US" dirty="0"/>
              <a:t>Null side loads to straighten, then finish insertion while nulling</a:t>
            </a:r>
          </a:p>
        </p:txBody>
      </p:sp>
      <p:sp>
        <p:nvSpPr>
          <p:cNvPr id="52" name="TextBox 51">
            <a:extLst>
              <a:ext uri="{FF2B5EF4-FFF2-40B4-BE49-F238E27FC236}">
                <a16:creationId xmlns:a16="http://schemas.microsoft.com/office/drawing/2014/main" id="{1B7AE1E0-B287-55DE-C83C-AC267287BC59}"/>
              </a:ext>
            </a:extLst>
          </p:cNvPr>
          <p:cNvSpPr txBox="1"/>
          <p:nvPr/>
        </p:nvSpPr>
        <p:spPr>
          <a:xfrm>
            <a:off x="0" y="5151242"/>
            <a:ext cx="3009660" cy="1200329"/>
          </a:xfrm>
          <a:prstGeom prst="rect">
            <a:avLst/>
          </a:prstGeom>
        </p:spPr>
        <p:txBody>
          <a:bodyPr wrap="square" rtlCol="0">
            <a:spAutoFit/>
          </a:bodyPr>
          <a:lstStyle/>
          <a:p>
            <a:pPr algn="ctr"/>
            <a:r>
              <a:rPr lang="en-US" dirty="0"/>
              <a:t>Proprioceptive centering to remove most translational misalignment</a:t>
            </a:r>
          </a:p>
          <a:p>
            <a:pPr algn="ctr"/>
            <a:r>
              <a:rPr lang="en-US" dirty="0"/>
              <a:t>(or score a hole in one)</a:t>
            </a:r>
          </a:p>
        </p:txBody>
      </p:sp>
      <p:sp>
        <p:nvSpPr>
          <p:cNvPr id="11" name="TextBox 10">
            <a:extLst>
              <a:ext uri="{FF2B5EF4-FFF2-40B4-BE49-F238E27FC236}">
                <a16:creationId xmlns:a16="http://schemas.microsoft.com/office/drawing/2014/main" id="{182FB297-B093-D333-8DFA-E5E63BE8155A}"/>
              </a:ext>
            </a:extLst>
          </p:cNvPr>
          <p:cNvSpPr txBox="1"/>
          <p:nvPr/>
        </p:nvSpPr>
        <p:spPr>
          <a:xfrm>
            <a:off x="9688073" y="1275594"/>
            <a:ext cx="2503927" cy="1631216"/>
          </a:xfrm>
          <a:prstGeom prst="rect">
            <a:avLst/>
          </a:prstGeom>
        </p:spPr>
        <p:txBody>
          <a:bodyPr wrap="square" rtlCol="0">
            <a:spAutoFit/>
          </a:bodyPr>
          <a:lstStyle/>
          <a:p>
            <a:pPr algn="l"/>
            <a:r>
              <a:rPr lang="en-US" sz="2000" dirty="0"/>
              <a:t>4. Force Regulation:</a:t>
            </a:r>
          </a:p>
          <a:p>
            <a:pPr algn="l"/>
            <a:r>
              <a:rPr lang="en-US" sz="2000" dirty="0"/>
              <a:t>Plan baseline along newly straightened tool frame, null lateral</a:t>
            </a:r>
          </a:p>
        </p:txBody>
      </p:sp>
      <p:cxnSp>
        <p:nvCxnSpPr>
          <p:cNvPr id="12" name="Straight Connector 11">
            <a:extLst>
              <a:ext uri="{FF2B5EF4-FFF2-40B4-BE49-F238E27FC236}">
                <a16:creationId xmlns:a16="http://schemas.microsoft.com/office/drawing/2014/main" id="{A0C181FF-E9C0-7361-7AA6-606CA4F2946C}"/>
              </a:ext>
            </a:extLst>
          </p:cNvPr>
          <p:cNvCxnSpPr>
            <a:cxnSpLocks/>
          </p:cNvCxnSpPr>
          <p:nvPr/>
        </p:nvCxnSpPr>
        <p:spPr>
          <a:xfrm>
            <a:off x="9585094" y="1324124"/>
            <a:ext cx="0" cy="1510638"/>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6E2862FC-EDE3-E33F-DAC1-234059A9BC18}"/>
              </a:ext>
            </a:extLst>
          </p:cNvPr>
          <p:cNvSpPr txBox="1"/>
          <p:nvPr/>
        </p:nvSpPr>
        <p:spPr>
          <a:xfrm>
            <a:off x="10026918" y="4510067"/>
            <a:ext cx="2152986" cy="1323439"/>
          </a:xfrm>
          <a:prstGeom prst="rect">
            <a:avLst/>
          </a:prstGeom>
        </p:spPr>
        <p:txBody>
          <a:bodyPr wrap="square" rtlCol="0">
            <a:spAutoFit/>
          </a:bodyPr>
          <a:lstStyle/>
          <a:p>
            <a:r>
              <a:rPr lang="en-US" sz="1600" dirty="0"/>
              <a:t>Benefits:</a:t>
            </a:r>
            <a:br>
              <a:rPr lang="en-US" sz="1600" dirty="0"/>
            </a:br>
            <a:r>
              <a:rPr lang="en-US" sz="1600" dirty="0"/>
              <a:t>- Mitigates “Jacobian Staleness”</a:t>
            </a:r>
          </a:p>
          <a:p>
            <a:r>
              <a:rPr lang="en-US" sz="1600" dirty="0"/>
              <a:t>- Reduces OS sleeve pawl activation loads</a:t>
            </a:r>
          </a:p>
        </p:txBody>
      </p:sp>
    </p:spTree>
    <p:extLst>
      <p:ext uri="{BB962C8B-B14F-4D97-AF65-F5344CB8AC3E}">
        <p14:creationId xmlns:p14="http://schemas.microsoft.com/office/powerpoint/2010/main" val="23295118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FB0D0-239F-B726-9A5C-7AC6310A6E09}"/>
              </a:ext>
            </a:extLst>
          </p:cNvPr>
          <p:cNvSpPr>
            <a:spLocks noGrp="1"/>
          </p:cNvSpPr>
          <p:nvPr>
            <p:ph type="title"/>
          </p:nvPr>
        </p:nvSpPr>
        <p:spPr>
          <a:xfrm>
            <a:off x="276352" y="154160"/>
            <a:ext cx="10334033" cy="552594"/>
          </a:xfrm>
        </p:spPr>
        <p:txBody>
          <a:bodyPr/>
          <a:lstStyle/>
          <a:p>
            <a:r>
              <a:rPr lang="en-US" dirty="0"/>
              <a:t>Updated Peg-in-Hole ConOps: New Behavior: Chamfer Find</a:t>
            </a:r>
          </a:p>
        </p:txBody>
      </p:sp>
      <p:sp>
        <p:nvSpPr>
          <p:cNvPr id="3" name="Date Placeholder 2">
            <a:extLst>
              <a:ext uri="{FF2B5EF4-FFF2-40B4-BE49-F238E27FC236}">
                <a16:creationId xmlns:a16="http://schemas.microsoft.com/office/drawing/2014/main" id="{87B9FA99-BEA2-A6F7-3032-7575F89442BC}"/>
              </a:ext>
            </a:extLst>
          </p:cNvPr>
          <p:cNvSpPr>
            <a:spLocks noGrp="1"/>
          </p:cNvSpPr>
          <p:nvPr>
            <p:ph type="dt" sz="half" idx="18"/>
          </p:nvPr>
        </p:nvSpPr>
        <p:spPr/>
        <p:txBody>
          <a:bodyPr/>
          <a:lstStyle/>
          <a:p>
            <a:r>
              <a:rPr lang="en-US"/>
              <a:t>DD/MM/YYYY</a:t>
            </a:r>
          </a:p>
        </p:txBody>
      </p:sp>
      <p:sp>
        <p:nvSpPr>
          <p:cNvPr id="4" name="Footer Placeholder 3">
            <a:extLst>
              <a:ext uri="{FF2B5EF4-FFF2-40B4-BE49-F238E27FC236}">
                <a16:creationId xmlns:a16="http://schemas.microsoft.com/office/drawing/2014/main" id="{ABD559BB-3E1A-8FB4-6286-46D0B860F64D}"/>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5" name="Slide Number Placeholder 4">
            <a:extLst>
              <a:ext uri="{FF2B5EF4-FFF2-40B4-BE49-F238E27FC236}">
                <a16:creationId xmlns:a16="http://schemas.microsoft.com/office/drawing/2014/main" id="{C2FED9E0-8EE9-A656-33EA-389B4A936EBF}"/>
              </a:ext>
            </a:extLst>
          </p:cNvPr>
          <p:cNvSpPr>
            <a:spLocks noGrp="1"/>
          </p:cNvSpPr>
          <p:nvPr>
            <p:ph type="sldNum" sz="quarter" idx="20"/>
          </p:nvPr>
        </p:nvSpPr>
        <p:spPr/>
        <p:txBody>
          <a:bodyPr/>
          <a:lstStyle/>
          <a:p>
            <a:fld id="{2D04F4CF-F641-6E4E-8F87-8EB8AA2BFA51}" type="slidenum">
              <a:rPr lang="en-US" smtClean="0"/>
              <a:pPr/>
              <a:t>10</a:t>
            </a:fld>
            <a:endParaRPr lang="en-US"/>
          </a:p>
        </p:txBody>
      </p:sp>
      <p:sp>
        <p:nvSpPr>
          <p:cNvPr id="6" name="Text Placeholder 5">
            <a:extLst>
              <a:ext uri="{FF2B5EF4-FFF2-40B4-BE49-F238E27FC236}">
                <a16:creationId xmlns:a16="http://schemas.microsoft.com/office/drawing/2014/main" id="{D771DC6D-7133-7E4F-B8C5-1F0A5EAD22F1}"/>
              </a:ext>
            </a:extLst>
          </p:cNvPr>
          <p:cNvSpPr>
            <a:spLocks noGrp="1"/>
          </p:cNvSpPr>
          <p:nvPr>
            <p:ph type="body" sz="quarter" idx="10"/>
          </p:nvPr>
        </p:nvSpPr>
        <p:spPr/>
        <p:txBody>
          <a:bodyPr/>
          <a:lstStyle/>
          <a:p>
            <a:r>
              <a:rPr lang="en-US" dirty="0"/>
              <a:t>MSR-SRL-STS In-Contact Manipulation</a:t>
            </a:r>
          </a:p>
        </p:txBody>
      </p:sp>
      <p:sp>
        <p:nvSpPr>
          <p:cNvPr id="7" name="TextBox 6">
            <a:extLst>
              <a:ext uri="{FF2B5EF4-FFF2-40B4-BE49-F238E27FC236}">
                <a16:creationId xmlns:a16="http://schemas.microsoft.com/office/drawing/2014/main" id="{E0E3A928-2975-5549-3B03-905F3BF5A6BD}"/>
              </a:ext>
            </a:extLst>
          </p:cNvPr>
          <p:cNvSpPr txBox="1"/>
          <p:nvPr/>
        </p:nvSpPr>
        <p:spPr>
          <a:xfrm>
            <a:off x="145384" y="1269776"/>
            <a:ext cx="2843044" cy="1015663"/>
          </a:xfrm>
          <a:prstGeom prst="rect">
            <a:avLst/>
          </a:prstGeom>
        </p:spPr>
        <p:txBody>
          <a:bodyPr wrap="square" rtlCol="0">
            <a:spAutoFit/>
          </a:bodyPr>
          <a:lstStyle/>
          <a:p>
            <a:pPr algn="l"/>
            <a:r>
              <a:rPr lang="en-US" sz="2000" dirty="0"/>
              <a:t>1. Chamfer Find:</a:t>
            </a:r>
          </a:p>
          <a:p>
            <a:pPr algn="l"/>
            <a:r>
              <a:rPr lang="en-US" sz="2000" dirty="0"/>
              <a:t>Free space standoff -&gt;</a:t>
            </a:r>
            <a:br>
              <a:rPr lang="en-US" sz="2000" dirty="0"/>
            </a:br>
            <a:r>
              <a:rPr lang="en-US" sz="2000" dirty="0"/>
              <a:t>Free space centered</a:t>
            </a:r>
          </a:p>
        </p:txBody>
      </p:sp>
      <p:pic>
        <p:nvPicPr>
          <p:cNvPr id="10" name="Picture 9">
            <a:extLst>
              <a:ext uri="{FF2B5EF4-FFF2-40B4-BE49-F238E27FC236}">
                <a16:creationId xmlns:a16="http://schemas.microsoft.com/office/drawing/2014/main" id="{96C41C36-911F-014E-06CF-6ED424951E9A}"/>
              </a:ext>
            </a:extLst>
          </p:cNvPr>
          <p:cNvPicPr>
            <a:picLocks noChangeAspect="1"/>
          </p:cNvPicPr>
          <p:nvPr/>
        </p:nvPicPr>
        <p:blipFill>
          <a:blip r:embed="rId2"/>
          <a:stretch>
            <a:fillRect/>
          </a:stretch>
        </p:blipFill>
        <p:spPr>
          <a:xfrm>
            <a:off x="208102" y="2641824"/>
            <a:ext cx="2626205" cy="2299413"/>
          </a:xfrm>
          <a:prstGeom prst="rect">
            <a:avLst/>
          </a:prstGeom>
          <a:ln>
            <a:noFill/>
          </a:ln>
        </p:spPr>
      </p:pic>
      <p:cxnSp>
        <p:nvCxnSpPr>
          <p:cNvPr id="46" name="Straight Connector 45">
            <a:extLst>
              <a:ext uri="{FF2B5EF4-FFF2-40B4-BE49-F238E27FC236}">
                <a16:creationId xmlns:a16="http://schemas.microsoft.com/office/drawing/2014/main" id="{37782E78-F528-BDEF-4CA2-9BB1CB905203}"/>
              </a:ext>
            </a:extLst>
          </p:cNvPr>
          <p:cNvCxnSpPr/>
          <p:nvPr/>
        </p:nvCxnSpPr>
        <p:spPr>
          <a:xfrm>
            <a:off x="3009660" y="1224023"/>
            <a:ext cx="0" cy="5303267"/>
          </a:xfrm>
          <a:prstGeom prst="line">
            <a:avLst/>
          </a:prstGeom>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1B7AE1E0-B287-55DE-C83C-AC267287BC59}"/>
              </a:ext>
            </a:extLst>
          </p:cNvPr>
          <p:cNvSpPr txBox="1"/>
          <p:nvPr/>
        </p:nvSpPr>
        <p:spPr>
          <a:xfrm>
            <a:off x="0" y="5151242"/>
            <a:ext cx="3009660" cy="1200329"/>
          </a:xfrm>
          <a:prstGeom prst="rect">
            <a:avLst/>
          </a:prstGeom>
        </p:spPr>
        <p:txBody>
          <a:bodyPr wrap="square" rtlCol="0">
            <a:spAutoFit/>
          </a:bodyPr>
          <a:lstStyle/>
          <a:p>
            <a:pPr algn="ctr"/>
            <a:r>
              <a:rPr lang="en-US" dirty="0"/>
              <a:t>Proprioceptive centering to remove most translational misalignment</a:t>
            </a:r>
          </a:p>
          <a:p>
            <a:pPr algn="ctr"/>
            <a:r>
              <a:rPr lang="en-US" dirty="0"/>
              <a:t>(or score a hole in one)</a:t>
            </a:r>
          </a:p>
        </p:txBody>
      </p:sp>
      <p:pic>
        <p:nvPicPr>
          <p:cNvPr id="15" name="Picture 14">
            <a:extLst>
              <a:ext uri="{FF2B5EF4-FFF2-40B4-BE49-F238E27FC236}">
                <a16:creationId xmlns:a16="http://schemas.microsoft.com/office/drawing/2014/main" id="{020821DB-33F9-2B00-32DE-CCA08F2233BE}"/>
              </a:ext>
            </a:extLst>
          </p:cNvPr>
          <p:cNvPicPr>
            <a:picLocks noChangeAspect="1"/>
          </p:cNvPicPr>
          <p:nvPr/>
        </p:nvPicPr>
        <p:blipFill>
          <a:blip r:embed="rId3"/>
          <a:stretch>
            <a:fillRect/>
          </a:stretch>
        </p:blipFill>
        <p:spPr>
          <a:xfrm>
            <a:off x="3742154" y="933436"/>
            <a:ext cx="7664599" cy="366311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6" name="TextBox 15">
            <a:extLst>
              <a:ext uri="{FF2B5EF4-FFF2-40B4-BE49-F238E27FC236}">
                <a16:creationId xmlns:a16="http://schemas.microsoft.com/office/drawing/2014/main" id="{25401F18-FCDB-B296-7DCD-E8B003890F5C}"/>
              </a:ext>
            </a:extLst>
          </p:cNvPr>
          <p:cNvSpPr txBox="1"/>
          <p:nvPr/>
        </p:nvSpPr>
        <p:spPr>
          <a:xfrm>
            <a:off x="3660375" y="4772964"/>
            <a:ext cx="7828155" cy="1754326"/>
          </a:xfrm>
          <a:prstGeom prst="rect">
            <a:avLst/>
          </a:prstGeom>
        </p:spPr>
        <p:txBody>
          <a:bodyPr wrap="square" rtlCol="0">
            <a:spAutoFit/>
          </a:bodyPr>
          <a:lstStyle/>
          <a:p>
            <a:pPr algn="l"/>
            <a:r>
              <a:rPr lang="en-US" dirty="0"/>
              <a:t>New recommended “Chamfer Find” behavior uses negligible new FSW, essentially just 4 “Move to Contact” motions, then re-tare FTS.</a:t>
            </a:r>
          </a:p>
          <a:p>
            <a:pPr algn="l"/>
            <a:r>
              <a:rPr lang="en-US" dirty="0"/>
              <a:t>Eliminates: Jacobian staleness concern, most translational misalignment (brings down peak forces), reduces time since FTS tare and therefore drift</a:t>
            </a:r>
          </a:p>
          <a:p>
            <a:pPr algn="l"/>
            <a:r>
              <a:rPr lang="en-US" dirty="0"/>
              <a:t>Joseph Carsten has already proposed an operational approach, only requires one new FSW snippet to </a:t>
            </a:r>
            <a:r>
              <a:rPr lang="en-US" dirty="0">
                <a:solidFill>
                  <a:srgbClr val="D30606"/>
                </a:solidFill>
              </a:rPr>
              <a:t>point a frame toward force in XY plane</a:t>
            </a:r>
          </a:p>
        </p:txBody>
      </p:sp>
    </p:spTree>
    <p:extLst>
      <p:ext uri="{BB962C8B-B14F-4D97-AF65-F5344CB8AC3E}">
        <p14:creationId xmlns:p14="http://schemas.microsoft.com/office/powerpoint/2010/main" val="22582350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041D5FC-58D8-495D-B0BE-9BE07351E7DD}"/>
              </a:ext>
            </a:extLst>
          </p:cNvPr>
          <p:cNvSpPr>
            <a:spLocks noGrp="1"/>
          </p:cNvSpPr>
          <p:nvPr>
            <p:ph type="body" sz="quarter" idx="17"/>
          </p:nvPr>
        </p:nvSpPr>
        <p:spPr>
          <a:xfrm>
            <a:off x="220176" y="1108730"/>
            <a:ext cx="5333132" cy="5749270"/>
          </a:xfrm>
        </p:spPr>
        <p:txBody>
          <a:bodyPr>
            <a:normAutofit/>
          </a:bodyPr>
          <a:lstStyle/>
          <a:p>
            <a:r>
              <a:rPr lang="en-US" dirty="0"/>
              <a:t>Joel and Preston’s model development is now moving along nicely</a:t>
            </a:r>
          </a:p>
          <a:p>
            <a:r>
              <a:rPr lang="en-US" dirty="0"/>
              <a:t>Updated budgets show &gt;50% force margin and improved stability margin</a:t>
            </a:r>
          </a:p>
          <a:p>
            <a:r>
              <a:rPr lang="en-US" dirty="0"/>
              <a:t>We’re now confident on the 128Hz control rate, which was considered borderline at PDR (hence 256Hz being requested)</a:t>
            </a:r>
          </a:p>
          <a:p>
            <a:r>
              <a:rPr lang="en-US" dirty="0"/>
              <a:t>Reducing further to 64Hz is also now looking feasible, though need to apply studies to full array of peg-in-hole locations to be sure</a:t>
            </a:r>
          </a:p>
          <a:p>
            <a:r>
              <a:rPr lang="en-US" dirty="0"/>
              <a:t>Model development and validation plan on track for Q2 TTR next year</a:t>
            </a:r>
          </a:p>
          <a:p>
            <a:endParaRPr lang="en-US" dirty="0"/>
          </a:p>
          <a:p>
            <a:r>
              <a:rPr lang="en-US" dirty="0"/>
              <a:t>Near term concern: testbed software support</a:t>
            </a:r>
          </a:p>
        </p:txBody>
      </p:sp>
      <p:sp>
        <p:nvSpPr>
          <p:cNvPr id="3" name="Title 2">
            <a:extLst>
              <a:ext uri="{FF2B5EF4-FFF2-40B4-BE49-F238E27FC236}">
                <a16:creationId xmlns:a16="http://schemas.microsoft.com/office/drawing/2014/main" id="{A545F472-E7D0-4447-B6B2-79EE9F933304}"/>
              </a:ext>
            </a:extLst>
          </p:cNvPr>
          <p:cNvSpPr>
            <a:spLocks noGrp="1"/>
          </p:cNvSpPr>
          <p:nvPr>
            <p:ph type="title"/>
          </p:nvPr>
        </p:nvSpPr>
        <p:spPr/>
        <p:txBody>
          <a:bodyPr/>
          <a:lstStyle/>
          <a:p>
            <a:r>
              <a:rPr lang="en-US" dirty="0"/>
              <a:t>High Level Summary</a:t>
            </a:r>
          </a:p>
        </p:txBody>
      </p:sp>
      <p:sp>
        <p:nvSpPr>
          <p:cNvPr id="5" name="Date Placeholder 4">
            <a:extLst>
              <a:ext uri="{FF2B5EF4-FFF2-40B4-BE49-F238E27FC236}">
                <a16:creationId xmlns:a16="http://schemas.microsoft.com/office/drawing/2014/main" id="{0795F965-6C53-4F66-9F5A-2818108FE2F0}"/>
              </a:ext>
            </a:extLst>
          </p:cNvPr>
          <p:cNvSpPr>
            <a:spLocks noGrp="1"/>
          </p:cNvSpPr>
          <p:nvPr>
            <p:ph type="dt" sz="half" idx="18"/>
          </p:nvPr>
        </p:nvSpPr>
        <p:spPr/>
        <p:txBody>
          <a:bodyPr/>
          <a:lstStyle/>
          <a:p>
            <a:r>
              <a:rPr lang="en-US"/>
              <a:t>DD/MM/YYYY</a:t>
            </a:r>
          </a:p>
        </p:txBody>
      </p:sp>
      <p:sp>
        <p:nvSpPr>
          <p:cNvPr id="6" name="Footer Placeholder 5">
            <a:extLst>
              <a:ext uri="{FF2B5EF4-FFF2-40B4-BE49-F238E27FC236}">
                <a16:creationId xmlns:a16="http://schemas.microsoft.com/office/drawing/2014/main" id="{DE8AF88F-EAA4-40EC-9343-488B4BA42106}"/>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7" name="Slide Number Placeholder 6">
            <a:extLst>
              <a:ext uri="{FF2B5EF4-FFF2-40B4-BE49-F238E27FC236}">
                <a16:creationId xmlns:a16="http://schemas.microsoft.com/office/drawing/2014/main" id="{D1DC6D58-E490-42B1-9D15-2CC93FDC2B5F}"/>
              </a:ext>
            </a:extLst>
          </p:cNvPr>
          <p:cNvSpPr>
            <a:spLocks noGrp="1"/>
          </p:cNvSpPr>
          <p:nvPr>
            <p:ph type="sldNum" sz="quarter" idx="20"/>
          </p:nvPr>
        </p:nvSpPr>
        <p:spPr/>
        <p:txBody>
          <a:bodyPr/>
          <a:lstStyle/>
          <a:p>
            <a:fld id="{2D04F4CF-F641-6E4E-8F87-8EB8AA2BFA51}" type="slidenum">
              <a:rPr lang="en-US" smtClean="0"/>
              <a:pPr/>
              <a:t>11</a:t>
            </a:fld>
            <a:endParaRPr lang="en-US"/>
          </a:p>
        </p:txBody>
      </p:sp>
      <p:grpSp>
        <p:nvGrpSpPr>
          <p:cNvPr id="12" name="Group 11">
            <a:extLst>
              <a:ext uri="{FF2B5EF4-FFF2-40B4-BE49-F238E27FC236}">
                <a16:creationId xmlns:a16="http://schemas.microsoft.com/office/drawing/2014/main" id="{9DE3D391-59AE-6C7A-6C0C-E5C105A788F2}"/>
              </a:ext>
            </a:extLst>
          </p:cNvPr>
          <p:cNvGrpSpPr/>
          <p:nvPr/>
        </p:nvGrpSpPr>
        <p:grpSpPr>
          <a:xfrm>
            <a:off x="5497591" y="1358151"/>
            <a:ext cx="6610775" cy="5045926"/>
            <a:chOff x="5497591" y="906037"/>
            <a:chExt cx="6610775" cy="5045926"/>
          </a:xfrm>
        </p:grpSpPr>
        <p:pic>
          <p:nvPicPr>
            <p:cNvPr id="10" name="Picture 9">
              <a:extLst>
                <a:ext uri="{FF2B5EF4-FFF2-40B4-BE49-F238E27FC236}">
                  <a16:creationId xmlns:a16="http://schemas.microsoft.com/office/drawing/2014/main" id="{05DE4565-D2C5-A399-C5C3-CB6E219E701E}"/>
                </a:ext>
              </a:extLst>
            </p:cNvPr>
            <p:cNvPicPr>
              <a:picLocks noChangeAspect="1"/>
            </p:cNvPicPr>
            <p:nvPr/>
          </p:nvPicPr>
          <p:blipFill>
            <a:blip r:embed="rId2"/>
            <a:stretch>
              <a:fillRect/>
            </a:stretch>
          </p:blipFill>
          <p:spPr>
            <a:xfrm>
              <a:off x="5497591" y="906037"/>
              <a:ext cx="6610775" cy="504592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8" name="Straight Connector 7">
              <a:extLst>
                <a:ext uri="{FF2B5EF4-FFF2-40B4-BE49-F238E27FC236}">
                  <a16:creationId xmlns:a16="http://schemas.microsoft.com/office/drawing/2014/main" id="{B0AF2012-8944-1EE9-6919-2070DC55F0EA}"/>
                </a:ext>
              </a:extLst>
            </p:cNvPr>
            <p:cNvCxnSpPr/>
            <p:nvPr/>
          </p:nvCxnSpPr>
          <p:spPr>
            <a:xfrm>
              <a:off x="10487722" y="1321420"/>
              <a:ext cx="0" cy="4572000"/>
            </a:xfrm>
            <a:prstGeom prst="line">
              <a:avLst/>
            </a:prstGeom>
            <a:ln w="12700">
              <a:prstDash val="sysDot"/>
            </a:ln>
          </p:spPr>
          <p:style>
            <a:lnRef idx="1">
              <a:schemeClr val="accent4"/>
            </a:lnRef>
            <a:fillRef idx="0">
              <a:schemeClr val="accent4"/>
            </a:fillRef>
            <a:effectRef idx="0">
              <a:schemeClr val="accent4"/>
            </a:effectRef>
            <a:fontRef idx="minor">
              <a:schemeClr val="tx1"/>
            </a:fontRef>
          </p:style>
        </p:cxnSp>
        <p:sp>
          <p:nvSpPr>
            <p:cNvPr id="9" name="TextBox 8">
              <a:extLst>
                <a:ext uri="{FF2B5EF4-FFF2-40B4-BE49-F238E27FC236}">
                  <a16:creationId xmlns:a16="http://schemas.microsoft.com/office/drawing/2014/main" id="{BC1C68FD-293D-4E0E-F408-A711050F24C7}"/>
                </a:ext>
              </a:extLst>
            </p:cNvPr>
            <p:cNvSpPr txBox="1"/>
            <p:nvPr/>
          </p:nvSpPr>
          <p:spPr>
            <a:xfrm>
              <a:off x="10487722" y="1527717"/>
              <a:ext cx="1219057" cy="646331"/>
            </a:xfrm>
            <a:prstGeom prst="rect">
              <a:avLst/>
            </a:prstGeom>
          </p:spPr>
          <p:txBody>
            <a:bodyPr wrap="square" rtlCol="0">
              <a:spAutoFit/>
            </a:bodyPr>
            <a:lstStyle/>
            <a:p>
              <a:pPr algn="l"/>
              <a:r>
                <a:rPr lang="en-US" dirty="0">
                  <a:solidFill>
                    <a:schemeClr val="accent4"/>
                  </a:solidFill>
                </a:rPr>
                <a:t>Proposed TTR</a:t>
              </a:r>
            </a:p>
          </p:txBody>
        </p:sp>
        <p:sp>
          <p:nvSpPr>
            <p:cNvPr id="11" name="TextBox 10">
              <a:extLst>
                <a:ext uri="{FF2B5EF4-FFF2-40B4-BE49-F238E27FC236}">
                  <a16:creationId xmlns:a16="http://schemas.microsoft.com/office/drawing/2014/main" id="{E6AF60E7-E731-3D83-1BA5-4A421C2901F5}"/>
                </a:ext>
              </a:extLst>
            </p:cNvPr>
            <p:cNvSpPr txBox="1"/>
            <p:nvPr/>
          </p:nvSpPr>
          <p:spPr>
            <a:xfrm>
              <a:off x="7231377" y="2430526"/>
              <a:ext cx="1219057" cy="369332"/>
            </a:xfrm>
            <a:prstGeom prst="rect">
              <a:avLst/>
            </a:prstGeom>
          </p:spPr>
          <p:txBody>
            <a:bodyPr wrap="square" rtlCol="0">
              <a:spAutoFit/>
            </a:bodyPr>
            <a:lstStyle/>
            <a:p>
              <a:pPr algn="r"/>
              <a:r>
                <a:rPr lang="en-US" dirty="0">
                  <a:solidFill>
                    <a:srgbClr val="4A91FB"/>
                  </a:solidFill>
                </a:rPr>
                <a:t>Now</a:t>
              </a:r>
            </a:p>
          </p:txBody>
        </p:sp>
      </p:grpSp>
      <p:sp>
        <p:nvSpPr>
          <p:cNvPr id="13" name="TextBox 12">
            <a:extLst>
              <a:ext uri="{FF2B5EF4-FFF2-40B4-BE49-F238E27FC236}">
                <a16:creationId xmlns:a16="http://schemas.microsoft.com/office/drawing/2014/main" id="{93A540FE-F425-4202-4092-15E10B8E4B42}"/>
              </a:ext>
            </a:extLst>
          </p:cNvPr>
          <p:cNvSpPr txBox="1"/>
          <p:nvPr/>
        </p:nvSpPr>
        <p:spPr>
          <a:xfrm>
            <a:off x="6032810" y="900022"/>
            <a:ext cx="5843238" cy="369332"/>
          </a:xfrm>
          <a:prstGeom prst="rect">
            <a:avLst/>
          </a:prstGeom>
        </p:spPr>
        <p:txBody>
          <a:bodyPr wrap="square" rtlCol="0">
            <a:spAutoFit/>
          </a:bodyPr>
          <a:lstStyle/>
          <a:p>
            <a:pPr algn="ctr"/>
            <a:r>
              <a:rPr lang="en-US" dirty="0"/>
              <a:t>Present Schedule (testbed campaigns off screen)</a:t>
            </a:r>
          </a:p>
        </p:txBody>
      </p:sp>
    </p:spTree>
    <p:extLst>
      <p:ext uri="{BB962C8B-B14F-4D97-AF65-F5344CB8AC3E}">
        <p14:creationId xmlns:p14="http://schemas.microsoft.com/office/powerpoint/2010/main" val="11692012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B29BA-8B6C-F881-341C-4DE1B299087B}"/>
              </a:ext>
            </a:extLst>
          </p:cNvPr>
          <p:cNvSpPr>
            <a:spLocks noGrp="1"/>
          </p:cNvSpPr>
          <p:nvPr>
            <p:ph type="ctrTitle"/>
          </p:nvPr>
        </p:nvSpPr>
        <p:spPr/>
        <p:txBody>
          <a:bodyPr/>
          <a:lstStyle/>
          <a:p>
            <a:r>
              <a:rPr lang="en-US" dirty="0"/>
              <a:t>Backup</a:t>
            </a:r>
          </a:p>
        </p:txBody>
      </p:sp>
      <p:sp>
        <p:nvSpPr>
          <p:cNvPr id="3" name="Text Placeholder 2">
            <a:extLst>
              <a:ext uri="{FF2B5EF4-FFF2-40B4-BE49-F238E27FC236}">
                <a16:creationId xmlns:a16="http://schemas.microsoft.com/office/drawing/2014/main" id="{E1C961DE-CCCE-9C58-3E6C-64EE2D6E3A06}"/>
              </a:ext>
            </a:extLst>
          </p:cNvPr>
          <p:cNvSpPr>
            <a:spLocks noGrp="1"/>
          </p:cNvSpPr>
          <p:nvPr>
            <p:ph type="body" sz="quarter" idx="14"/>
          </p:nvPr>
        </p:nvSpPr>
        <p:spPr/>
        <p:txBody>
          <a:bodyPr/>
          <a:lstStyle/>
          <a:p>
            <a:r>
              <a:rPr lang="en-US" dirty="0"/>
              <a:t>MSR-SRL-STS In-Contact Manipulation</a:t>
            </a:r>
          </a:p>
        </p:txBody>
      </p:sp>
      <p:sp>
        <p:nvSpPr>
          <p:cNvPr id="4" name="Date Placeholder 3">
            <a:extLst>
              <a:ext uri="{FF2B5EF4-FFF2-40B4-BE49-F238E27FC236}">
                <a16:creationId xmlns:a16="http://schemas.microsoft.com/office/drawing/2014/main" id="{03E2FC34-D25E-95F6-88FF-DDD79E5BD1FB}"/>
              </a:ext>
            </a:extLst>
          </p:cNvPr>
          <p:cNvSpPr>
            <a:spLocks noGrp="1"/>
          </p:cNvSpPr>
          <p:nvPr>
            <p:ph type="dt" sz="half" idx="15"/>
          </p:nvPr>
        </p:nvSpPr>
        <p:spPr/>
        <p:txBody>
          <a:bodyPr/>
          <a:lstStyle/>
          <a:p>
            <a:r>
              <a:rPr lang="en-US"/>
              <a:t>DD/MM/YYYY</a:t>
            </a:r>
          </a:p>
        </p:txBody>
      </p:sp>
      <p:sp>
        <p:nvSpPr>
          <p:cNvPr id="5" name="Footer Placeholder 4">
            <a:extLst>
              <a:ext uri="{FF2B5EF4-FFF2-40B4-BE49-F238E27FC236}">
                <a16:creationId xmlns:a16="http://schemas.microsoft.com/office/drawing/2014/main" id="{7AD1B689-5C3C-E6BC-D4E7-419400EB093A}"/>
              </a:ext>
            </a:extLst>
          </p:cNvPr>
          <p:cNvSpPr>
            <a:spLocks noGrp="1"/>
          </p:cNvSpPr>
          <p:nvPr>
            <p:ph type="ftr" sz="quarter" idx="16"/>
          </p:nvPr>
        </p:nvSpPr>
        <p:spPr/>
        <p:txBody>
          <a:bodyPr/>
          <a:lstStyle/>
          <a:p>
            <a:r>
              <a:rPr lang="en-US"/>
              <a:t>The technical data in this document is controlled under the U.S. Export Regulations; release to foreign persons may require an export authorization.</a:t>
            </a:r>
          </a:p>
        </p:txBody>
      </p:sp>
      <p:sp>
        <p:nvSpPr>
          <p:cNvPr id="6" name="Slide Number Placeholder 5">
            <a:extLst>
              <a:ext uri="{FF2B5EF4-FFF2-40B4-BE49-F238E27FC236}">
                <a16:creationId xmlns:a16="http://schemas.microsoft.com/office/drawing/2014/main" id="{BD803566-72CB-2A8E-28D5-872F4001AFCD}"/>
              </a:ext>
            </a:extLst>
          </p:cNvPr>
          <p:cNvSpPr>
            <a:spLocks noGrp="1"/>
          </p:cNvSpPr>
          <p:nvPr>
            <p:ph type="sldNum" sz="quarter" idx="17"/>
          </p:nvPr>
        </p:nvSpPr>
        <p:spPr/>
        <p:txBody>
          <a:bodyPr/>
          <a:lstStyle/>
          <a:p>
            <a:fld id="{2D04F4CF-F641-6E4E-8F87-8EB8AA2BFA51}" type="slidenum">
              <a:rPr lang="en-US" smtClean="0"/>
              <a:pPr/>
              <a:t>12</a:t>
            </a:fld>
            <a:endParaRPr lang="en-US"/>
          </a:p>
        </p:txBody>
      </p:sp>
      <p:sp>
        <p:nvSpPr>
          <p:cNvPr id="7" name="Text Placeholder 6">
            <a:extLst>
              <a:ext uri="{FF2B5EF4-FFF2-40B4-BE49-F238E27FC236}">
                <a16:creationId xmlns:a16="http://schemas.microsoft.com/office/drawing/2014/main" id="{3C2807EA-F5EE-1414-6660-131C8B76669F}"/>
              </a:ext>
            </a:extLst>
          </p:cNvPr>
          <p:cNvSpPr>
            <a:spLocks noGrp="1"/>
          </p:cNvSpPr>
          <p:nvPr>
            <p:ph type="body" sz="quarter" idx="18"/>
          </p:nvPr>
        </p:nvSpPr>
        <p:spPr/>
        <p:txBody>
          <a:bodyPr/>
          <a:lstStyle/>
          <a:p>
            <a:endParaRPr lang="en-US"/>
          </a:p>
        </p:txBody>
      </p:sp>
    </p:spTree>
    <p:extLst>
      <p:ext uri="{BB962C8B-B14F-4D97-AF65-F5344CB8AC3E}">
        <p14:creationId xmlns:p14="http://schemas.microsoft.com/office/powerpoint/2010/main" val="16282578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6F657-25A4-6542-CC1D-F4E2BE30BC5D}"/>
              </a:ext>
            </a:extLst>
          </p:cNvPr>
          <p:cNvSpPr>
            <a:spLocks noGrp="1"/>
          </p:cNvSpPr>
          <p:nvPr>
            <p:ph type="title"/>
          </p:nvPr>
        </p:nvSpPr>
        <p:spPr/>
        <p:txBody>
          <a:bodyPr/>
          <a:lstStyle/>
          <a:p>
            <a:r>
              <a:rPr lang="en-US" dirty="0"/>
              <a:t>Operational Solution: New Capability: Chamfer Find</a:t>
            </a:r>
          </a:p>
        </p:txBody>
      </p:sp>
      <p:sp>
        <p:nvSpPr>
          <p:cNvPr id="3" name="Date Placeholder 2">
            <a:extLst>
              <a:ext uri="{FF2B5EF4-FFF2-40B4-BE49-F238E27FC236}">
                <a16:creationId xmlns:a16="http://schemas.microsoft.com/office/drawing/2014/main" id="{97B12D18-A06B-2C28-FEEB-B02224ADD96B}"/>
              </a:ext>
            </a:extLst>
          </p:cNvPr>
          <p:cNvSpPr>
            <a:spLocks noGrp="1"/>
          </p:cNvSpPr>
          <p:nvPr>
            <p:ph type="dt" sz="half" idx="18"/>
          </p:nvPr>
        </p:nvSpPr>
        <p:spPr/>
        <p:txBody>
          <a:bodyPr/>
          <a:lstStyle/>
          <a:p>
            <a:r>
              <a:rPr lang="en-US"/>
              <a:t>DD/MM/YYYY</a:t>
            </a:r>
          </a:p>
        </p:txBody>
      </p:sp>
      <p:sp>
        <p:nvSpPr>
          <p:cNvPr id="4" name="Footer Placeholder 3">
            <a:extLst>
              <a:ext uri="{FF2B5EF4-FFF2-40B4-BE49-F238E27FC236}">
                <a16:creationId xmlns:a16="http://schemas.microsoft.com/office/drawing/2014/main" id="{23A2B8E1-2A49-ACF0-6F1A-92FCAC16C81F}"/>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5" name="Slide Number Placeholder 4">
            <a:extLst>
              <a:ext uri="{FF2B5EF4-FFF2-40B4-BE49-F238E27FC236}">
                <a16:creationId xmlns:a16="http://schemas.microsoft.com/office/drawing/2014/main" id="{5D1B647A-5059-D87D-A84F-07933F600BA0}"/>
              </a:ext>
            </a:extLst>
          </p:cNvPr>
          <p:cNvSpPr>
            <a:spLocks noGrp="1"/>
          </p:cNvSpPr>
          <p:nvPr>
            <p:ph type="sldNum" sz="quarter" idx="20"/>
          </p:nvPr>
        </p:nvSpPr>
        <p:spPr/>
        <p:txBody>
          <a:bodyPr/>
          <a:lstStyle/>
          <a:p>
            <a:fld id="{2D04F4CF-F641-6E4E-8F87-8EB8AA2BFA51}" type="slidenum">
              <a:rPr lang="en-US" smtClean="0"/>
              <a:pPr/>
              <a:t>13</a:t>
            </a:fld>
            <a:endParaRPr lang="en-US"/>
          </a:p>
        </p:txBody>
      </p:sp>
      <p:sp>
        <p:nvSpPr>
          <p:cNvPr id="6" name="Text Placeholder 5">
            <a:extLst>
              <a:ext uri="{FF2B5EF4-FFF2-40B4-BE49-F238E27FC236}">
                <a16:creationId xmlns:a16="http://schemas.microsoft.com/office/drawing/2014/main" id="{798AD20D-BE7C-BBC1-D128-25FA2493380A}"/>
              </a:ext>
            </a:extLst>
          </p:cNvPr>
          <p:cNvSpPr>
            <a:spLocks noGrp="1"/>
          </p:cNvSpPr>
          <p:nvPr>
            <p:ph type="body" sz="quarter" idx="10"/>
          </p:nvPr>
        </p:nvSpPr>
        <p:spPr/>
        <p:txBody>
          <a:bodyPr/>
          <a:lstStyle/>
          <a:p>
            <a:r>
              <a:rPr lang="en-US" dirty="0"/>
              <a:t>MSR-SRL-STS In-Contact Manipulation</a:t>
            </a:r>
          </a:p>
        </p:txBody>
      </p:sp>
      <p:sp>
        <p:nvSpPr>
          <p:cNvPr id="8" name="Rectangle 7">
            <a:extLst>
              <a:ext uri="{FF2B5EF4-FFF2-40B4-BE49-F238E27FC236}">
                <a16:creationId xmlns:a16="http://schemas.microsoft.com/office/drawing/2014/main" id="{D99090C7-9633-593C-4317-98C5118646D5}"/>
              </a:ext>
            </a:extLst>
          </p:cNvPr>
          <p:cNvSpPr/>
          <p:nvPr/>
        </p:nvSpPr>
        <p:spPr>
          <a:xfrm>
            <a:off x="476326" y="1847049"/>
            <a:ext cx="1463455" cy="486161"/>
          </a:xfrm>
          <a:prstGeom prst="rect">
            <a:avLst/>
          </a:prstGeom>
          <a:solidFill>
            <a:schemeClr val="bg2"/>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6633DFC5-EF7B-CC3D-7B2B-0B423A0446B4}"/>
              </a:ext>
            </a:extLst>
          </p:cNvPr>
          <p:cNvGrpSpPr/>
          <p:nvPr/>
        </p:nvGrpSpPr>
        <p:grpSpPr>
          <a:xfrm>
            <a:off x="3874468" y="1225136"/>
            <a:ext cx="1615851" cy="2213884"/>
            <a:chOff x="8757348" y="3237772"/>
            <a:chExt cx="725122" cy="1329052"/>
          </a:xfrm>
        </p:grpSpPr>
        <p:sp>
          <p:nvSpPr>
            <p:cNvPr id="11" name="Rectangle: Single Corner Snipped 10">
              <a:extLst>
                <a:ext uri="{FF2B5EF4-FFF2-40B4-BE49-F238E27FC236}">
                  <a16:creationId xmlns:a16="http://schemas.microsoft.com/office/drawing/2014/main" id="{EF0A1438-5A07-A5EF-81EE-6943C58C72EC}"/>
                </a:ext>
              </a:extLst>
            </p:cNvPr>
            <p:cNvSpPr/>
            <p:nvPr/>
          </p:nvSpPr>
          <p:spPr>
            <a:xfrm flipH="1">
              <a:off x="8757348" y="4074456"/>
              <a:ext cx="725121" cy="492368"/>
            </a:xfrm>
            <a:prstGeom prst="snip1Rect">
              <a:avLst>
                <a:gd name="adj" fmla="val 50000"/>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Single Corner Snipped 11">
              <a:extLst>
                <a:ext uri="{FF2B5EF4-FFF2-40B4-BE49-F238E27FC236}">
                  <a16:creationId xmlns:a16="http://schemas.microsoft.com/office/drawing/2014/main" id="{BF91E4F1-881A-6386-799B-0E53252DD44A}"/>
                </a:ext>
              </a:extLst>
            </p:cNvPr>
            <p:cNvSpPr/>
            <p:nvPr/>
          </p:nvSpPr>
          <p:spPr>
            <a:xfrm flipH="1" flipV="1">
              <a:off x="8757348" y="3237772"/>
              <a:ext cx="725122" cy="492368"/>
            </a:xfrm>
            <a:prstGeom prst="snip1Rect">
              <a:avLst>
                <a:gd name="adj" fmla="val 50000"/>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3344D200-2E94-6209-DB7E-DCEACFAB3790}"/>
              </a:ext>
            </a:extLst>
          </p:cNvPr>
          <p:cNvSpPr/>
          <p:nvPr/>
        </p:nvSpPr>
        <p:spPr>
          <a:xfrm>
            <a:off x="2639153" y="1847050"/>
            <a:ext cx="1463455" cy="486161"/>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row: Right 14">
            <a:extLst>
              <a:ext uri="{FF2B5EF4-FFF2-40B4-BE49-F238E27FC236}">
                <a16:creationId xmlns:a16="http://schemas.microsoft.com/office/drawing/2014/main" id="{9CEF0C56-FA03-5689-014C-0B85EF73AE4A}"/>
              </a:ext>
            </a:extLst>
          </p:cNvPr>
          <p:cNvSpPr/>
          <p:nvPr/>
        </p:nvSpPr>
        <p:spPr>
          <a:xfrm>
            <a:off x="1481542" y="2024594"/>
            <a:ext cx="1615851" cy="14094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8A2FAA3D-C751-85EB-4B08-3153BDFBBD36}"/>
              </a:ext>
            </a:extLst>
          </p:cNvPr>
          <p:cNvSpPr txBox="1"/>
          <p:nvPr/>
        </p:nvSpPr>
        <p:spPr>
          <a:xfrm>
            <a:off x="955348" y="2456838"/>
            <a:ext cx="2526179" cy="1200329"/>
          </a:xfrm>
          <a:prstGeom prst="rect">
            <a:avLst/>
          </a:prstGeom>
        </p:spPr>
        <p:txBody>
          <a:bodyPr wrap="square" rtlCol="0">
            <a:spAutoFit/>
          </a:bodyPr>
          <a:lstStyle/>
          <a:p>
            <a:pPr algn="ctr"/>
            <a:r>
              <a:rPr lang="en-US" dirty="0"/>
              <a:t>Cartesian Move +Z</a:t>
            </a:r>
          </a:p>
          <a:p>
            <a:pPr algn="ctr"/>
            <a:r>
              <a:rPr lang="en-US" dirty="0"/>
              <a:t>Stop on Force</a:t>
            </a:r>
          </a:p>
          <a:p>
            <a:pPr algn="ctr"/>
            <a:endParaRPr lang="en-US" dirty="0"/>
          </a:p>
          <a:p>
            <a:pPr algn="ctr"/>
            <a:r>
              <a:rPr lang="en-US" dirty="0"/>
              <a:t>(check that Fxy &gt; Fz)</a:t>
            </a:r>
          </a:p>
        </p:txBody>
      </p:sp>
      <p:sp>
        <p:nvSpPr>
          <p:cNvPr id="17" name="TextBox 16">
            <a:extLst>
              <a:ext uri="{FF2B5EF4-FFF2-40B4-BE49-F238E27FC236}">
                <a16:creationId xmlns:a16="http://schemas.microsoft.com/office/drawing/2014/main" id="{817C5BBA-46BE-67A3-AFD8-45243297F5C0}"/>
              </a:ext>
            </a:extLst>
          </p:cNvPr>
          <p:cNvSpPr txBox="1"/>
          <p:nvPr/>
        </p:nvSpPr>
        <p:spPr>
          <a:xfrm>
            <a:off x="1208053" y="1211073"/>
            <a:ext cx="2273474" cy="369332"/>
          </a:xfrm>
          <a:prstGeom prst="rect">
            <a:avLst/>
          </a:prstGeom>
        </p:spPr>
        <p:txBody>
          <a:bodyPr wrap="square" rtlCol="0">
            <a:spAutoFit/>
          </a:bodyPr>
          <a:lstStyle/>
          <a:p>
            <a:pPr algn="ctr"/>
            <a:r>
              <a:rPr lang="en-US" dirty="0"/>
              <a:t>Step 1:</a:t>
            </a:r>
          </a:p>
        </p:txBody>
      </p:sp>
      <p:cxnSp>
        <p:nvCxnSpPr>
          <p:cNvPr id="19" name="Straight Connector 18">
            <a:extLst>
              <a:ext uri="{FF2B5EF4-FFF2-40B4-BE49-F238E27FC236}">
                <a16:creationId xmlns:a16="http://schemas.microsoft.com/office/drawing/2014/main" id="{5148601B-17EB-DBE3-3670-0B429C2AFCC8}"/>
              </a:ext>
            </a:extLst>
          </p:cNvPr>
          <p:cNvCxnSpPr/>
          <p:nvPr/>
        </p:nvCxnSpPr>
        <p:spPr>
          <a:xfrm>
            <a:off x="5855918" y="895611"/>
            <a:ext cx="0" cy="576122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ECFA00F-930E-533C-6469-8F3B6A19780A}"/>
              </a:ext>
            </a:extLst>
          </p:cNvPr>
          <p:cNvCxnSpPr>
            <a:cxnSpLocks/>
          </p:cNvCxnSpPr>
          <p:nvPr/>
        </p:nvCxnSpPr>
        <p:spPr>
          <a:xfrm>
            <a:off x="144049" y="3807912"/>
            <a:ext cx="11695339"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3E05E1CA-BA79-7D14-BD6F-EACB516441B5}"/>
              </a:ext>
            </a:extLst>
          </p:cNvPr>
          <p:cNvSpPr/>
          <p:nvPr/>
        </p:nvSpPr>
        <p:spPr>
          <a:xfrm>
            <a:off x="2580225" y="4793708"/>
            <a:ext cx="1463455" cy="486161"/>
          </a:xfrm>
          <a:prstGeom prst="rect">
            <a:avLst/>
          </a:prstGeom>
          <a:solidFill>
            <a:schemeClr val="bg2"/>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9BC1112F-DCAD-001C-5509-B97E4EB0980F}"/>
              </a:ext>
            </a:extLst>
          </p:cNvPr>
          <p:cNvGrpSpPr/>
          <p:nvPr/>
        </p:nvGrpSpPr>
        <p:grpSpPr>
          <a:xfrm>
            <a:off x="3869364" y="4197823"/>
            <a:ext cx="1615851" cy="2213884"/>
            <a:chOff x="8757348" y="3237772"/>
            <a:chExt cx="725122" cy="1329052"/>
          </a:xfrm>
        </p:grpSpPr>
        <p:sp>
          <p:nvSpPr>
            <p:cNvPr id="25" name="Rectangle: Single Corner Snipped 24">
              <a:extLst>
                <a:ext uri="{FF2B5EF4-FFF2-40B4-BE49-F238E27FC236}">
                  <a16:creationId xmlns:a16="http://schemas.microsoft.com/office/drawing/2014/main" id="{0A8F5495-DEA5-BE74-77FE-82D977A75724}"/>
                </a:ext>
              </a:extLst>
            </p:cNvPr>
            <p:cNvSpPr/>
            <p:nvPr/>
          </p:nvSpPr>
          <p:spPr>
            <a:xfrm flipH="1">
              <a:off x="8757348" y="4074456"/>
              <a:ext cx="725121" cy="492368"/>
            </a:xfrm>
            <a:prstGeom prst="snip1Rect">
              <a:avLst>
                <a:gd name="adj" fmla="val 50000"/>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Single Corner Snipped 25">
              <a:extLst>
                <a:ext uri="{FF2B5EF4-FFF2-40B4-BE49-F238E27FC236}">
                  <a16:creationId xmlns:a16="http://schemas.microsoft.com/office/drawing/2014/main" id="{56AF0F7E-9BB6-B4D3-391C-FD6708767074}"/>
                </a:ext>
              </a:extLst>
            </p:cNvPr>
            <p:cNvSpPr/>
            <p:nvPr/>
          </p:nvSpPr>
          <p:spPr>
            <a:xfrm flipH="1" flipV="1">
              <a:off x="8757348" y="3237772"/>
              <a:ext cx="725122" cy="492368"/>
            </a:xfrm>
            <a:prstGeom prst="snip1Rect">
              <a:avLst>
                <a:gd name="adj" fmla="val 50000"/>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Rectangle 26">
            <a:extLst>
              <a:ext uri="{FF2B5EF4-FFF2-40B4-BE49-F238E27FC236}">
                <a16:creationId xmlns:a16="http://schemas.microsoft.com/office/drawing/2014/main" id="{2B3AF7C4-3AFA-274B-28D5-E8C082949C65}"/>
              </a:ext>
            </a:extLst>
          </p:cNvPr>
          <p:cNvSpPr/>
          <p:nvPr/>
        </p:nvSpPr>
        <p:spPr>
          <a:xfrm>
            <a:off x="2586143" y="5335932"/>
            <a:ext cx="1463455" cy="486161"/>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Arrow: Right 27">
            <a:extLst>
              <a:ext uri="{FF2B5EF4-FFF2-40B4-BE49-F238E27FC236}">
                <a16:creationId xmlns:a16="http://schemas.microsoft.com/office/drawing/2014/main" id="{16BA5F8E-B2AC-1968-D817-4609A76E44A8}"/>
              </a:ext>
            </a:extLst>
          </p:cNvPr>
          <p:cNvSpPr/>
          <p:nvPr/>
        </p:nvSpPr>
        <p:spPr>
          <a:xfrm rot="5400000">
            <a:off x="3195277" y="5248423"/>
            <a:ext cx="646331" cy="11895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076FA708-0452-E1C4-0FAE-665A4A882734}"/>
              </a:ext>
            </a:extLst>
          </p:cNvPr>
          <p:cNvSpPr txBox="1"/>
          <p:nvPr/>
        </p:nvSpPr>
        <p:spPr>
          <a:xfrm>
            <a:off x="105452" y="4840348"/>
            <a:ext cx="2469536" cy="1477328"/>
          </a:xfrm>
          <a:prstGeom prst="rect">
            <a:avLst/>
          </a:prstGeom>
        </p:spPr>
        <p:txBody>
          <a:bodyPr wrap="square" rtlCol="0">
            <a:spAutoFit/>
          </a:bodyPr>
          <a:lstStyle/>
          <a:p>
            <a:pPr algn="ctr"/>
            <a:r>
              <a:rPr lang="en-US" dirty="0"/>
              <a:t>Cartesian Move +-XY</a:t>
            </a:r>
          </a:p>
          <a:p>
            <a:pPr algn="ctr"/>
            <a:r>
              <a:rPr lang="en-US" dirty="0"/>
              <a:t>Stop on Force</a:t>
            </a:r>
          </a:p>
          <a:p>
            <a:pPr algn="ctr"/>
            <a:endParaRPr lang="en-US" dirty="0"/>
          </a:p>
          <a:p>
            <a:pPr algn="ctr"/>
            <a:r>
              <a:rPr lang="en-US" dirty="0"/>
              <a:t>Repeat in opposite direction</a:t>
            </a:r>
          </a:p>
        </p:txBody>
      </p:sp>
      <p:sp>
        <p:nvSpPr>
          <p:cNvPr id="30" name="TextBox 29">
            <a:extLst>
              <a:ext uri="{FF2B5EF4-FFF2-40B4-BE49-F238E27FC236}">
                <a16:creationId xmlns:a16="http://schemas.microsoft.com/office/drawing/2014/main" id="{CB3EE5E7-869D-BC77-F56C-8917A933FCB6}"/>
              </a:ext>
            </a:extLst>
          </p:cNvPr>
          <p:cNvSpPr txBox="1"/>
          <p:nvPr/>
        </p:nvSpPr>
        <p:spPr>
          <a:xfrm>
            <a:off x="1110564" y="4183709"/>
            <a:ext cx="2273474" cy="369332"/>
          </a:xfrm>
          <a:prstGeom prst="rect">
            <a:avLst/>
          </a:prstGeom>
        </p:spPr>
        <p:txBody>
          <a:bodyPr wrap="square" rtlCol="0">
            <a:spAutoFit/>
          </a:bodyPr>
          <a:lstStyle/>
          <a:p>
            <a:pPr algn="ctr"/>
            <a:r>
              <a:rPr lang="en-US" dirty="0"/>
              <a:t>Step 3 &amp; 4:</a:t>
            </a:r>
          </a:p>
        </p:txBody>
      </p:sp>
      <p:sp>
        <p:nvSpPr>
          <p:cNvPr id="31" name="Circle: Hollow 30">
            <a:extLst>
              <a:ext uri="{FF2B5EF4-FFF2-40B4-BE49-F238E27FC236}">
                <a16:creationId xmlns:a16="http://schemas.microsoft.com/office/drawing/2014/main" id="{FC77F7A2-2C9F-D97C-C3F0-1AD176DC2609}"/>
              </a:ext>
            </a:extLst>
          </p:cNvPr>
          <p:cNvSpPr/>
          <p:nvPr/>
        </p:nvSpPr>
        <p:spPr>
          <a:xfrm>
            <a:off x="6679504" y="1385864"/>
            <a:ext cx="2129758" cy="2141948"/>
          </a:xfrm>
          <a:prstGeom prst="donut">
            <a:avLst>
              <a:gd name="adj" fmla="val 27057"/>
            </a:avLst>
          </a:prstGeom>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solidFill>
                <a:schemeClr val="tx1"/>
              </a:solidFill>
            </a:endParaRPr>
          </a:p>
        </p:txBody>
      </p:sp>
      <p:sp>
        <p:nvSpPr>
          <p:cNvPr id="32" name="Oval 31">
            <a:extLst>
              <a:ext uri="{FF2B5EF4-FFF2-40B4-BE49-F238E27FC236}">
                <a16:creationId xmlns:a16="http://schemas.microsoft.com/office/drawing/2014/main" id="{2D1247F8-1B0B-2BF5-ECC2-95D2132C6CDC}"/>
              </a:ext>
            </a:extLst>
          </p:cNvPr>
          <p:cNvSpPr/>
          <p:nvPr/>
        </p:nvSpPr>
        <p:spPr>
          <a:xfrm>
            <a:off x="7102362" y="1848852"/>
            <a:ext cx="701686" cy="672219"/>
          </a:xfrm>
          <a:prstGeom prst="ellipse">
            <a:avLst/>
          </a:prstGeom>
          <a:solidFill>
            <a:srgbClr val="E7E6E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Arrow: Right 32">
            <a:extLst>
              <a:ext uri="{FF2B5EF4-FFF2-40B4-BE49-F238E27FC236}">
                <a16:creationId xmlns:a16="http://schemas.microsoft.com/office/drawing/2014/main" id="{04E55DB5-1D18-09D6-226F-2C30341FC358}"/>
              </a:ext>
            </a:extLst>
          </p:cNvPr>
          <p:cNvSpPr/>
          <p:nvPr/>
        </p:nvSpPr>
        <p:spPr>
          <a:xfrm rot="2203436">
            <a:off x="7291196" y="2387746"/>
            <a:ext cx="1155899" cy="230293"/>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03A08AB2-07AA-F26D-C355-FD7C66CE662F}"/>
              </a:ext>
            </a:extLst>
          </p:cNvPr>
          <p:cNvSpPr txBox="1"/>
          <p:nvPr/>
        </p:nvSpPr>
        <p:spPr>
          <a:xfrm>
            <a:off x="8206046" y="1119220"/>
            <a:ext cx="2273474" cy="369332"/>
          </a:xfrm>
          <a:prstGeom prst="rect">
            <a:avLst/>
          </a:prstGeom>
        </p:spPr>
        <p:txBody>
          <a:bodyPr wrap="square" rtlCol="0">
            <a:spAutoFit/>
          </a:bodyPr>
          <a:lstStyle/>
          <a:p>
            <a:pPr algn="ctr"/>
            <a:r>
              <a:rPr lang="en-US" dirty="0"/>
              <a:t>Step 2:</a:t>
            </a:r>
          </a:p>
        </p:txBody>
      </p:sp>
      <p:sp>
        <p:nvSpPr>
          <p:cNvPr id="35" name="TextBox 34">
            <a:extLst>
              <a:ext uri="{FF2B5EF4-FFF2-40B4-BE49-F238E27FC236}">
                <a16:creationId xmlns:a16="http://schemas.microsoft.com/office/drawing/2014/main" id="{23633F88-0F2C-FC28-514D-5A5CEF21EE33}"/>
              </a:ext>
            </a:extLst>
          </p:cNvPr>
          <p:cNvSpPr txBox="1"/>
          <p:nvPr/>
        </p:nvSpPr>
        <p:spPr>
          <a:xfrm>
            <a:off x="9309771" y="1821916"/>
            <a:ext cx="2615640" cy="1200329"/>
          </a:xfrm>
          <a:prstGeom prst="rect">
            <a:avLst/>
          </a:prstGeom>
        </p:spPr>
        <p:txBody>
          <a:bodyPr wrap="square" rtlCol="0">
            <a:spAutoFit/>
          </a:bodyPr>
          <a:lstStyle/>
          <a:p>
            <a:pPr algn="ctr"/>
            <a:r>
              <a:rPr lang="en-US" dirty="0"/>
              <a:t>Read wrench angle measured in XY plane, use this angle for the next motion</a:t>
            </a:r>
          </a:p>
        </p:txBody>
      </p:sp>
      <p:sp>
        <p:nvSpPr>
          <p:cNvPr id="37" name="Rectangle 36">
            <a:extLst>
              <a:ext uri="{FF2B5EF4-FFF2-40B4-BE49-F238E27FC236}">
                <a16:creationId xmlns:a16="http://schemas.microsoft.com/office/drawing/2014/main" id="{CF466754-36AE-1530-9DDF-612BA74C5F9C}"/>
              </a:ext>
            </a:extLst>
          </p:cNvPr>
          <p:cNvSpPr/>
          <p:nvPr/>
        </p:nvSpPr>
        <p:spPr>
          <a:xfrm>
            <a:off x="8070878" y="4821740"/>
            <a:ext cx="1463455" cy="486161"/>
          </a:xfrm>
          <a:prstGeom prst="rect">
            <a:avLst/>
          </a:prstGeom>
          <a:solidFill>
            <a:schemeClr val="bg2"/>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8" name="Group 37">
            <a:extLst>
              <a:ext uri="{FF2B5EF4-FFF2-40B4-BE49-F238E27FC236}">
                <a16:creationId xmlns:a16="http://schemas.microsoft.com/office/drawing/2014/main" id="{2E221287-EF70-523D-E507-5C3B785E3DEC}"/>
              </a:ext>
            </a:extLst>
          </p:cNvPr>
          <p:cNvGrpSpPr/>
          <p:nvPr/>
        </p:nvGrpSpPr>
        <p:grpSpPr>
          <a:xfrm>
            <a:off x="9366673" y="4238311"/>
            <a:ext cx="1615851" cy="2213884"/>
            <a:chOff x="8757348" y="3237772"/>
            <a:chExt cx="725122" cy="1329052"/>
          </a:xfrm>
        </p:grpSpPr>
        <p:sp>
          <p:nvSpPr>
            <p:cNvPr id="39" name="Rectangle: Single Corner Snipped 38">
              <a:extLst>
                <a:ext uri="{FF2B5EF4-FFF2-40B4-BE49-F238E27FC236}">
                  <a16:creationId xmlns:a16="http://schemas.microsoft.com/office/drawing/2014/main" id="{ECC06635-E2C9-09D1-8090-6A62F13E6F4C}"/>
                </a:ext>
              </a:extLst>
            </p:cNvPr>
            <p:cNvSpPr/>
            <p:nvPr/>
          </p:nvSpPr>
          <p:spPr>
            <a:xfrm flipH="1">
              <a:off x="8757348" y="4074456"/>
              <a:ext cx="725121" cy="492368"/>
            </a:xfrm>
            <a:prstGeom prst="snip1Rect">
              <a:avLst>
                <a:gd name="adj" fmla="val 50000"/>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Single Corner Snipped 39">
              <a:extLst>
                <a:ext uri="{FF2B5EF4-FFF2-40B4-BE49-F238E27FC236}">
                  <a16:creationId xmlns:a16="http://schemas.microsoft.com/office/drawing/2014/main" id="{394A4B82-0C15-E2A7-CD0A-3A8C0F4A91AC}"/>
                </a:ext>
              </a:extLst>
            </p:cNvPr>
            <p:cNvSpPr/>
            <p:nvPr/>
          </p:nvSpPr>
          <p:spPr>
            <a:xfrm flipH="1" flipV="1">
              <a:off x="8757348" y="3237772"/>
              <a:ext cx="725122" cy="492368"/>
            </a:xfrm>
            <a:prstGeom prst="snip1Rect">
              <a:avLst>
                <a:gd name="adj" fmla="val 50000"/>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1" name="Rectangle 40">
            <a:extLst>
              <a:ext uri="{FF2B5EF4-FFF2-40B4-BE49-F238E27FC236}">
                <a16:creationId xmlns:a16="http://schemas.microsoft.com/office/drawing/2014/main" id="{83D3E90A-5364-AC24-AB4E-41123C13BA4F}"/>
              </a:ext>
            </a:extLst>
          </p:cNvPr>
          <p:cNvSpPr/>
          <p:nvPr/>
        </p:nvSpPr>
        <p:spPr>
          <a:xfrm>
            <a:off x="8077534" y="5098285"/>
            <a:ext cx="1463455" cy="486161"/>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Arrow: Right 41">
            <a:extLst>
              <a:ext uri="{FF2B5EF4-FFF2-40B4-BE49-F238E27FC236}">
                <a16:creationId xmlns:a16="http://schemas.microsoft.com/office/drawing/2014/main" id="{528C2523-739C-684B-269C-F316FFC7A7BB}"/>
              </a:ext>
            </a:extLst>
          </p:cNvPr>
          <p:cNvSpPr/>
          <p:nvPr/>
        </p:nvSpPr>
        <p:spPr>
          <a:xfrm rot="5400000">
            <a:off x="9111222" y="5125268"/>
            <a:ext cx="391686" cy="1192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70969058-1DB4-6523-EB46-AF1482FB1C97}"/>
              </a:ext>
            </a:extLst>
          </p:cNvPr>
          <p:cNvSpPr txBox="1"/>
          <p:nvPr/>
        </p:nvSpPr>
        <p:spPr>
          <a:xfrm>
            <a:off x="6700258" y="4224248"/>
            <a:ext cx="2273474" cy="369332"/>
          </a:xfrm>
          <a:prstGeom prst="rect">
            <a:avLst/>
          </a:prstGeom>
        </p:spPr>
        <p:txBody>
          <a:bodyPr wrap="square" rtlCol="0">
            <a:spAutoFit/>
          </a:bodyPr>
          <a:lstStyle/>
          <a:p>
            <a:pPr algn="ctr"/>
            <a:r>
              <a:rPr lang="en-US" dirty="0"/>
              <a:t>Step 5:</a:t>
            </a:r>
          </a:p>
        </p:txBody>
      </p:sp>
      <p:sp>
        <p:nvSpPr>
          <p:cNvPr id="44" name="TextBox 43">
            <a:extLst>
              <a:ext uri="{FF2B5EF4-FFF2-40B4-BE49-F238E27FC236}">
                <a16:creationId xmlns:a16="http://schemas.microsoft.com/office/drawing/2014/main" id="{B9CDA07D-53CF-FC89-A82C-81DC85D690D3}"/>
              </a:ext>
            </a:extLst>
          </p:cNvPr>
          <p:cNvSpPr txBox="1"/>
          <p:nvPr/>
        </p:nvSpPr>
        <p:spPr>
          <a:xfrm>
            <a:off x="5826565" y="5034237"/>
            <a:ext cx="2165646" cy="923330"/>
          </a:xfrm>
          <a:prstGeom prst="rect">
            <a:avLst/>
          </a:prstGeom>
        </p:spPr>
        <p:txBody>
          <a:bodyPr wrap="square" rtlCol="0">
            <a:spAutoFit/>
          </a:bodyPr>
          <a:lstStyle/>
          <a:p>
            <a:pPr algn="ctr"/>
            <a:r>
              <a:rPr lang="en-US" dirty="0"/>
              <a:t>Travel back HALF the previous motion distance</a:t>
            </a:r>
          </a:p>
        </p:txBody>
      </p:sp>
      <p:grpSp>
        <p:nvGrpSpPr>
          <p:cNvPr id="66" name="Group 65">
            <a:extLst>
              <a:ext uri="{FF2B5EF4-FFF2-40B4-BE49-F238E27FC236}">
                <a16:creationId xmlns:a16="http://schemas.microsoft.com/office/drawing/2014/main" id="{871AB174-056B-58A8-7418-B306DD1EC482}"/>
              </a:ext>
            </a:extLst>
          </p:cNvPr>
          <p:cNvGrpSpPr/>
          <p:nvPr/>
        </p:nvGrpSpPr>
        <p:grpSpPr>
          <a:xfrm>
            <a:off x="6221518" y="816440"/>
            <a:ext cx="722100" cy="712675"/>
            <a:chOff x="6221518" y="816440"/>
            <a:chExt cx="722100" cy="712675"/>
          </a:xfrm>
        </p:grpSpPr>
        <p:grpSp>
          <p:nvGrpSpPr>
            <p:cNvPr id="45" name="Group 44">
              <a:extLst>
                <a:ext uri="{FF2B5EF4-FFF2-40B4-BE49-F238E27FC236}">
                  <a16:creationId xmlns:a16="http://schemas.microsoft.com/office/drawing/2014/main" id="{2B5F4045-F2B1-39F1-A207-63B587C6E67F}"/>
                </a:ext>
              </a:extLst>
            </p:cNvPr>
            <p:cNvGrpSpPr/>
            <p:nvPr/>
          </p:nvGrpSpPr>
          <p:grpSpPr>
            <a:xfrm>
              <a:off x="6267394" y="940703"/>
              <a:ext cx="559241" cy="588412"/>
              <a:chOff x="1330376" y="2351825"/>
              <a:chExt cx="692135" cy="728240"/>
            </a:xfrm>
          </p:grpSpPr>
          <p:cxnSp>
            <p:nvCxnSpPr>
              <p:cNvPr id="46" name="Straight Arrow Connector 45">
                <a:extLst>
                  <a:ext uri="{FF2B5EF4-FFF2-40B4-BE49-F238E27FC236}">
                    <a16:creationId xmlns:a16="http://schemas.microsoft.com/office/drawing/2014/main" id="{01215E2D-E36B-2CDD-1B2A-3252A2E5D964}"/>
                  </a:ext>
                </a:extLst>
              </p:cNvPr>
              <p:cNvCxnSpPr>
                <a:cxnSpLocks/>
              </p:cNvCxnSpPr>
              <p:nvPr/>
            </p:nvCxnSpPr>
            <p:spPr>
              <a:xfrm>
                <a:off x="1330376" y="3080063"/>
                <a:ext cx="692135" cy="2"/>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47" name="Straight Arrow Connector 46">
                <a:extLst>
                  <a:ext uri="{FF2B5EF4-FFF2-40B4-BE49-F238E27FC236}">
                    <a16:creationId xmlns:a16="http://schemas.microsoft.com/office/drawing/2014/main" id="{D0138E49-7979-A1C2-E2A8-E30060934EEB}"/>
                  </a:ext>
                </a:extLst>
              </p:cNvPr>
              <p:cNvCxnSpPr>
                <a:cxnSpLocks/>
              </p:cNvCxnSpPr>
              <p:nvPr/>
            </p:nvCxnSpPr>
            <p:spPr>
              <a:xfrm flipV="1">
                <a:off x="1330376" y="2351825"/>
                <a:ext cx="0" cy="728238"/>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grpSp>
        <p:sp>
          <p:nvSpPr>
            <p:cNvPr id="48" name="TextBox 47">
              <a:extLst>
                <a:ext uri="{FF2B5EF4-FFF2-40B4-BE49-F238E27FC236}">
                  <a16:creationId xmlns:a16="http://schemas.microsoft.com/office/drawing/2014/main" id="{EA11CD20-E351-9A22-8CFE-D81F0073F77F}"/>
                </a:ext>
              </a:extLst>
            </p:cNvPr>
            <p:cNvSpPr txBox="1"/>
            <p:nvPr/>
          </p:nvSpPr>
          <p:spPr>
            <a:xfrm>
              <a:off x="6221518" y="816440"/>
              <a:ext cx="450816" cy="369332"/>
            </a:xfrm>
            <a:prstGeom prst="rect">
              <a:avLst/>
            </a:prstGeom>
          </p:spPr>
          <p:txBody>
            <a:bodyPr wrap="square" rtlCol="0">
              <a:spAutoFit/>
            </a:bodyPr>
            <a:lstStyle/>
            <a:p>
              <a:pPr algn="ctr"/>
              <a:r>
                <a:rPr lang="en-US" dirty="0"/>
                <a:t>X</a:t>
              </a:r>
            </a:p>
          </p:txBody>
        </p:sp>
        <p:sp>
          <p:nvSpPr>
            <p:cNvPr id="49" name="TextBox 48">
              <a:extLst>
                <a:ext uri="{FF2B5EF4-FFF2-40B4-BE49-F238E27FC236}">
                  <a16:creationId xmlns:a16="http://schemas.microsoft.com/office/drawing/2014/main" id="{F3C4489E-240F-6F2F-8F9A-D7D695B0F6D9}"/>
                </a:ext>
              </a:extLst>
            </p:cNvPr>
            <p:cNvSpPr txBox="1"/>
            <p:nvPr/>
          </p:nvSpPr>
          <p:spPr>
            <a:xfrm>
              <a:off x="6492802" y="1134954"/>
              <a:ext cx="450816" cy="369332"/>
            </a:xfrm>
            <a:prstGeom prst="rect">
              <a:avLst/>
            </a:prstGeom>
          </p:spPr>
          <p:txBody>
            <a:bodyPr wrap="square" rtlCol="0">
              <a:spAutoFit/>
            </a:bodyPr>
            <a:lstStyle/>
            <a:p>
              <a:pPr algn="ctr"/>
              <a:r>
                <a:rPr lang="en-US" dirty="0"/>
                <a:t>Y</a:t>
              </a:r>
            </a:p>
          </p:txBody>
        </p:sp>
      </p:grpSp>
      <p:grpSp>
        <p:nvGrpSpPr>
          <p:cNvPr id="67" name="Group 66">
            <a:extLst>
              <a:ext uri="{FF2B5EF4-FFF2-40B4-BE49-F238E27FC236}">
                <a16:creationId xmlns:a16="http://schemas.microsoft.com/office/drawing/2014/main" id="{67801294-B352-C82D-3884-EDB33FC43D93}"/>
              </a:ext>
            </a:extLst>
          </p:cNvPr>
          <p:cNvGrpSpPr/>
          <p:nvPr/>
        </p:nvGrpSpPr>
        <p:grpSpPr>
          <a:xfrm>
            <a:off x="3050883" y="919085"/>
            <a:ext cx="722100" cy="712675"/>
            <a:chOff x="3155895" y="877727"/>
            <a:chExt cx="722100" cy="712675"/>
          </a:xfrm>
        </p:grpSpPr>
        <p:grpSp>
          <p:nvGrpSpPr>
            <p:cNvPr id="50" name="Group 49">
              <a:extLst>
                <a:ext uri="{FF2B5EF4-FFF2-40B4-BE49-F238E27FC236}">
                  <a16:creationId xmlns:a16="http://schemas.microsoft.com/office/drawing/2014/main" id="{F538F580-67E5-5F59-26CF-3B27B977A452}"/>
                </a:ext>
              </a:extLst>
            </p:cNvPr>
            <p:cNvGrpSpPr/>
            <p:nvPr/>
          </p:nvGrpSpPr>
          <p:grpSpPr>
            <a:xfrm>
              <a:off x="3201771" y="1001990"/>
              <a:ext cx="559241" cy="588412"/>
              <a:chOff x="1330376" y="2351825"/>
              <a:chExt cx="692135" cy="728240"/>
            </a:xfrm>
          </p:grpSpPr>
          <p:cxnSp>
            <p:nvCxnSpPr>
              <p:cNvPr id="51" name="Straight Arrow Connector 50">
                <a:extLst>
                  <a:ext uri="{FF2B5EF4-FFF2-40B4-BE49-F238E27FC236}">
                    <a16:creationId xmlns:a16="http://schemas.microsoft.com/office/drawing/2014/main" id="{B2850AE1-85EF-FEE1-3F32-868A0B10E3B7}"/>
                  </a:ext>
                </a:extLst>
              </p:cNvPr>
              <p:cNvCxnSpPr>
                <a:cxnSpLocks/>
              </p:cNvCxnSpPr>
              <p:nvPr/>
            </p:nvCxnSpPr>
            <p:spPr>
              <a:xfrm>
                <a:off x="1330376" y="3080063"/>
                <a:ext cx="692135" cy="2"/>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52" name="Straight Arrow Connector 51">
                <a:extLst>
                  <a:ext uri="{FF2B5EF4-FFF2-40B4-BE49-F238E27FC236}">
                    <a16:creationId xmlns:a16="http://schemas.microsoft.com/office/drawing/2014/main" id="{C5C0F80E-D72D-E194-C7DF-BAF5393CD1D2}"/>
                  </a:ext>
                </a:extLst>
              </p:cNvPr>
              <p:cNvCxnSpPr>
                <a:cxnSpLocks/>
              </p:cNvCxnSpPr>
              <p:nvPr/>
            </p:nvCxnSpPr>
            <p:spPr>
              <a:xfrm flipV="1">
                <a:off x="1330376" y="2351825"/>
                <a:ext cx="0" cy="728238"/>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grpSp>
        <p:sp>
          <p:nvSpPr>
            <p:cNvPr id="53" name="TextBox 52">
              <a:extLst>
                <a:ext uri="{FF2B5EF4-FFF2-40B4-BE49-F238E27FC236}">
                  <a16:creationId xmlns:a16="http://schemas.microsoft.com/office/drawing/2014/main" id="{8DD66F4F-9621-BCF8-24BE-ACDF2D66C869}"/>
                </a:ext>
              </a:extLst>
            </p:cNvPr>
            <p:cNvSpPr txBox="1"/>
            <p:nvPr/>
          </p:nvSpPr>
          <p:spPr>
            <a:xfrm>
              <a:off x="3155895" y="877727"/>
              <a:ext cx="450816" cy="369332"/>
            </a:xfrm>
            <a:prstGeom prst="rect">
              <a:avLst/>
            </a:prstGeom>
          </p:spPr>
          <p:txBody>
            <a:bodyPr wrap="square" rtlCol="0">
              <a:spAutoFit/>
            </a:bodyPr>
            <a:lstStyle/>
            <a:p>
              <a:pPr algn="ctr"/>
              <a:r>
                <a:rPr lang="en-US" dirty="0"/>
                <a:t>X</a:t>
              </a:r>
            </a:p>
          </p:txBody>
        </p:sp>
        <p:sp>
          <p:nvSpPr>
            <p:cNvPr id="54" name="TextBox 53">
              <a:extLst>
                <a:ext uri="{FF2B5EF4-FFF2-40B4-BE49-F238E27FC236}">
                  <a16:creationId xmlns:a16="http://schemas.microsoft.com/office/drawing/2014/main" id="{3459EF56-964E-F978-0016-EF929D258CB9}"/>
                </a:ext>
              </a:extLst>
            </p:cNvPr>
            <p:cNvSpPr txBox="1"/>
            <p:nvPr/>
          </p:nvSpPr>
          <p:spPr>
            <a:xfrm>
              <a:off x="3427179" y="1196241"/>
              <a:ext cx="450816" cy="369332"/>
            </a:xfrm>
            <a:prstGeom prst="rect">
              <a:avLst/>
            </a:prstGeom>
          </p:spPr>
          <p:txBody>
            <a:bodyPr wrap="square" rtlCol="0">
              <a:spAutoFit/>
            </a:bodyPr>
            <a:lstStyle/>
            <a:p>
              <a:pPr algn="ctr"/>
              <a:r>
                <a:rPr lang="en-US" dirty="0"/>
                <a:t>Z</a:t>
              </a:r>
            </a:p>
          </p:txBody>
        </p:sp>
      </p:grpSp>
      <p:grpSp>
        <p:nvGrpSpPr>
          <p:cNvPr id="68" name="Group 67">
            <a:extLst>
              <a:ext uri="{FF2B5EF4-FFF2-40B4-BE49-F238E27FC236}">
                <a16:creationId xmlns:a16="http://schemas.microsoft.com/office/drawing/2014/main" id="{B7D92B4D-DE6C-3D9E-846B-EDBE51DB14A8}"/>
              </a:ext>
            </a:extLst>
          </p:cNvPr>
          <p:cNvGrpSpPr/>
          <p:nvPr/>
        </p:nvGrpSpPr>
        <p:grpSpPr>
          <a:xfrm>
            <a:off x="3091640" y="3865195"/>
            <a:ext cx="722100" cy="712675"/>
            <a:chOff x="3090736" y="3875062"/>
            <a:chExt cx="722100" cy="712675"/>
          </a:xfrm>
        </p:grpSpPr>
        <p:grpSp>
          <p:nvGrpSpPr>
            <p:cNvPr id="55" name="Group 54">
              <a:extLst>
                <a:ext uri="{FF2B5EF4-FFF2-40B4-BE49-F238E27FC236}">
                  <a16:creationId xmlns:a16="http://schemas.microsoft.com/office/drawing/2014/main" id="{3E4AABD9-9017-5CEF-F94E-77548D45E2C1}"/>
                </a:ext>
              </a:extLst>
            </p:cNvPr>
            <p:cNvGrpSpPr/>
            <p:nvPr/>
          </p:nvGrpSpPr>
          <p:grpSpPr>
            <a:xfrm>
              <a:off x="3136612" y="3999325"/>
              <a:ext cx="559241" cy="588412"/>
              <a:chOff x="1330376" y="2351825"/>
              <a:chExt cx="692135" cy="728240"/>
            </a:xfrm>
          </p:grpSpPr>
          <p:cxnSp>
            <p:nvCxnSpPr>
              <p:cNvPr id="56" name="Straight Arrow Connector 55">
                <a:extLst>
                  <a:ext uri="{FF2B5EF4-FFF2-40B4-BE49-F238E27FC236}">
                    <a16:creationId xmlns:a16="http://schemas.microsoft.com/office/drawing/2014/main" id="{D50381F9-5901-20D5-AF4C-44F2A609A716}"/>
                  </a:ext>
                </a:extLst>
              </p:cNvPr>
              <p:cNvCxnSpPr>
                <a:cxnSpLocks/>
              </p:cNvCxnSpPr>
              <p:nvPr/>
            </p:nvCxnSpPr>
            <p:spPr>
              <a:xfrm>
                <a:off x="1330376" y="3080063"/>
                <a:ext cx="692135" cy="2"/>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57" name="Straight Arrow Connector 56">
                <a:extLst>
                  <a:ext uri="{FF2B5EF4-FFF2-40B4-BE49-F238E27FC236}">
                    <a16:creationId xmlns:a16="http://schemas.microsoft.com/office/drawing/2014/main" id="{949AC894-EBDA-BFF8-7112-8BB0A3AEA766}"/>
                  </a:ext>
                </a:extLst>
              </p:cNvPr>
              <p:cNvCxnSpPr>
                <a:cxnSpLocks/>
              </p:cNvCxnSpPr>
              <p:nvPr/>
            </p:nvCxnSpPr>
            <p:spPr>
              <a:xfrm flipV="1">
                <a:off x="1330376" y="2351825"/>
                <a:ext cx="0" cy="728238"/>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grpSp>
        <p:sp>
          <p:nvSpPr>
            <p:cNvPr id="58" name="TextBox 57">
              <a:extLst>
                <a:ext uri="{FF2B5EF4-FFF2-40B4-BE49-F238E27FC236}">
                  <a16:creationId xmlns:a16="http://schemas.microsoft.com/office/drawing/2014/main" id="{E82A379B-463B-4503-53B2-B2EB26F07A70}"/>
                </a:ext>
              </a:extLst>
            </p:cNvPr>
            <p:cNvSpPr txBox="1"/>
            <p:nvPr/>
          </p:nvSpPr>
          <p:spPr>
            <a:xfrm>
              <a:off x="3090736" y="3875062"/>
              <a:ext cx="450816" cy="369332"/>
            </a:xfrm>
            <a:prstGeom prst="rect">
              <a:avLst/>
            </a:prstGeom>
          </p:spPr>
          <p:txBody>
            <a:bodyPr wrap="square" rtlCol="0">
              <a:spAutoFit/>
            </a:bodyPr>
            <a:lstStyle/>
            <a:p>
              <a:pPr algn="ctr"/>
              <a:r>
                <a:rPr lang="en-US" dirty="0"/>
                <a:t>X</a:t>
              </a:r>
            </a:p>
          </p:txBody>
        </p:sp>
        <p:sp>
          <p:nvSpPr>
            <p:cNvPr id="59" name="TextBox 58">
              <a:extLst>
                <a:ext uri="{FF2B5EF4-FFF2-40B4-BE49-F238E27FC236}">
                  <a16:creationId xmlns:a16="http://schemas.microsoft.com/office/drawing/2014/main" id="{4CB33160-BBE9-1569-D563-9D17F620802B}"/>
                </a:ext>
              </a:extLst>
            </p:cNvPr>
            <p:cNvSpPr txBox="1"/>
            <p:nvPr/>
          </p:nvSpPr>
          <p:spPr>
            <a:xfrm>
              <a:off x="3362020" y="4193576"/>
              <a:ext cx="450816" cy="369332"/>
            </a:xfrm>
            <a:prstGeom prst="rect">
              <a:avLst/>
            </a:prstGeom>
          </p:spPr>
          <p:txBody>
            <a:bodyPr wrap="square" rtlCol="0">
              <a:spAutoFit/>
            </a:bodyPr>
            <a:lstStyle/>
            <a:p>
              <a:pPr algn="ctr"/>
              <a:r>
                <a:rPr lang="en-US" dirty="0"/>
                <a:t>Z</a:t>
              </a:r>
            </a:p>
          </p:txBody>
        </p:sp>
      </p:grpSp>
      <p:grpSp>
        <p:nvGrpSpPr>
          <p:cNvPr id="65" name="Group 64">
            <a:extLst>
              <a:ext uri="{FF2B5EF4-FFF2-40B4-BE49-F238E27FC236}">
                <a16:creationId xmlns:a16="http://schemas.microsoft.com/office/drawing/2014/main" id="{CF430340-677B-A742-1570-0483B7A25B3E}"/>
              </a:ext>
            </a:extLst>
          </p:cNvPr>
          <p:cNvGrpSpPr/>
          <p:nvPr/>
        </p:nvGrpSpPr>
        <p:grpSpPr>
          <a:xfrm>
            <a:off x="8577198" y="3918857"/>
            <a:ext cx="722100" cy="712675"/>
            <a:chOff x="8577198" y="3918857"/>
            <a:chExt cx="722100" cy="712675"/>
          </a:xfrm>
        </p:grpSpPr>
        <p:grpSp>
          <p:nvGrpSpPr>
            <p:cNvPr id="60" name="Group 59">
              <a:extLst>
                <a:ext uri="{FF2B5EF4-FFF2-40B4-BE49-F238E27FC236}">
                  <a16:creationId xmlns:a16="http://schemas.microsoft.com/office/drawing/2014/main" id="{E6DAD23D-FF7E-D8A2-9F23-0D8C2389A704}"/>
                </a:ext>
              </a:extLst>
            </p:cNvPr>
            <p:cNvGrpSpPr/>
            <p:nvPr/>
          </p:nvGrpSpPr>
          <p:grpSpPr>
            <a:xfrm>
              <a:off x="8623074" y="4043120"/>
              <a:ext cx="559241" cy="588412"/>
              <a:chOff x="1330376" y="2351825"/>
              <a:chExt cx="692135" cy="728240"/>
            </a:xfrm>
          </p:grpSpPr>
          <p:cxnSp>
            <p:nvCxnSpPr>
              <p:cNvPr id="61" name="Straight Arrow Connector 60">
                <a:extLst>
                  <a:ext uri="{FF2B5EF4-FFF2-40B4-BE49-F238E27FC236}">
                    <a16:creationId xmlns:a16="http://schemas.microsoft.com/office/drawing/2014/main" id="{F4C5F448-5C5D-BE6E-EB20-0D629BA4DA38}"/>
                  </a:ext>
                </a:extLst>
              </p:cNvPr>
              <p:cNvCxnSpPr>
                <a:cxnSpLocks/>
              </p:cNvCxnSpPr>
              <p:nvPr/>
            </p:nvCxnSpPr>
            <p:spPr>
              <a:xfrm>
                <a:off x="1330376" y="3080063"/>
                <a:ext cx="692135" cy="2"/>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62" name="Straight Arrow Connector 61">
                <a:extLst>
                  <a:ext uri="{FF2B5EF4-FFF2-40B4-BE49-F238E27FC236}">
                    <a16:creationId xmlns:a16="http://schemas.microsoft.com/office/drawing/2014/main" id="{676D5DB1-0C4B-6077-9CD4-4D874426F658}"/>
                  </a:ext>
                </a:extLst>
              </p:cNvPr>
              <p:cNvCxnSpPr>
                <a:cxnSpLocks/>
              </p:cNvCxnSpPr>
              <p:nvPr/>
            </p:nvCxnSpPr>
            <p:spPr>
              <a:xfrm flipV="1">
                <a:off x="1330376" y="2351825"/>
                <a:ext cx="0" cy="728238"/>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grpSp>
        <p:sp>
          <p:nvSpPr>
            <p:cNvPr id="63" name="TextBox 62">
              <a:extLst>
                <a:ext uri="{FF2B5EF4-FFF2-40B4-BE49-F238E27FC236}">
                  <a16:creationId xmlns:a16="http://schemas.microsoft.com/office/drawing/2014/main" id="{3619AC06-E7A8-5BAE-CF6C-52C582F4F854}"/>
                </a:ext>
              </a:extLst>
            </p:cNvPr>
            <p:cNvSpPr txBox="1"/>
            <p:nvPr/>
          </p:nvSpPr>
          <p:spPr>
            <a:xfrm>
              <a:off x="8577198" y="3918857"/>
              <a:ext cx="450816" cy="369332"/>
            </a:xfrm>
            <a:prstGeom prst="rect">
              <a:avLst/>
            </a:prstGeom>
          </p:spPr>
          <p:txBody>
            <a:bodyPr wrap="square" rtlCol="0">
              <a:spAutoFit/>
            </a:bodyPr>
            <a:lstStyle/>
            <a:p>
              <a:pPr algn="ctr"/>
              <a:r>
                <a:rPr lang="en-US" dirty="0"/>
                <a:t>X</a:t>
              </a:r>
            </a:p>
          </p:txBody>
        </p:sp>
        <p:sp>
          <p:nvSpPr>
            <p:cNvPr id="64" name="TextBox 63">
              <a:extLst>
                <a:ext uri="{FF2B5EF4-FFF2-40B4-BE49-F238E27FC236}">
                  <a16:creationId xmlns:a16="http://schemas.microsoft.com/office/drawing/2014/main" id="{53E05454-3823-EC69-8E07-0FB35D4E66F0}"/>
                </a:ext>
              </a:extLst>
            </p:cNvPr>
            <p:cNvSpPr txBox="1"/>
            <p:nvPr/>
          </p:nvSpPr>
          <p:spPr>
            <a:xfrm>
              <a:off x="8848482" y="4237371"/>
              <a:ext cx="450816" cy="369332"/>
            </a:xfrm>
            <a:prstGeom prst="rect">
              <a:avLst/>
            </a:prstGeom>
          </p:spPr>
          <p:txBody>
            <a:bodyPr wrap="square" rtlCol="0">
              <a:spAutoFit/>
            </a:bodyPr>
            <a:lstStyle/>
            <a:p>
              <a:pPr algn="ctr"/>
              <a:r>
                <a:rPr lang="en-US" dirty="0"/>
                <a:t>Z</a:t>
              </a:r>
            </a:p>
          </p:txBody>
        </p:sp>
      </p:grpSp>
      <p:sp>
        <p:nvSpPr>
          <p:cNvPr id="69" name="TextBox 68">
            <a:extLst>
              <a:ext uri="{FF2B5EF4-FFF2-40B4-BE49-F238E27FC236}">
                <a16:creationId xmlns:a16="http://schemas.microsoft.com/office/drawing/2014/main" id="{AE618F52-DD55-A6F4-D7B1-EF8CDDD40CE5}"/>
              </a:ext>
            </a:extLst>
          </p:cNvPr>
          <p:cNvSpPr txBox="1"/>
          <p:nvPr/>
        </p:nvSpPr>
        <p:spPr>
          <a:xfrm>
            <a:off x="8206046" y="1118598"/>
            <a:ext cx="2273474" cy="369332"/>
          </a:xfrm>
          <a:prstGeom prst="rect">
            <a:avLst/>
          </a:prstGeom>
        </p:spPr>
        <p:txBody>
          <a:bodyPr wrap="square" rtlCol="0">
            <a:spAutoFit/>
          </a:bodyPr>
          <a:lstStyle/>
          <a:p>
            <a:pPr algn="ctr"/>
            <a:r>
              <a:rPr lang="en-US" dirty="0"/>
              <a:t>Step 2:</a:t>
            </a:r>
          </a:p>
        </p:txBody>
      </p: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EEEC245E-903C-65A5-5E4C-2057DF7AD94E}"/>
                  </a:ext>
                </a:extLst>
              </p:cNvPr>
              <p:cNvSpPr txBox="1"/>
              <p:nvPr/>
            </p:nvSpPr>
            <p:spPr>
              <a:xfrm>
                <a:off x="7276791" y="2473727"/>
                <a:ext cx="929255" cy="428259"/>
              </a:xfrm>
              <a:prstGeom prst="rect">
                <a:avLst/>
              </a:prstGeom>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2000" b="1" i="1" dirty="0" smtClean="0">
                              <a:solidFill>
                                <a:srgbClr val="D00000"/>
                              </a:solidFill>
                              <a:latin typeface="Cambria Math" panose="02040503050406030204" pitchFamily="18" charset="0"/>
                            </a:rPr>
                          </m:ctrlPr>
                        </m:sSubPr>
                        <m:e>
                          <m:r>
                            <a:rPr lang="en-US" sz="2000" b="1" i="1" dirty="0" smtClean="0">
                              <a:solidFill>
                                <a:srgbClr val="D00000"/>
                              </a:solidFill>
                              <a:latin typeface="Cambria Math" panose="02040503050406030204" pitchFamily="18" charset="0"/>
                            </a:rPr>
                            <m:t>𝑭</m:t>
                          </m:r>
                        </m:e>
                        <m:sub>
                          <m:r>
                            <a:rPr lang="en-US" sz="2000" b="1" i="1" dirty="0" smtClean="0">
                              <a:solidFill>
                                <a:srgbClr val="D00000"/>
                              </a:solidFill>
                              <a:latin typeface="Cambria Math" panose="02040503050406030204" pitchFamily="18" charset="0"/>
                            </a:rPr>
                            <m:t>𝒙𝒚</m:t>
                          </m:r>
                        </m:sub>
                      </m:sSub>
                    </m:oMath>
                  </m:oMathPara>
                </a14:m>
                <a:endParaRPr lang="en-US" sz="2000" b="1" dirty="0">
                  <a:solidFill>
                    <a:srgbClr val="D00000"/>
                  </a:solidFill>
                </a:endParaRPr>
              </a:p>
            </p:txBody>
          </p:sp>
        </mc:Choice>
        <mc:Fallback xmlns="">
          <p:sp>
            <p:nvSpPr>
              <p:cNvPr id="70" name="TextBox 69">
                <a:extLst>
                  <a:ext uri="{FF2B5EF4-FFF2-40B4-BE49-F238E27FC236}">
                    <a16:creationId xmlns:a16="http://schemas.microsoft.com/office/drawing/2014/main" id="{EEEC245E-903C-65A5-5E4C-2057DF7AD94E}"/>
                  </a:ext>
                </a:extLst>
              </p:cNvPr>
              <p:cNvSpPr txBox="1">
                <a:spLocks noRot="1" noChangeAspect="1" noMove="1" noResize="1" noEditPoints="1" noAdjustHandles="1" noChangeArrowheads="1" noChangeShapeType="1" noTextEdit="1"/>
              </p:cNvSpPr>
              <p:nvPr/>
            </p:nvSpPr>
            <p:spPr>
              <a:xfrm>
                <a:off x="7276791" y="2473727"/>
                <a:ext cx="929255" cy="428259"/>
              </a:xfrm>
              <a:prstGeom prst="rect">
                <a:avLst/>
              </a:prstGeom>
              <a:blipFill>
                <a:blip r:embed="rId2"/>
                <a:stretch>
                  <a:fillRect b="-7143"/>
                </a:stretch>
              </a:blipFill>
            </p:spPr>
            <p:txBody>
              <a:bodyPr/>
              <a:lstStyle/>
              <a:p>
                <a:r>
                  <a:rPr lang="en-US">
                    <a:noFill/>
                  </a:rPr>
                  <a:t> </a:t>
                </a:r>
              </a:p>
            </p:txBody>
          </p:sp>
        </mc:Fallback>
      </mc:AlternateContent>
      <p:sp>
        <p:nvSpPr>
          <p:cNvPr id="71" name="TextBox 70">
            <a:extLst>
              <a:ext uri="{FF2B5EF4-FFF2-40B4-BE49-F238E27FC236}">
                <a16:creationId xmlns:a16="http://schemas.microsoft.com/office/drawing/2014/main" id="{A71C0EAB-6EDB-4D04-F8DB-CCA7F025A3FA}"/>
              </a:ext>
            </a:extLst>
          </p:cNvPr>
          <p:cNvSpPr txBox="1"/>
          <p:nvPr/>
        </p:nvSpPr>
        <p:spPr>
          <a:xfrm>
            <a:off x="571960" y="1994529"/>
            <a:ext cx="583850" cy="253916"/>
          </a:xfrm>
          <a:prstGeom prst="rect">
            <a:avLst/>
          </a:prstGeom>
        </p:spPr>
        <p:txBody>
          <a:bodyPr wrap="square" rtlCol="0">
            <a:spAutoFit/>
          </a:bodyPr>
          <a:lstStyle/>
          <a:p>
            <a:pPr algn="l"/>
            <a:r>
              <a:rPr lang="en-US" sz="1050" dirty="0"/>
              <a:t>RSTA</a:t>
            </a:r>
          </a:p>
        </p:txBody>
      </p:sp>
      <p:sp>
        <p:nvSpPr>
          <p:cNvPr id="72" name="TextBox 71">
            <a:extLst>
              <a:ext uri="{FF2B5EF4-FFF2-40B4-BE49-F238E27FC236}">
                <a16:creationId xmlns:a16="http://schemas.microsoft.com/office/drawing/2014/main" id="{E7E3DE2B-B4AE-9443-2AEE-4A1E0B8FFD26}"/>
              </a:ext>
            </a:extLst>
          </p:cNvPr>
          <p:cNvSpPr txBox="1"/>
          <p:nvPr/>
        </p:nvSpPr>
        <p:spPr>
          <a:xfrm>
            <a:off x="4340168" y="2043023"/>
            <a:ext cx="965832" cy="253916"/>
          </a:xfrm>
          <a:prstGeom prst="rect">
            <a:avLst/>
          </a:prstGeom>
        </p:spPr>
        <p:txBody>
          <a:bodyPr wrap="square" rtlCol="0">
            <a:spAutoFit/>
          </a:bodyPr>
          <a:lstStyle/>
          <a:p>
            <a:pPr algn="l"/>
            <a:r>
              <a:rPr lang="en-US" sz="1050" dirty="0"/>
              <a:t>OS Sleeve X</a:t>
            </a:r>
          </a:p>
        </p:txBody>
      </p:sp>
      <p:sp>
        <p:nvSpPr>
          <p:cNvPr id="7" name="Arrow: Right 6">
            <a:extLst>
              <a:ext uri="{FF2B5EF4-FFF2-40B4-BE49-F238E27FC236}">
                <a16:creationId xmlns:a16="http://schemas.microsoft.com/office/drawing/2014/main" id="{152EF1C8-BDE3-100A-0051-F9E95EE4C2B2}"/>
              </a:ext>
            </a:extLst>
          </p:cNvPr>
          <p:cNvSpPr/>
          <p:nvPr/>
        </p:nvSpPr>
        <p:spPr>
          <a:xfrm rot="16200000">
            <a:off x="3390122" y="5253351"/>
            <a:ext cx="646331" cy="11895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494772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0375353-8003-CA11-086C-2B49BBCEA00B}"/>
              </a:ext>
            </a:extLst>
          </p:cNvPr>
          <p:cNvSpPr>
            <a:spLocks noGrp="1"/>
          </p:cNvSpPr>
          <p:nvPr>
            <p:ph type="body" sz="quarter" idx="17"/>
          </p:nvPr>
        </p:nvSpPr>
        <p:spPr>
          <a:xfrm>
            <a:off x="276222" y="1132051"/>
            <a:ext cx="4850580" cy="5253445"/>
          </a:xfrm>
        </p:spPr>
        <p:txBody>
          <a:bodyPr>
            <a:noAutofit/>
          </a:bodyPr>
          <a:lstStyle/>
          <a:p>
            <a:pPr marL="0" marR="0" indent="0">
              <a:spcBef>
                <a:spcPts val="0"/>
              </a:spcBef>
              <a:spcAft>
                <a:spcPts val="0"/>
              </a:spcAft>
              <a:buNone/>
            </a:pPr>
            <a:r>
              <a:rPr lang="en-US" sz="1100" dirty="0">
                <a:solidFill>
                  <a:srgbClr val="000000"/>
                </a:solidFill>
                <a:effectLst/>
                <a:latin typeface="Aptos" panose="020B0004020202020204" pitchFamily="34" charset="0"/>
                <a:ea typeface="Times New Roman" panose="02020603050405020304" pitchFamily="18" charset="0"/>
              </a:rPr>
              <a:t>I was thinking a little more about option 3 and how we might sequence something like that.  On MSL and M2020 I've found the concept of the arm target frame to be a powerful and versatile tool.  The arm target infrastructure was really just a family of commands that let the user manipulate a coordinate frame in various ways and then we could command the arm in that frame.  Here perhaps we'd use a few heritage concepts plus a couple new ones.   </a:t>
            </a:r>
            <a:endParaRPr lang="en-US" sz="1100" dirty="0">
              <a:effectLst/>
              <a:latin typeface="Calibri" panose="020F0502020204030204" pitchFamily="34" charset="0"/>
              <a:ea typeface="Calibri" panose="020F0502020204030204" pitchFamily="34" charset="0"/>
            </a:endParaRPr>
          </a:p>
          <a:p>
            <a:pPr marL="0" marR="0" indent="0">
              <a:spcBef>
                <a:spcPts val="0"/>
              </a:spcBef>
              <a:spcAft>
                <a:spcPts val="0"/>
              </a:spcAft>
              <a:buNone/>
            </a:pPr>
            <a:r>
              <a:rPr lang="en-US" sz="1100" dirty="0">
                <a:solidFill>
                  <a:srgbClr val="000000"/>
                </a:solidFill>
                <a:effectLst/>
                <a:latin typeface="Aptos" panose="020B0004020202020204" pitchFamily="34" charset="0"/>
                <a:ea typeface="Times New Roman" panose="02020603050405020304" pitchFamily="18" charset="0"/>
              </a:rPr>
              <a:t>Heritage:</a:t>
            </a:r>
            <a:endParaRPr lang="en-US" sz="1100" dirty="0">
              <a:effectLst/>
              <a:latin typeface="Calibri" panose="020F0502020204030204" pitchFamily="34" charset="0"/>
              <a:ea typeface="Calibri" panose="020F0502020204030204" pitchFamily="34" charset="0"/>
            </a:endParaRPr>
          </a:p>
          <a:p>
            <a:pPr marL="0" marR="0" indent="0">
              <a:spcBef>
                <a:spcPts val="0"/>
              </a:spcBef>
              <a:spcAft>
                <a:spcPts val="0"/>
              </a:spcAft>
              <a:buNone/>
            </a:pPr>
            <a:r>
              <a:rPr lang="en-US" sz="1100" dirty="0">
                <a:solidFill>
                  <a:srgbClr val="000000"/>
                </a:solidFill>
                <a:effectLst/>
                <a:latin typeface="Aptos" panose="020B0004020202020204" pitchFamily="34" charset="0"/>
                <a:ea typeface="Times New Roman" panose="02020603050405020304" pitchFamily="18" charset="0"/>
              </a:rPr>
              <a:t>  -Basic ARM_SET_TARGET command.  Lets the user set the arm target to an arbitrary offset from a specified base frame (when in ABS mode) or update just the position and leave the orientation untouched (when in ABS_POS_ONLY mode).</a:t>
            </a:r>
            <a:endParaRPr lang="en-US" sz="1100" dirty="0">
              <a:effectLst/>
              <a:latin typeface="Calibri" panose="020F0502020204030204" pitchFamily="34" charset="0"/>
              <a:ea typeface="Calibri" panose="020F0502020204030204" pitchFamily="34" charset="0"/>
            </a:endParaRPr>
          </a:p>
          <a:p>
            <a:pPr marL="0" marR="0" indent="0">
              <a:spcBef>
                <a:spcPts val="0"/>
              </a:spcBef>
              <a:spcAft>
                <a:spcPts val="0"/>
              </a:spcAft>
              <a:buNone/>
            </a:pPr>
            <a:r>
              <a:rPr lang="en-US" sz="1100" dirty="0">
                <a:solidFill>
                  <a:srgbClr val="000000"/>
                </a:solidFill>
                <a:effectLst/>
                <a:latin typeface="Aptos" panose="020B0004020202020204" pitchFamily="34" charset="0"/>
                <a:ea typeface="Times New Roman" panose="02020603050405020304" pitchFamily="18" charset="0"/>
              </a:rPr>
              <a:t>  -ARM_SET_TARGET_FORCE_MEAS.  Set the arm target relative to a specified kinematic control frame whose pose has been computed using the FTS measured loads as part of the deflection modeling.</a:t>
            </a:r>
            <a:endParaRPr lang="en-US" sz="1100" dirty="0">
              <a:effectLst/>
              <a:latin typeface="Calibri" panose="020F0502020204030204" pitchFamily="34" charset="0"/>
              <a:ea typeface="Calibri" panose="020F0502020204030204" pitchFamily="34" charset="0"/>
            </a:endParaRPr>
          </a:p>
          <a:p>
            <a:pPr marL="0" marR="0" indent="0">
              <a:spcBef>
                <a:spcPts val="0"/>
              </a:spcBef>
              <a:spcAft>
                <a:spcPts val="0"/>
              </a:spcAft>
              <a:buNone/>
            </a:pPr>
            <a:r>
              <a:rPr lang="en-US" sz="1100" dirty="0">
                <a:solidFill>
                  <a:srgbClr val="000000"/>
                </a:solidFill>
                <a:effectLst/>
                <a:latin typeface="Aptos" panose="020B0004020202020204" pitchFamily="34" charset="0"/>
                <a:ea typeface="Times New Roman" panose="02020603050405020304" pitchFamily="18" charset="0"/>
              </a:rPr>
              <a:t> </a:t>
            </a:r>
            <a:endParaRPr lang="en-US" sz="1100" dirty="0">
              <a:effectLst/>
              <a:latin typeface="Calibri" panose="020F0502020204030204" pitchFamily="34" charset="0"/>
              <a:ea typeface="Calibri" panose="020F0502020204030204" pitchFamily="34" charset="0"/>
            </a:endParaRPr>
          </a:p>
          <a:p>
            <a:pPr marL="0" marR="0" indent="0">
              <a:spcBef>
                <a:spcPts val="0"/>
              </a:spcBef>
              <a:spcAft>
                <a:spcPts val="0"/>
              </a:spcAft>
              <a:buNone/>
            </a:pPr>
            <a:r>
              <a:rPr lang="en-US" sz="1100" dirty="0">
                <a:solidFill>
                  <a:srgbClr val="000000"/>
                </a:solidFill>
                <a:effectLst/>
                <a:latin typeface="Aptos" panose="020B0004020202020204" pitchFamily="34" charset="0"/>
                <a:ea typeface="Times New Roman" panose="02020603050405020304" pitchFamily="18" charset="0"/>
              </a:rPr>
              <a:t>New concepts:</a:t>
            </a:r>
            <a:endParaRPr lang="en-US" sz="1100" dirty="0">
              <a:effectLst/>
              <a:latin typeface="Calibri" panose="020F0502020204030204" pitchFamily="34" charset="0"/>
              <a:ea typeface="Calibri" panose="020F0502020204030204" pitchFamily="34" charset="0"/>
            </a:endParaRPr>
          </a:p>
          <a:p>
            <a:pPr marL="0" marR="0" indent="0">
              <a:spcBef>
                <a:spcPts val="0"/>
              </a:spcBef>
              <a:spcAft>
                <a:spcPts val="0"/>
              </a:spcAft>
              <a:buNone/>
            </a:pPr>
            <a:r>
              <a:rPr lang="en-US" sz="1100" dirty="0">
                <a:solidFill>
                  <a:srgbClr val="000000"/>
                </a:solidFill>
                <a:effectLst/>
                <a:latin typeface="Aptos" panose="020B0004020202020204" pitchFamily="34" charset="0"/>
                <a:ea typeface="Times New Roman" panose="02020603050405020304" pitchFamily="18" charset="0"/>
              </a:rPr>
              <a:t>  -ARM_ALIGN_TARGET_WITH_FORCE command.  Takes one argument specifying how to do the alignment.  Updates the orientation of the arm target, leaving the position alone.  In XY mode, rotates about the target frame Z axis until the X axis is aligned with the projection of the force vector onto the target frame XY plane.  This is what we'd use to move in the desired lateral direction (which would be along target frame X) to find the other side of the chamfer.  In XYZ mode, the target frame Z axis would point along the direction of the force vector (not sure the most sensible way of setting the twist about the Z axis as it would essentially be arbitrary).</a:t>
            </a:r>
            <a:endParaRPr lang="en-US" sz="1100" dirty="0">
              <a:effectLst/>
              <a:latin typeface="Calibri" panose="020F0502020204030204" pitchFamily="34" charset="0"/>
              <a:ea typeface="Calibri" panose="020F0502020204030204" pitchFamily="34" charset="0"/>
            </a:endParaRPr>
          </a:p>
          <a:p>
            <a:pPr marL="0" marR="0" indent="0">
              <a:spcBef>
                <a:spcPts val="0"/>
              </a:spcBef>
              <a:spcAft>
                <a:spcPts val="0"/>
              </a:spcAft>
              <a:buNone/>
            </a:pPr>
            <a:r>
              <a:rPr lang="en-US" sz="1100" dirty="0">
                <a:solidFill>
                  <a:srgbClr val="000000"/>
                </a:solidFill>
                <a:effectLst/>
                <a:latin typeface="Aptos" panose="020B0004020202020204" pitchFamily="34" charset="0"/>
                <a:ea typeface="Times New Roman" panose="02020603050405020304" pitchFamily="18" charset="0"/>
              </a:rPr>
              <a:t>  -New AVE, AVE_POS_ONLY, and AVE_ORI_ONLY options to the target setting commands.  These would average a specified frame with the current arm target frame to generate the new arm target.  This is how we'd compute our centered target.  AVE would average both position and orientation.  AVE_POS_ONLY would only average the position and keep the original target orientation.  AVE_ORI_ONLY would do the opposite.  </a:t>
            </a:r>
            <a:endParaRPr lang="en-US" sz="1100" dirty="0">
              <a:effectLst/>
              <a:latin typeface="Calibri" panose="020F0502020204030204" pitchFamily="34" charset="0"/>
              <a:ea typeface="Calibri" panose="020F0502020204030204" pitchFamily="34" charset="0"/>
            </a:endParaRPr>
          </a:p>
          <a:p>
            <a:pPr marL="0" marR="0" indent="0">
              <a:spcBef>
                <a:spcPts val="0"/>
              </a:spcBef>
              <a:spcAft>
                <a:spcPts val="0"/>
              </a:spcAft>
              <a:buNone/>
            </a:pPr>
            <a:r>
              <a:rPr lang="en-US" sz="1100" dirty="0">
                <a:solidFill>
                  <a:srgbClr val="000000"/>
                </a:solidFill>
                <a:effectLst/>
                <a:latin typeface="Aptos" panose="020B0004020202020204" pitchFamily="34" charset="0"/>
                <a:ea typeface="Times New Roman" panose="02020603050405020304" pitchFamily="18" charset="0"/>
              </a:rPr>
              <a:t> </a:t>
            </a:r>
            <a:endParaRPr lang="en-US" sz="1100" dirty="0">
              <a:effectLst/>
              <a:latin typeface="Calibri" panose="020F0502020204030204" pitchFamily="34" charset="0"/>
              <a:ea typeface="Calibri" panose="020F0502020204030204" pitchFamily="34" charset="0"/>
            </a:endParaRPr>
          </a:p>
          <a:p>
            <a:pPr marL="0" marR="0" indent="0">
              <a:spcBef>
                <a:spcPts val="0"/>
              </a:spcBef>
              <a:spcAft>
                <a:spcPts val="0"/>
              </a:spcAft>
              <a:buNone/>
            </a:pPr>
            <a:r>
              <a:rPr lang="en-US" sz="1100" dirty="0">
                <a:solidFill>
                  <a:srgbClr val="000000"/>
                </a:solidFill>
                <a:effectLst/>
                <a:latin typeface="Aptos" panose="020B0004020202020204" pitchFamily="34" charset="0"/>
                <a:ea typeface="Times New Roman" panose="02020603050405020304" pitchFamily="18" charset="0"/>
              </a:rPr>
              <a:t>Below is a rough straw man of what the commanding might look like </a:t>
            </a:r>
            <a:endParaRPr lang="en-US" sz="1100" dirty="0">
              <a:effectLst/>
              <a:latin typeface="Calibri" panose="020F0502020204030204" pitchFamily="34" charset="0"/>
              <a:ea typeface="Calibri" panose="020F0502020204030204" pitchFamily="34" charset="0"/>
            </a:endParaRPr>
          </a:p>
        </p:txBody>
      </p:sp>
      <p:sp>
        <p:nvSpPr>
          <p:cNvPr id="3" name="Title 2">
            <a:extLst>
              <a:ext uri="{FF2B5EF4-FFF2-40B4-BE49-F238E27FC236}">
                <a16:creationId xmlns:a16="http://schemas.microsoft.com/office/drawing/2014/main" id="{7426F0DF-E374-6122-9B0A-F4D8F9657C6D}"/>
              </a:ext>
            </a:extLst>
          </p:cNvPr>
          <p:cNvSpPr>
            <a:spLocks noGrp="1"/>
          </p:cNvSpPr>
          <p:nvPr>
            <p:ph type="title"/>
          </p:nvPr>
        </p:nvSpPr>
        <p:spPr/>
        <p:txBody>
          <a:bodyPr/>
          <a:lstStyle/>
          <a:p>
            <a:r>
              <a:rPr lang="en-US" dirty="0"/>
              <a:t>Joseph C’s take on how to do this *mostly* operationally</a:t>
            </a:r>
          </a:p>
        </p:txBody>
      </p:sp>
      <p:sp>
        <p:nvSpPr>
          <p:cNvPr id="4" name="Date Placeholder 3">
            <a:extLst>
              <a:ext uri="{FF2B5EF4-FFF2-40B4-BE49-F238E27FC236}">
                <a16:creationId xmlns:a16="http://schemas.microsoft.com/office/drawing/2014/main" id="{047BDB13-2D0F-F85D-825E-932FD8281BAF}"/>
              </a:ext>
            </a:extLst>
          </p:cNvPr>
          <p:cNvSpPr>
            <a:spLocks noGrp="1"/>
          </p:cNvSpPr>
          <p:nvPr>
            <p:ph type="dt" sz="half" idx="18"/>
          </p:nvPr>
        </p:nvSpPr>
        <p:spPr/>
        <p:txBody>
          <a:bodyPr/>
          <a:lstStyle/>
          <a:p>
            <a:r>
              <a:rPr lang="en-US"/>
              <a:t>DD/MM/YYYY</a:t>
            </a:r>
          </a:p>
        </p:txBody>
      </p:sp>
      <p:sp>
        <p:nvSpPr>
          <p:cNvPr id="5" name="Footer Placeholder 4">
            <a:extLst>
              <a:ext uri="{FF2B5EF4-FFF2-40B4-BE49-F238E27FC236}">
                <a16:creationId xmlns:a16="http://schemas.microsoft.com/office/drawing/2014/main" id="{6400AAD9-5FBB-107A-8C3A-07AD21DCE550}"/>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6" name="Slide Number Placeholder 5">
            <a:extLst>
              <a:ext uri="{FF2B5EF4-FFF2-40B4-BE49-F238E27FC236}">
                <a16:creationId xmlns:a16="http://schemas.microsoft.com/office/drawing/2014/main" id="{EF9F9446-8BEF-5B38-DE25-587F92E1971F}"/>
              </a:ext>
            </a:extLst>
          </p:cNvPr>
          <p:cNvSpPr>
            <a:spLocks noGrp="1"/>
          </p:cNvSpPr>
          <p:nvPr>
            <p:ph type="sldNum" sz="quarter" idx="20"/>
          </p:nvPr>
        </p:nvSpPr>
        <p:spPr/>
        <p:txBody>
          <a:bodyPr/>
          <a:lstStyle/>
          <a:p>
            <a:fld id="{2D04F4CF-F641-6E4E-8F87-8EB8AA2BFA51}" type="slidenum">
              <a:rPr lang="en-US" smtClean="0"/>
              <a:pPr/>
              <a:t>14</a:t>
            </a:fld>
            <a:endParaRPr lang="en-US"/>
          </a:p>
        </p:txBody>
      </p:sp>
      <p:sp>
        <p:nvSpPr>
          <p:cNvPr id="9" name="Text Placeholder 1">
            <a:extLst>
              <a:ext uri="{FF2B5EF4-FFF2-40B4-BE49-F238E27FC236}">
                <a16:creationId xmlns:a16="http://schemas.microsoft.com/office/drawing/2014/main" id="{3CAA3D83-0B33-3115-CE8A-4DDE7D296186}"/>
              </a:ext>
            </a:extLst>
          </p:cNvPr>
          <p:cNvSpPr txBox="1">
            <a:spLocks/>
          </p:cNvSpPr>
          <p:nvPr/>
        </p:nvSpPr>
        <p:spPr>
          <a:xfrm>
            <a:off x="5352837" y="921511"/>
            <a:ext cx="6562942" cy="5520563"/>
          </a:xfrm>
          <a:prstGeom prst="rect">
            <a:avLst/>
          </a:prstGeom>
        </p:spPr>
        <p:style>
          <a:lnRef idx="2">
            <a:schemeClr val="dk1"/>
          </a:lnRef>
          <a:fillRef idx="1">
            <a:schemeClr val="lt1"/>
          </a:fillRef>
          <a:effectRef idx="0">
            <a:schemeClr val="dk1"/>
          </a:effectRef>
          <a:fontRef idx="minor">
            <a:schemeClr val="dk1"/>
          </a:fontRef>
        </p:style>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b="0" i="0" kern="1200">
                <a:solidFill>
                  <a:schemeClr val="tx1"/>
                </a:solidFill>
                <a:latin typeface="+mn-lt"/>
                <a:ea typeface="Helvetica Neue Thin" panose="020B0403020202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Helvetica Neue Thin" panose="020B0403020202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Helvetica Neue Thin" panose="020B0403020202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Helvetica Neue Thin" panose="020B0403020202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Helvetica Neue Thin" panose="020B0403020202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r>
              <a:rPr lang="en-US" sz="1200" dirty="0">
                <a:solidFill>
                  <a:srgbClr val="000000"/>
                </a:solidFill>
                <a:latin typeface="Aptos" panose="020B0004020202020204" pitchFamily="34" charset="0"/>
                <a:ea typeface="Times New Roman" panose="02020603050405020304" pitchFamily="18" charset="0"/>
              </a:rPr>
              <a:t>ARM_SET_TARGET 0 0 0 0 0 0 VIS_LOCALIZED ABS #Set the arm target to the vision localized pose.</a:t>
            </a:r>
            <a:endParaRPr lang="en-US" sz="1200" dirty="0">
              <a:latin typeface="Calibri" panose="020F0502020204030204" pitchFamily="34" charset="0"/>
              <a:ea typeface="Calibri" panose="020F0502020204030204" pitchFamily="34" charset="0"/>
            </a:endParaRPr>
          </a:p>
          <a:p>
            <a:pPr marL="0" indent="0">
              <a:spcBef>
                <a:spcPts val="0"/>
              </a:spcBef>
              <a:buFont typeface="Arial" panose="020B0604020202020204" pitchFamily="34" charset="0"/>
              <a:buNone/>
            </a:pPr>
            <a:r>
              <a:rPr lang="en-US" sz="1200" dirty="0">
                <a:solidFill>
                  <a:srgbClr val="000000"/>
                </a:solidFill>
                <a:latin typeface="Aptos" panose="020B0004020202020204" pitchFamily="34" charset="0"/>
                <a:ea typeface="Times New Roman" panose="02020603050405020304" pitchFamily="18" charset="0"/>
              </a:rPr>
              <a:t> </a:t>
            </a:r>
            <a:endParaRPr lang="en-US" sz="1200" dirty="0">
              <a:latin typeface="Calibri" panose="020F0502020204030204" pitchFamily="34" charset="0"/>
              <a:ea typeface="Calibri" panose="020F0502020204030204" pitchFamily="34" charset="0"/>
            </a:endParaRPr>
          </a:p>
          <a:p>
            <a:pPr marL="0" indent="0">
              <a:spcBef>
                <a:spcPts val="0"/>
              </a:spcBef>
              <a:buFont typeface="Arial" panose="020B0604020202020204" pitchFamily="34" charset="0"/>
              <a:buNone/>
            </a:pPr>
            <a:r>
              <a:rPr lang="en-US" sz="1200" dirty="0">
                <a:solidFill>
                  <a:srgbClr val="000000"/>
                </a:solidFill>
                <a:latin typeface="Aptos" panose="020B0004020202020204" pitchFamily="34" charset="0"/>
                <a:ea typeface="Times New Roman" panose="02020603050405020304" pitchFamily="18" charset="0"/>
              </a:rPr>
              <a:t>ARM_MOVE_CART_LINEAR TIP_INT 0 0 0.02 0 0 0 ARM_TARGET ABS 0 REL GUARDED 1.0 #Move into </a:t>
            </a:r>
            <a:r>
              <a:rPr lang="en-US" sz="1200" dirty="0" err="1">
                <a:solidFill>
                  <a:srgbClr val="000000"/>
                </a:solidFill>
                <a:latin typeface="Aptos" panose="020B0004020202020204" pitchFamily="34" charset="0"/>
                <a:ea typeface="Times New Roman" panose="02020603050405020304" pitchFamily="18" charset="0"/>
              </a:rPr>
              <a:t>intial</a:t>
            </a:r>
            <a:r>
              <a:rPr lang="en-US" sz="1200" dirty="0">
                <a:solidFill>
                  <a:srgbClr val="000000"/>
                </a:solidFill>
                <a:latin typeface="Aptos" panose="020B0004020202020204" pitchFamily="34" charset="0"/>
                <a:ea typeface="Times New Roman" panose="02020603050405020304" pitchFamily="18" charset="0"/>
              </a:rPr>
              <a:t> contact.</a:t>
            </a:r>
            <a:endParaRPr lang="en-US" sz="1200" dirty="0">
              <a:latin typeface="Calibri" panose="020F0502020204030204" pitchFamily="34" charset="0"/>
              <a:ea typeface="Calibri" panose="020F0502020204030204" pitchFamily="34" charset="0"/>
            </a:endParaRPr>
          </a:p>
          <a:p>
            <a:pPr marL="0" indent="0">
              <a:spcBef>
                <a:spcPts val="0"/>
              </a:spcBef>
              <a:buFont typeface="Arial" panose="020B0604020202020204" pitchFamily="34" charset="0"/>
              <a:buNone/>
            </a:pPr>
            <a:r>
              <a:rPr lang="en-US" sz="1200" dirty="0">
                <a:solidFill>
                  <a:srgbClr val="000000"/>
                </a:solidFill>
                <a:latin typeface="Aptos" panose="020B0004020202020204" pitchFamily="34" charset="0"/>
                <a:ea typeface="Times New Roman" panose="02020603050405020304" pitchFamily="18" charset="0"/>
              </a:rPr>
              <a:t>SEQ_IF FORCE_XYZ GT 4 #Check if we've made contact.  If not this is a hole-in-one!</a:t>
            </a:r>
            <a:endParaRPr lang="en-US" sz="1200" dirty="0">
              <a:latin typeface="Calibri" panose="020F0502020204030204" pitchFamily="34" charset="0"/>
              <a:ea typeface="Calibri" panose="020F0502020204030204" pitchFamily="34" charset="0"/>
            </a:endParaRPr>
          </a:p>
          <a:p>
            <a:pPr marL="0" indent="0">
              <a:spcBef>
                <a:spcPts val="0"/>
              </a:spcBef>
              <a:buFont typeface="Arial" panose="020B0604020202020204" pitchFamily="34" charset="0"/>
              <a:buNone/>
            </a:pPr>
            <a:r>
              <a:rPr lang="en-US" sz="1200" dirty="0">
                <a:solidFill>
                  <a:srgbClr val="000000"/>
                </a:solidFill>
                <a:latin typeface="Aptos" panose="020B0004020202020204" pitchFamily="34" charset="0"/>
                <a:ea typeface="Times New Roman" panose="02020603050405020304" pitchFamily="18" charset="0"/>
              </a:rPr>
              <a:t>  SEQ_IF FORCE_XY LT 2 #See the side loads are sufficient.  If not then assume we missed the chamfer.</a:t>
            </a:r>
            <a:endParaRPr lang="en-US" sz="1200" dirty="0">
              <a:latin typeface="Calibri" panose="020F0502020204030204" pitchFamily="34" charset="0"/>
              <a:ea typeface="Calibri" panose="020F0502020204030204" pitchFamily="34" charset="0"/>
            </a:endParaRPr>
          </a:p>
          <a:p>
            <a:pPr marL="0" indent="0">
              <a:spcBef>
                <a:spcPts val="0"/>
              </a:spcBef>
              <a:buFont typeface="Arial" panose="020B0604020202020204" pitchFamily="34" charset="0"/>
              <a:buNone/>
            </a:pPr>
            <a:r>
              <a:rPr lang="en-US" sz="1200" dirty="0">
                <a:solidFill>
                  <a:srgbClr val="000000"/>
                </a:solidFill>
                <a:latin typeface="Aptos" panose="020B0004020202020204" pitchFamily="34" charset="0"/>
                <a:ea typeface="Times New Roman" panose="02020603050405020304" pitchFamily="18" charset="0"/>
              </a:rPr>
              <a:t>    ARM_MOVE_CART_LINEAR TIP_INT 0 0 -0.1 0 0 0 ARM_TARGET ABS 0 REL RETRACTING 1.0 #Backoff into free space</a:t>
            </a:r>
            <a:endParaRPr lang="en-US" sz="1200" dirty="0">
              <a:latin typeface="Calibri" panose="020F0502020204030204" pitchFamily="34" charset="0"/>
              <a:ea typeface="Calibri" panose="020F0502020204030204" pitchFamily="34" charset="0"/>
            </a:endParaRPr>
          </a:p>
          <a:p>
            <a:pPr marL="0" indent="0">
              <a:spcBef>
                <a:spcPts val="0"/>
              </a:spcBef>
              <a:buFont typeface="Arial" panose="020B0604020202020204" pitchFamily="34" charset="0"/>
              <a:buNone/>
            </a:pPr>
            <a:r>
              <a:rPr lang="en-US" sz="1200" dirty="0">
                <a:solidFill>
                  <a:srgbClr val="000000"/>
                </a:solidFill>
                <a:latin typeface="Aptos" panose="020B0004020202020204" pitchFamily="34" charset="0"/>
                <a:ea typeface="Times New Roman" panose="02020603050405020304" pitchFamily="18" charset="0"/>
              </a:rPr>
              <a:t>    ACM_PRECLUDE_ACTIVITY PRECLUDE ARM TRUE</a:t>
            </a:r>
            <a:endParaRPr lang="en-US" sz="1200" dirty="0">
              <a:latin typeface="Calibri" panose="020F0502020204030204" pitchFamily="34" charset="0"/>
              <a:ea typeface="Calibri" panose="020F0502020204030204" pitchFamily="34" charset="0"/>
            </a:endParaRPr>
          </a:p>
          <a:p>
            <a:pPr marL="0" indent="0">
              <a:spcBef>
                <a:spcPts val="0"/>
              </a:spcBef>
              <a:buFont typeface="Arial" panose="020B0604020202020204" pitchFamily="34" charset="0"/>
              <a:buNone/>
            </a:pPr>
            <a:r>
              <a:rPr lang="en-US" sz="1200" dirty="0">
                <a:solidFill>
                  <a:srgbClr val="000000"/>
                </a:solidFill>
                <a:latin typeface="Aptos" panose="020B0004020202020204" pitchFamily="34" charset="0"/>
                <a:ea typeface="Times New Roman" panose="02020603050405020304" pitchFamily="18" charset="0"/>
              </a:rPr>
              <a:t>  SEQ_ENDIF</a:t>
            </a:r>
            <a:endParaRPr lang="en-US" sz="1200" dirty="0">
              <a:latin typeface="Calibri" panose="020F0502020204030204" pitchFamily="34" charset="0"/>
              <a:ea typeface="Calibri" panose="020F0502020204030204" pitchFamily="34" charset="0"/>
            </a:endParaRPr>
          </a:p>
          <a:p>
            <a:pPr marL="0" indent="0">
              <a:spcBef>
                <a:spcPts val="0"/>
              </a:spcBef>
              <a:buFont typeface="Arial" panose="020B0604020202020204" pitchFamily="34" charset="0"/>
              <a:buNone/>
            </a:pPr>
            <a:r>
              <a:rPr lang="en-US" sz="1200" dirty="0">
                <a:solidFill>
                  <a:srgbClr val="000000"/>
                </a:solidFill>
                <a:latin typeface="Aptos" panose="020B0004020202020204" pitchFamily="34" charset="0"/>
                <a:ea typeface="Times New Roman" panose="02020603050405020304" pitchFamily="18" charset="0"/>
              </a:rPr>
              <a:t> </a:t>
            </a:r>
            <a:endParaRPr lang="en-US" sz="1200" dirty="0">
              <a:latin typeface="Calibri" panose="020F0502020204030204" pitchFamily="34" charset="0"/>
              <a:ea typeface="Calibri" panose="020F0502020204030204" pitchFamily="34" charset="0"/>
            </a:endParaRPr>
          </a:p>
          <a:p>
            <a:pPr marL="0" indent="0">
              <a:spcBef>
                <a:spcPts val="0"/>
              </a:spcBef>
              <a:buFont typeface="Arial" panose="020B0604020202020204" pitchFamily="34" charset="0"/>
              <a:buNone/>
            </a:pPr>
            <a:r>
              <a:rPr lang="en-US" sz="1200" dirty="0">
                <a:solidFill>
                  <a:srgbClr val="000000"/>
                </a:solidFill>
                <a:latin typeface="Aptos" panose="020B0004020202020204" pitchFamily="34" charset="0"/>
                <a:ea typeface="Times New Roman" panose="02020603050405020304" pitchFamily="18" charset="0"/>
              </a:rPr>
              <a:t>  ARM_SET_TARGET_FORCE_MEAS 0 0 0 0 0 0 TIP_INT ABS_POS_ONLY #Set the position of the arm target to the tube tip, accounting for deflections induced by external loading.  Don't change the orientation of the original vision localized target.</a:t>
            </a:r>
            <a:endParaRPr lang="en-US" sz="1200" dirty="0">
              <a:latin typeface="Calibri" panose="020F0502020204030204" pitchFamily="34" charset="0"/>
              <a:ea typeface="Calibri" panose="020F0502020204030204" pitchFamily="34" charset="0"/>
            </a:endParaRPr>
          </a:p>
          <a:p>
            <a:pPr marL="0" indent="0">
              <a:spcBef>
                <a:spcPts val="0"/>
              </a:spcBef>
              <a:buFont typeface="Arial" panose="020B0604020202020204" pitchFamily="34" charset="0"/>
              <a:buNone/>
            </a:pPr>
            <a:r>
              <a:rPr lang="en-US" sz="1200" dirty="0">
                <a:solidFill>
                  <a:srgbClr val="000000"/>
                </a:solidFill>
                <a:latin typeface="Aptos" panose="020B0004020202020204" pitchFamily="34" charset="0"/>
                <a:ea typeface="Times New Roman" panose="02020603050405020304" pitchFamily="18" charset="0"/>
              </a:rPr>
              <a:t>  ARM_ALIGN_TARGET_WITH_FORCE XY #Rotate about the target frame Z axis until the X axis aligned with the projection of the force vector onto the target frame XY plane.</a:t>
            </a:r>
            <a:endParaRPr lang="en-US" sz="1200" dirty="0">
              <a:latin typeface="Calibri" panose="020F0502020204030204" pitchFamily="34" charset="0"/>
              <a:ea typeface="Calibri" panose="020F0502020204030204" pitchFamily="34" charset="0"/>
            </a:endParaRPr>
          </a:p>
          <a:p>
            <a:pPr marL="0" indent="0">
              <a:spcBef>
                <a:spcPts val="0"/>
              </a:spcBef>
              <a:buFont typeface="Arial" panose="020B0604020202020204" pitchFamily="34" charset="0"/>
              <a:buNone/>
            </a:pPr>
            <a:r>
              <a:rPr lang="en-US" sz="1200" dirty="0">
                <a:solidFill>
                  <a:srgbClr val="000000"/>
                </a:solidFill>
                <a:latin typeface="Aptos" panose="020B0004020202020204" pitchFamily="34" charset="0"/>
                <a:ea typeface="Times New Roman" panose="02020603050405020304" pitchFamily="18" charset="0"/>
              </a:rPr>
              <a:t> </a:t>
            </a:r>
            <a:endParaRPr lang="en-US" sz="1200" dirty="0">
              <a:latin typeface="Calibri" panose="020F0502020204030204" pitchFamily="34" charset="0"/>
              <a:ea typeface="Calibri" panose="020F0502020204030204" pitchFamily="34" charset="0"/>
            </a:endParaRPr>
          </a:p>
          <a:p>
            <a:pPr marL="0" indent="0">
              <a:spcBef>
                <a:spcPts val="0"/>
              </a:spcBef>
              <a:buFont typeface="Arial" panose="020B0604020202020204" pitchFamily="34" charset="0"/>
              <a:buNone/>
            </a:pPr>
            <a:r>
              <a:rPr lang="en-US" sz="1200" dirty="0">
                <a:solidFill>
                  <a:srgbClr val="000000"/>
                </a:solidFill>
                <a:latin typeface="Aptos" panose="020B0004020202020204" pitchFamily="34" charset="0"/>
                <a:ea typeface="Times New Roman" panose="02020603050405020304" pitchFamily="18" charset="0"/>
              </a:rPr>
              <a:t>  ARM_MOVE_CART_LINEAR TIP_INT 0.03 0 0 0 0 0 ARM_TARGET ABS 0 REL CONTACT 1.0 #Move laterally in the direction of the external load to find the opposite side of the chamfer.</a:t>
            </a:r>
            <a:endParaRPr lang="en-US" sz="1200" dirty="0">
              <a:latin typeface="Calibri" panose="020F0502020204030204" pitchFamily="34" charset="0"/>
              <a:ea typeface="Calibri" panose="020F0502020204030204" pitchFamily="34" charset="0"/>
            </a:endParaRPr>
          </a:p>
          <a:p>
            <a:pPr marL="0" indent="0">
              <a:spcBef>
                <a:spcPts val="0"/>
              </a:spcBef>
              <a:buFont typeface="Arial" panose="020B0604020202020204" pitchFamily="34" charset="0"/>
              <a:buNone/>
            </a:pPr>
            <a:r>
              <a:rPr lang="en-US" sz="1200" dirty="0">
                <a:solidFill>
                  <a:srgbClr val="000000"/>
                </a:solidFill>
                <a:latin typeface="Aptos" panose="020B0004020202020204" pitchFamily="34" charset="0"/>
                <a:ea typeface="Times New Roman" panose="02020603050405020304" pitchFamily="18" charset="0"/>
              </a:rPr>
              <a:t>  ARM_SET_TARGET_FORCE_MEAS 0 0 0 0 0 0 TIP_INT AVE_POS_ONLY #Average the position of the existing arm target with the current tube tip position to estimate the center of the chamfer.</a:t>
            </a:r>
            <a:endParaRPr lang="en-US" sz="1200" dirty="0">
              <a:latin typeface="Calibri" panose="020F0502020204030204" pitchFamily="34" charset="0"/>
              <a:ea typeface="Calibri" panose="020F0502020204030204" pitchFamily="34" charset="0"/>
            </a:endParaRPr>
          </a:p>
          <a:p>
            <a:pPr marL="0" indent="0">
              <a:spcBef>
                <a:spcPts val="0"/>
              </a:spcBef>
              <a:buFont typeface="Arial" panose="020B0604020202020204" pitchFamily="34" charset="0"/>
              <a:buNone/>
            </a:pPr>
            <a:r>
              <a:rPr lang="en-US" sz="1200" dirty="0">
                <a:solidFill>
                  <a:srgbClr val="000000"/>
                </a:solidFill>
                <a:latin typeface="Aptos" panose="020B0004020202020204" pitchFamily="34" charset="0"/>
                <a:ea typeface="Times New Roman" panose="02020603050405020304" pitchFamily="18" charset="0"/>
              </a:rPr>
              <a:t>SEQ_ENDIF</a:t>
            </a:r>
            <a:endParaRPr lang="en-US" sz="1200" dirty="0">
              <a:latin typeface="Calibri" panose="020F0502020204030204" pitchFamily="34" charset="0"/>
              <a:ea typeface="Calibri" panose="020F0502020204030204" pitchFamily="34" charset="0"/>
            </a:endParaRPr>
          </a:p>
          <a:p>
            <a:pPr marL="0" indent="0">
              <a:spcBef>
                <a:spcPts val="0"/>
              </a:spcBef>
              <a:buFont typeface="Arial" panose="020B0604020202020204" pitchFamily="34" charset="0"/>
              <a:buNone/>
            </a:pPr>
            <a:r>
              <a:rPr lang="en-US" sz="1200" dirty="0">
                <a:solidFill>
                  <a:srgbClr val="000000"/>
                </a:solidFill>
                <a:latin typeface="Aptos" panose="020B0004020202020204" pitchFamily="34" charset="0"/>
                <a:ea typeface="Times New Roman" panose="02020603050405020304" pitchFamily="18" charset="0"/>
              </a:rPr>
              <a:t> </a:t>
            </a:r>
            <a:endParaRPr lang="en-US" sz="1200" dirty="0">
              <a:latin typeface="Calibri" panose="020F0502020204030204" pitchFamily="34" charset="0"/>
              <a:ea typeface="Calibri" panose="020F0502020204030204" pitchFamily="34" charset="0"/>
            </a:endParaRPr>
          </a:p>
          <a:p>
            <a:pPr marL="0" indent="0">
              <a:spcBef>
                <a:spcPts val="0"/>
              </a:spcBef>
              <a:buFont typeface="Arial" panose="020B0604020202020204" pitchFamily="34" charset="0"/>
              <a:buNone/>
            </a:pPr>
            <a:r>
              <a:rPr lang="en-US" sz="1200" dirty="0">
                <a:solidFill>
                  <a:srgbClr val="000000"/>
                </a:solidFill>
                <a:latin typeface="Aptos" panose="020B0004020202020204" pitchFamily="34" charset="0"/>
                <a:ea typeface="Times New Roman" panose="02020603050405020304" pitchFamily="18" charset="0"/>
              </a:rPr>
              <a:t>#Backoff into free space</a:t>
            </a:r>
            <a:endParaRPr lang="en-US" sz="1200" dirty="0">
              <a:latin typeface="Calibri" panose="020F0502020204030204" pitchFamily="34" charset="0"/>
              <a:ea typeface="Calibri" panose="020F0502020204030204" pitchFamily="34" charset="0"/>
            </a:endParaRPr>
          </a:p>
          <a:p>
            <a:pPr marL="0" indent="0">
              <a:spcBef>
                <a:spcPts val="0"/>
              </a:spcBef>
              <a:buFont typeface="Arial" panose="020B0604020202020204" pitchFamily="34" charset="0"/>
              <a:buNone/>
            </a:pPr>
            <a:r>
              <a:rPr lang="en-US" sz="1200" dirty="0">
                <a:solidFill>
                  <a:srgbClr val="000000"/>
                </a:solidFill>
                <a:latin typeface="Aptos" panose="020B0004020202020204" pitchFamily="34" charset="0"/>
                <a:ea typeface="Times New Roman" panose="02020603050405020304" pitchFamily="18" charset="0"/>
              </a:rPr>
              <a:t>ARM_MOVE_CART_LINEAR TIP_INT 0 0 -0.02 0 0 0  ABS 0 CONTROL_FRAME RETRACTING 1.0</a:t>
            </a:r>
            <a:endParaRPr lang="en-US" sz="1200" dirty="0">
              <a:latin typeface="Calibri" panose="020F0502020204030204" pitchFamily="34" charset="0"/>
              <a:ea typeface="Calibri" panose="020F0502020204030204" pitchFamily="34" charset="0"/>
            </a:endParaRPr>
          </a:p>
          <a:p>
            <a:pPr marL="0" indent="0">
              <a:spcBef>
                <a:spcPts val="0"/>
              </a:spcBef>
              <a:buFont typeface="Arial" panose="020B0604020202020204" pitchFamily="34" charset="0"/>
              <a:buNone/>
            </a:pPr>
            <a:r>
              <a:rPr lang="en-US" sz="1200" dirty="0">
                <a:solidFill>
                  <a:srgbClr val="000000"/>
                </a:solidFill>
                <a:latin typeface="Aptos" panose="020B0004020202020204" pitchFamily="34" charset="0"/>
                <a:ea typeface="Times New Roman" panose="02020603050405020304" pitchFamily="18" charset="0"/>
              </a:rPr>
              <a:t>#Line up with the new estimate of the chamfer center</a:t>
            </a:r>
            <a:endParaRPr lang="en-US" sz="1200" dirty="0">
              <a:latin typeface="Calibri" panose="020F0502020204030204" pitchFamily="34" charset="0"/>
              <a:ea typeface="Calibri" panose="020F0502020204030204" pitchFamily="34" charset="0"/>
            </a:endParaRPr>
          </a:p>
          <a:p>
            <a:pPr marL="0" indent="0">
              <a:spcBef>
                <a:spcPts val="0"/>
              </a:spcBef>
              <a:buFont typeface="Arial" panose="020B0604020202020204" pitchFamily="34" charset="0"/>
              <a:buNone/>
            </a:pPr>
            <a:r>
              <a:rPr lang="en-US" sz="1200" dirty="0">
                <a:solidFill>
                  <a:srgbClr val="000000"/>
                </a:solidFill>
                <a:latin typeface="Aptos" panose="020B0004020202020204" pitchFamily="34" charset="0"/>
                <a:ea typeface="Times New Roman" panose="02020603050405020304" pitchFamily="18" charset="0"/>
              </a:rPr>
              <a:t>ARM_MOVE_CART_LINEAR TIP_INT 0 0 -0.1 0 0 0 ARM_TARGET ABS 0 REL FREE_SPACE 1.0 #Backoff into free space</a:t>
            </a:r>
            <a:endParaRPr lang="en-US" sz="1200" dirty="0">
              <a:latin typeface="Calibri" panose="020F0502020204030204" pitchFamily="34" charset="0"/>
              <a:ea typeface="Calibri" panose="020F0502020204030204" pitchFamily="34" charset="0"/>
            </a:endParaRPr>
          </a:p>
          <a:p>
            <a:pPr marL="0" indent="0">
              <a:spcBef>
                <a:spcPts val="0"/>
              </a:spcBef>
              <a:buFont typeface="Arial" panose="020B0604020202020204" pitchFamily="34" charset="0"/>
              <a:buNone/>
            </a:pPr>
            <a:r>
              <a:rPr lang="en-US" sz="1200" dirty="0">
                <a:solidFill>
                  <a:srgbClr val="000000"/>
                </a:solidFill>
                <a:latin typeface="Aptos" panose="020B0004020202020204" pitchFamily="34" charset="0"/>
                <a:ea typeface="Times New Roman" panose="02020603050405020304" pitchFamily="18" charset="0"/>
              </a:rPr>
              <a:t> </a:t>
            </a:r>
            <a:endParaRPr lang="en-US" sz="1200" dirty="0">
              <a:latin typeface="Calibri" panose="020F0502020204030204" pitchFamily="34" charset="0"/>
              <a:ea typeface="Calibri" panose="020F0502020204030204" pitchFamily="34" charset="0"/>
            </a:endParaRPr>
          </a:p>
          <a:p>
            <a:pPr marL="0" indent="0">
              <a:spcBef>
                <a:spcPts val="0"/>
              </a:spcBef>
              <a:buFont typeface="Arial" panose="020B0604020202020204" pitchFamily="34" charset="0"/>
              <a:buNone/>
            </a:pPr>
            <a:r>
              <a:rPr lang="en-US" sz="1200" dirty="0">
                <a:solidFill>
                  <a:srgbClr val="000000"/>
                </a:solidFill>
                <a:latin typeface="Aptos" panose="020B0004020202020204" pitchFamily="34" charset="0"/>
                <a:ea typeface="Times New Roman" panose="02020603050405020304" pitchFamily="18" charset="0"/>
              </a:rPr>
              <a:t>ARM_TARE_WRENCH</a:t>
            </a:r>
            <a:endParaRPr lang="en-US" sz="1200" dirty="0">
              <a:latin typeface="Calibri" panose="020F0502020204030204" pitchFamily="34" charset="0"/>
              <a:ea typeface="Calibri" panose="020F0502020204030204" pitchFamily="34" charset="0"/>
            </a:endParaRPr>
          </a:p>
          <a:p>
            <a:pPr marL="0" indent="0">
              <a:spcBef>
                <a:spcPts val="0"/>
              </a:spcBef>
              <a:buFont typeface="Arial" panose="020B0604020202020204" pitchFamily="34" charset="0"/>
              <a:buNone/>
            </a:pPr>
            <a:r>
              <a:rPr lang="en-US" sz="1200" dirty="0">
                <a:solidFill>
                  <a:srgbClr val="000000"/>
                </a:solidFill>
                <a:latin typeface="Aptos" panose="020B0004020202020204" pitchFamily="34" charset="0"/>
                <a:ea typeface="Times New Roman" panose="02020603050405020304" pitchFamily="18" charset="0"/>
              </a:rPr>
              <a:t>ARM_ACTIVE_COMPLIANCE...</a:t>
            </a:r>
            <a:endParaRPr lang="en-US" sz="1200" dirty="0">
              <a:latin typeface="Calibri" panose="020F0502020204030204" pitchFamily="34" charset="0"/>
              <a:ea typeface="Calibri" panose="020F0502020204030204" pitchFamily="34" charset="0"/>
            </a:endParaRPr>
          </a:p>
          <a:p>
            <a:pPr marL="0" indent="0">
              <a:buFont typeface="Arial" panose="020B0604020202020204" pitchFamily="34" charset="0"/>
              <a:buNone/>
            </a:pPr>
            <a:endParaRPr lang="en-US" sz="1200" dirty="0"/>
          </a:p>
        </p:txBody>
      </p:sp>
    </p:spTree>
    <p:extLst>
      <p:ext uri="{BB962C8B-B14F-4D97-AF65-F5344CB8AC3E}">
        <p14:creationId xmlns:p14="http://schemas.microsoft.com/office/powerpoint/2010/main" val="30978702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D435DBD-C5CE-1115-64D4-91035B3CFBDA}"/>
              </a:ext>
            </a:extLst>
          </p:cNvPr>
          <p:cNvSpPr>
            <a:spLocks noGrp="1"/>
          </p:cNvSpPr>
          <p:nvPr>
            <p:ph type="title"/>
          </p:nvPr>
        </p:nvSpPr>
        <p:spPr/>
        <p:txBody>
          <a:bodyPr/>
          <a:lstStyle/>
          <a:p>
            <a:r>
              <a:rPr lang="en-US" dirty="0"/>
              <a:t>Joel Shields Actuator Model</a:t>
            </a:r>
          </a:p>
        </p:txBody>
      </p:sp>
      <p:sp>
        <p:nvSpPr>
          <p:cNvPr id="4" name="Date Placeholder 3">
            <a:extLst>
              <a:ext uri="{FF2B5EF4-FFF2-40B4-BE49-F238E27FC236}">
                <a16:creationId xmlns:a16="http://schemas.microsoft.com/office/drawing/2014/main" id="{78D3CA87-D21D-D998-2B85-37D33F4BA0E7}"/>
              </a:ext>
            </a:extLst>
          </p:cNvPr>
          <p:cNvSpPr>
            <a:spLocks noGrp="1"/>
          </p:cNvSpPr>
          <p:nvPr>
            <p:ph type="dt" sz="half" idx="18"/>
          </p:nvPr>
        </p:nvSpPr>
        <p:spPr/>
        <p:txBody>
          <a:bodyPr/>
          <a:lstStyle/>
          <a:p>
            <a:r>
              <a:rPr lang="en-US"/>
              <a:t>DD/MM/YYYY</a:t>
            </a:r>
          </a:p>
        </p:txBody>
      </p:sp>
      <p:sp>
        <p:nvSpPr>
          <p:cNvPr id="5" name="Footer Placeholder 4">
            <a:extLst>
              <a:ext uri="{FF2B5EF4-FFF2-40B4-BE49-F238E27FC236}">
                <a16:creationId xmlns:a16="http://schemas.microsoft.com/office/drawing/2014/main" id="{DF3CC5F6-7D72-1825-92A8-C6FE83FE11B0}"/>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6" name="Slide Number Placeholder 5">
            <a:extLst>
              <a:ext uri="{FF2B5EF4-FFF2-40B4-BE49-F238E27FC236}">
                <a16:creationId xmlns:a16="http://schemas.microsoft.com/office/drawing/2014/main" id="{02EA9594-5046-4164-26ED-413B32587259}"/>
              </a:ext>
            </a:extLst>
          </p:cNvPr>
          <p:cNvSpPr>
            <a:spLocks noGrp="1"/>
          </p:cNvSpPr>
          <p:nvPr>
            <p:ph type="sldNum" sz="quarter" idx="20"/>
          </p:nvPr>
        </p:nvSpPr>
        <p:spPr/>
        <p:txBody>
          <a:bodyPr/>
          <a:lstStyle/>
          <a:p>
            <a:fld id="{2D04F4CF-F641-6E4E-8F87-8EB8AA2BFA51}" type="slidenum">
              <a:rPr lang="en-US" smtClean="0"/>
              <a:pPr/>
              <a:t>15</a:t>
            </a:fld>
            <a:endParaRPr lang="en-US"/>
          </a:p>
        </p:txBody>
      </p:sp>
      <p:pic>
        <p:nvPicPr>
          <p:cNvPr id="14" name="Picture 13">
            <a:extLst>
              <a:ext uri="{FF2B5EF4-FFF2-40B4-BE49-F238E27FC236}">
                <a16:creationId xmlns:a16="http://schemas.microsoft.com/office/drawing/2014/main" id="{2E38CE1A-0559-0D2F-2DEC-8E40152962EA}"/>
              </a:ext>
            </a:extLst>
          </p:cNvPr>
          <p:cNvPicPr>
            <a:picLocks noChangeAspect="1"/>
          </p:cNvPicPr>
          <p:nvPr/>
        </p:nvPicPr>
        <p:blipFill>
          <a:blip r:embed="rId2"/>
          <a:stretch>
            <a:fillRect/>
          </a:stretch>
        </p:blipFill>
        <p:spPr>
          <a:xfrm>
            <a:off x="460721" y="3449795"/>
            <a:ext cx="4060595" cy="977037"/>
          </a:xfrm>
          <a:prstGeom prst="rect">
            <a:avLst/>
          </a:prstGeom>
        </p:spPr>
      </p:pic>
      <p:pic>
        <p:nvPicPr>
          <p:cNvPr id="7" name="Picture 1" descr="Chart&#10;&#10;Description automatically generated">
            <a:extLst>
              <a:ext uri="{FF2B5EF4-FFF2-40B4-BE49-F238E27FC236}">
                <a16:creationId xmlns:a16="http://schemas.microsoft.com/office/drawing/2014/main" id="{64E99B79-46D2-E331-B9AB-9B0F0079F1F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990" t="15885" r="10393" b="8509"/>
          <a:stretch/>
        </p:blipFill>
        <p:spPr bwMode="auto">
          <a:xfrm>
            <a:off x="5136906" y="870711"/>
            <a:ext cx="6915709" cy="5622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 Placeholder 1">
            <a:extLst>
              <a:ext uri="{FF2B5EF4-FFF2-40B4-BE49-F238E27FC236}">
                <a16:creationId xmlns:a16="http://schemas.microsoft.com/office/drawing/2014/main" id="{17B3BB3C-7495-E40B-CE1A-C5A2B7499119}"/>
              </a:ext>
            </a:extLst>
          </p:cNvPr>
          <p:cNvSpPr txBox="1">
            <a:spLocks/>
          </p:cNvSpPr>
          <p:nvPr/>
        </p:nvSpPr>
        <p:spPr>
          <a:xfrm>
            <a:off x="276222" y="4850779"/>
            <a:ext cx="4429591" cy="172407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b="0" i="0" kern="1200">
                <a:solidFill>
                  <a:schemeClr val="tx1"/>
                </a:solidFill>
                <a:latin typeface="+mn-lt"/>
                <a:ea typeface="Helvetica Neue Thin" panose="020B0403020202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Helvetica Neue Thin" panose="020B0403020202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Helvetica Neue Thin" panose="020B0403020202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Helvetica Neue Thin" panose="020B0403020202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Helvetica Neue Thin" panose="020B0403020202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Both bandwidth and phase margin match within 10% across the 3 motor families.</a:t>
            </a:r>
          </a:p>
        </p:txBody>
      </p:sp>
      <p:sp>
        <p:nvSpPr>
          <p:cNvPr id="16" name="TextBox 15">
            <a:extLst>
              <a:ext uri="{FF2B5EF4-FFF2-40B4-BE49-F238E27FC236}">
                <a16:creationId xmlns:a16="http://schemas.microsoft.com/office/drawing/2014/main" id="{DAB8C455-97DE-7D05-81B1-69AA327BDF3F}"/>
              </a:ext>
            </a:extLst>
          </p:cNvPr>
          <p:cNvSpPr txBox="1"/>
          <p:nvPr/>
        </p:nvSpPr>
        <p:spPr>
          <a:xfrm>
            <a:off x="7304049" y="3568981"/>
            <a:ext cx="2955073" cy="369332"/>
          </a:xfrm>
          <a:prstGeom prst="rect">
            <a:avLst/>
          </a:prstGeom>
          <a:solidFill>
            <a:schemeClr val="bg1"/>
          </a:solidFill>
        </p:spPr>
        <p:txBody>
          <a:bodyPr wrap="square" rtlCol="0">
            <a:spAutoFit/>
          </a:bodyPr>
          <a:lstStyle/>
          <a:p>
            <a:pPr algn="ctr"/>
            <a:r>
              <a:rPr lang="en-US" dirty="0"/>
              <a:t>Motor Family 1 Response</a:t>
            </a:r>
          </a:p>
        </p:txBody>
      </p:sp>
      <p:sp>
        <p:nvSpPr>
          <p:cNvPr id="17" name="TextBox 16">
            <a:extLst>
              <a:ext uri="{FF2B5EF4-FFF2-40B4-BE49-F238E27FC236}">
                <a16:creationId xmlns:a16="http://schemas.microsoft.com/office/drawing/2014/main" id="{F5ED4055-DA2F-3AF6-EB65-BD583C703E10}"/>
              </a:ext>
            </a:extLst>
          </p:cNvPr>
          <p:cNvSpPr txBox="1"/>
          <p:nvPr/>
        </p:nvSpPr>
        <p:spPr>
          <a:xfrm>
            <a:off x="10259122" y="4426832"/>
            <a:ext cx="1560224" cy="923330"/>
          </a:xfrm>
          <a:prstGeom prst="rect">
            <a:avLst/>
          </a:prstGeom>
          <a:solidFill>
            <a:schemeClr val="bg1"/>
          </a:solidFill>
          <a:ln>
            <a:solidFill>
              <a:schemeClr val="accent1"/>
            </a:solidFill>
          </a:ln>
        </p:spPr>
        <p:txBody>
          <a:bodyPr wrap="square" rtlCol="0">
            <a:spAutoFit/>
          </a:bodyPr>
          <a:lstStyle/>
          <a:p>
            <a:pPr algn="ctr"/>
            <a:r>
              <a:rPr lang="en-US" dirty="0"/>
              <a:t>180-107 = 73 deg phase margin</a:t>
            </a:r>
          </a:p>
        </p:txBody>
      </p:sp>
      <p:sp>
        <p:nvSpPr>
          <p:cNvPr id="18" name="TextBox 17">
            <a:extLst>
              <a:ext uri="{FF2B5EF4-FFF2-40B4-BE49-F238E27FC236}">
                <a16:creationId xmlns:a16="http://schemas.microsoft.com/office/drawing/2014/main" id="{02689FE1-1784-CACF-7854-5BE5F744F5E8}"/>
              </a:ext>
            </a:extLst>
          </p:cNvPr>
          <p:cNvSpPr txBox="1"/>
          <p:nvPr/>
        </p:nvSpPr>
        <p:spPr>
          <a:xfrm>
            <a:off x="7619285" y="2337652"/>
            <a:ext cx="1560224" cy="646331"/>
          </a:xfrm>
          <a:prstGeom prst="rect">
            <a:avLst/>
          </a:prstGeom>
          <a:solidFill>
            <a:schemeClr val="bg1"/>
          </a:solidFill>
          <a:ln>
            <a:solidFill>
              <a:schemeClr val="accent1"/>
            </a:solidFill>
          </a:ln>
        </p:spPr>
        <p:txBody>
          <a:bodyPr wrap="square" rtlCol="0">
            <a:spAutoFit/>
          </a:bodyPr>
          <a:lstStyle/>
          <a:p>
            <a:pPr algn="ctr"/>
            <a:r>
              <a:rPr lang="en-US" dirty="0"/>
              <a:t>3.8689 rad/s = 24.03 Hz</a:t>
            </a:r>
          </a:p>
        </p:txBody>
      </p:sp>
      <p:sp>
        <p:nvSpPr>
          <p:cNvPr id="21" name="Text Placeholder 1">
            <a:extLst>
              <a:ext uri="{FF2B5EF4-FFF2-40B4-BE49-F238E27FC236}">
                <a16:creationId xmlns:a16="http://schemas.microsoft.com/office/drawing/2014/main" id="{D1A8F59D-2CC0-23A8-426D-4A4D32380CCA}"/>
              </a:ext>
            </a:extLst>
          </p:cNvPr>
          <p:cNvSpPr txBox="1">
            <a:spLocks/>
          </p:cNvSpPr>
          <p:nvPr/>
        </p:nvSpPr>
        <p:spPr>
          <a:xfrm>
            <a:off x="276222" y="1103488"/>
            <a:ext cx="4429591" cy="2346307"/>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000" b="0" i="0" kern="1200">
                <a:solidFill>
                  <a:schemeClr val="tx1"/>
                </a:solidFill>
                <a:latin typeface="+mn-lt"/>
                <a:ea typeface="Helvetica Neue Thin" panose="020B0403020202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Helvetica Neue Thin" panose="020B0403020202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Helvetica Neue Thin" panose="020B0403020202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Helvetica Neue Thin" panose="020B0403020202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Helvetica Neue Thin" panose="020B0403020202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t>JPL’s updated “actuator model” recently delivered by 3434 analyst.</a:t>
            </a:r>
          </a:p>
          <a:p>
            <a:pPr marL="0" indent="0">
              <a:buFont typeface="Arial" panose="020B0604020202020204" pitchFamily="34" charset="0"/>
              <a:buNone/>
            </a:pPr>
            <a:endParaRPr lang="en-US"/>
          </a:p>
          <a:p>
            <a:pPr marL="0" indent="0">
              <a:buFont typeface="Arial" panose="020B0604020202020204" pitchFamily="34" charset="0"/>
              <a:buNone/>
            </a:pPr>
            <a:r>
              <a:rPr lang="en-US"/>
              <a:t>Both Simulink and Transfer Function match the LDO quoted performance for same gain selection.</a:t>
            </a:r>
            <a:br>
              <a:rPr lang="en-US"/>
            </a:br>
            <a:br>
              <a:rPr lang="en-US"/>
            </a:br>
            <a:r>
              <a:rPr lang="en-US"/>
              <a:t>LDO velocity loop gains and stability:</a:t>
            </a:r>
            <a:endParaRPr lang="en-US" dirty="0"/>
          </a:p>
        </p:txBody>
      </p:sp>
    </p:spTree>
    <p:extLst>
      <p:ext uri="{BB962C8B-B14F-4D97-AF65-F5344CB8AC3E}">
        <p14:creationId xmlns:p14="http://schemas.microsoft.com/office/powerpoint/2010/main" val="680972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758E2DF-84A8-F0B1-6E68-5422A65BD2AE}"/>
              </a:ext>
            </a:extLst>
          </p:cNvPr>
          <p:cNvSpPr>
            <a:spLocks noGrp="1"/>
          </p:cNvSpPr>
          <p:nvPr>
            <p:ph type="body" sz="quarter" idx="17"/>
          </p:nvPr>
        </p:nvSpPr>
        <p:spPr>
          <a:xfrm>
            <a:off x="276223" y="1217533"/>
            <a:ext cx="11619213" cy="5253445"/>
          </a:xfrm>
        </p:spPr>
        <p:txBody>
          <a:bodyPr/>
          <a:lstStyle/>
          <a:p>
            <a:pPr marL="0" indent="0">
              <a:buNone/>
            </a:pPr>
            <a:r>
              <a:rPr lang="en-US" dirty="0"/>
              <a:t>Compares Simulink “linearized” block (left) with LTI Transfer Function (right)</a:t>
            </a:r>
          </a:p>
        </p:txBody>
      </p:sp>
      <p:sp>
        <p:nvSpPr>
          <p:cNvPr id="3" name="Title 2">
            <a:extLst>
              <a:ext uri="{FF2B5EF4-FFF2-40B4-BE49-F238E27FC236}">
                <a16:creationId xmlns:a16="http://schemas.microsoft.com/office/drawing/2014/main" id="{15A0498E-D36E-6DBA-3448-5668D8FB04BD}"/>
              </a:ext>
            </a:extLst>
          </p:cNvPr>
          <p:cNvSpPr>
            <a:spLocks noGrp="1"/>
          </p:cNvSpPr>
          <p:nvPr>
            <p:ph type="title"/>
          </p:nvPr>
        </p:nvSpPr>
        <p:spPr/>
        <p:txBody>
          <a:bodyPr/>
          <a:lstStyle/>
          <a:p>
            <a:r>
              <a:rPr lang="en-US" dirty="0"/>
              <a:t>Velocity Command Step Input</a:t>
            </a:r>
          </a:p>
        </p:txBody>
      </p:sp>
      <p:sp>
        <p:nvSpPr>
          <p:cNvPr id="4" name="Date Placeholder 3">
            <a:extLst>
              <a:ext uri="{FF2B5EF4-FFF2-40B4-BE49-F238E27FC236}">
                <a16:creationId xmlns:a16="http://schemas.microsoft.com/office/drawing/2014/main" id="{290784E4-9301-D628-4569-C0741D129FB4}"/>
              </a:ext>
            </a:extLst>
          </p:cNvPr>
          <p:cNvSpPr>
            <a:spLocks noGrp="1"/>
          </p:cNvSpPr>
          <p:nvPr>
            <p:ph type="dt" sz="half" idx="18"/>
          </p:nvPr>
        </p:nvSpPr>
        <p:spPr/>
        <p:txBody>
          <a:bodyPr/>
          <a:lstStyle/>
          <a:p>
            <a:r>
              <a:rPr lang="en-US"/>
              <a:t>DD/MM/YYYY</a:t>
            </a:r>
          </a:p>
        </p:txBody>
      </p:sp>
      <p:sp>
        <p:nvSpPr>
          <p:cNvPr id="5" name="Footer Placeholder 4">
            <a:extLst>
              <a:ext uri="{FF2B5EF4-FFF2-40B4-BE49-F238E27FC236}">
                <a16:creationId xmlns:a16="http://schemas.microsoft.com/office/drawing/2014/main" id="{9ED6142C-00BA-D2E5-0CFA-2F97D35E3049}"/>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6" name="Slide Number Placeholder 5">
            <a:extLst>
              <a:ext uri="{FF2B5EF4-FFF2-40B4-BE49-F238E27FC236}">
                <a16:creationId xmlns:a16="http://schemas.microsoft.com/office/drawing/2014/main" id="{44239092-D26F-C4FA-CF58-C19F041020E5}"/>
              </a:ext>
            </a:extLst>
          </p:cNvPr>
          <p:cNvSpPr>
            <a:spLocks noGrp="1"/>
          </p:cNvSpPr>
          <p:nvPr>
            <p:ph type="sldNum" sz="quarter" idx="20"/>
          </p:nvPr>
        </p:nvSpPr>
        <p:spPr/>
        <p:txBody>
          <a:bodyPr/>
          <a:lstStyle/>
          <a:p>
            <a:fld id="{2D04F4CF-F641-6E4E-8F87-8EB8AA2BFA51}" type="slidenum">
              <a:rPr lang="en-US" smtClean="0"/>
              <a:pPr/>
              <a:t>16</a:t>
            </a:fld>
            <a:endParaRPr lang="en-US"/>
          </a:p>
        </p:txBody>
      </p:sp>
      <p:pic>
        <p:nvPicPr>
          <p:cNvPr id="2051" name="Picture 2" descr="A screenshot of a computer&#10;&#10;Description automatically generated with medium confidence">
            <a:extLst>
              <a:ext uri="{FF2B5EF4-FFF2-40B4-BE49-F238E27FC236}">
                <a16:creationId xmlns:a16="http://schemas.microsoft.com/office/drawing/2014/main" id="{AD4C42A2-4426-21D9-7346-A45CE352E77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815" t="18903" r="6309" b="11841"/>
          <a:stretch/>
        </p:blipFill>
        <p:spPr bwMode="auto">
          <a:xfrm>
            <a:off x="200853" y="1997857"/>
            <a:ext cx="5749301" cy="4093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4" name="Picture 3" descr="Chart, line chart&#10;&#10;Description automatically generated">
            <a:extLst>
              <a:ext uri="{FF2B5EF4-FFF2-40B4-BE49-F238E27FC236}">
                <a16:creationId xmlns:a16="http://schemas.microsoft.com/office/drawing/2014/main" id="{AD50B9C1-0A7D-429E-7F37-072696A6F8C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1537" t="18720" r="8716" b="9037"/>
          <a:stretch/>
        </p:blipFill>
        <p:spPr bwMode="auto">
          <a:xfrm>
            <a:off x="6290266" y="1981389"/>
            <a:ext cx="5496573" cy="42628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0F605698-ADA1-AFFE-2D97-A7EF6A1EFD8F}"/>
              </a:ext>
            </a:extLst>
          </p:cNvPr>
          <p:cNvSpPr txBox="1"/>
          <p:nvPr/>
        </p:nvSpPr>
        <p:spPr>
          <a:xfrm>
            <a:off x="1191327" y="4464939"/>
            <a:ext cx="4299210" cy="923330"/>
          </a:xfrm>
          <a:prstGeom prst="rect">
            <a:avLst/>
          </a:prstGeom>
          <a:solidFill>
            <a:schemeClr val="bg1"/>
          </a:solidFill>
          <a:ln>
            <a:solidFill>
              <a:schemeClr val="accent1"/>
            </a:solidFill>
          </a:ln>
        </p:spPr>
        <p:txBody>
          <a:bodyPr wrap="square">
            <a:spAutoFit/>
          </a:bodyPr>
          <a:lstStyle/>
          <a:p>
            <a:pPr marL="0" indent="0">
              <a:buNone/>
            </a:pPr>
            <a:r>
              <a:rPr lang="en-US" dirty="0"/>
              <a:t>Note this is for stability margin calculation. Simulink non-linear elements turned on for budget analysis.</a:t>
            </a:r>
          </a:p>
        </p:txBody>
      </p:sp>
    </p:spTree>
    <p:extLst>
      <p:ext uri="{BB962C8B-B14F-4D97-AF65-F5344CB8AC3E}">
        <p14:creationId xmlns:p14="http://schemas.microsoft.com/office/powerpoint/2010/main" val="10474512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4" descr="Graphical user interface&#10;&#10;Description automatically generated">
            <a:extLst>
              <a:ext uri="{FF2B5EF4-FFF2-40B4-BE49-F238E27FC236}">
                <a16:creationId xmlns:a16="http://schemas.microsoft.com/office/drawing/2014/main" id="{175039F2-296D-C8A3-E466-3DA738B61CC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878" t="19032" r="6682" b="12254"/>
          <a:stretch/>
        </p:blipFill>
        <p:spPr bwMode="auto">
          <a:xfrm>
            <a:off x="173124" y="1987672"/>
            <a:ext cx="5755219" cy="403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 Placeholder 1">
            <a:extLst>
              <a:ext uri="{FF2B5EF4-FFF2-40B4-BE49-F238E27FC236}">
                <a16:creationId xmlns:a16="http://schemas.microsoft.com/office/drawing/2014/main" id="{A758E2DF-84A8-F0B1-6E68-5422A65BD2AE}"/>
              </a:ext>
            </a:extLst>
          </p:cNvPr>
          <p:cNvSpPr>
            <a:spLocks noGrp="1"/>
          </p:cNvSpPr>
          <p:nvPr>
            <p:ph type="body" sz="quarter" idx="17"/>
          </p:nvPr>
        </p:nvSpPr>
        <p:spPr>
          <a:xfrm>
            <a:off x="276223" y="1217533"/>
            <a:ext cx="11619213" cy="5253445"/>
          </a:xfrm>
        </p:spPr>
        <p:txBody>
          <a:bodyPr/>
          <a:lstStyle/>
          <a:p>
            <a:pPr marL="0" indent="0">
              <a:buNone/>
            </a:pPr>
            <a:r>
              <a:rPr lang="en-US" dirty="0"/>
              <a:t>Compares Simulink “linearized” block (left) with LTI Transfer Function (right)</a:t>
            </a:r>
          </a:p>
        </p:txBody>
      </p:sp>
      <p:sp>
        <p:nvSpPr>
          <p:cNvPr id="3" name="Title 2">
            <a:extLst>
              <a:ext uri="{FF2B5EF4-FFF2-40B4-BE49-F238E27FC236}">
                <a16:creationId xmlns:a16="http://schemas.microsoft.com/office/drawing/2014/main" id="{15A0498E-D36E-6DBA-3448-5668D8FB04BD}"/>
              </a:ext>
            </a:extLst>
          </p:cNvPr>
          <p:cNvSpPr>
            <a:spLocks noGrp="1"/>
          </p:cNvSpPr>
          <p:nvPr>
            <p:ph type="title"/>
          </p:nvPr>
        </p:nvSpPr>
        <p:spPr/>
        <p:txBody>
          <a:bodyPr/>
          <a:lstStyle/>
          <a:p>
            <a:r>
              <a:rPr lang="en-US" dirty="0"/>
              <a:t>Position Command Step Input</a:t>
            </a:r>
          </a:p>
        </p:txBody>
      </p:sp>
      <p:sp>
        <p:nvSpPr>
          <p:cNvPr id="4" name="Date Placeholder 3">
            <a:extLst>
              <a:ext uri="{FF2B5EF4-FFF2-40B4-BE49-F238E27FC236}">
                <a16:creationId xmlns:a16="http://schemas.microsoft.com/office/drawing/2014/main" id="{290784E4-9301-D628-4569-C0741D129FB4}"/>
              </a:ext>
            </a:extLst>
          </p:cNvPr>
          <p:cNvSpPr>
            <a:spLocks noGrp="1"/>
          </p:cNvSpPr>
          <p:nvPr>
            <p:ph type="dt" sz="half" idx="18"/>
          </p:nvPr>
        </p:nvSpPr>
        <p:spPr/>
        <p:txBody>
          <a:bodyPr/>
          <a:lstStyle/>
          <a:p>
            <a:r>
              <a:rPr lang="en-US"/>
              <a:t>DD/MM/YYYY</a:t>
            </a:r>
          </a:p>
        </p:txBody>
      </p:sp>
      <p:sp>
        <p:nvSpPr>
          <p:cNvPr id="5" name="Footer Placeholder 4">
            <a:extLst>
              <a:ext uri="{FF2B5EF4-FFF2-40B4-BE49-F238E27FC236}">
                <a16:creationId xmlns:a16="http://schemas.microsoft.com/office/drawing/2014/main" id="{9ED6142C-00BA-D2E5-0CFA-2F97D35E3049}"/>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6" name="Slide Number Placeholder 5">
            <a:extLst>
              <a:ext uri="{FF2B5EF4-FFF2-40B4-BE49-F238E27FC236}">
                <a16:creationId xmlns:a16="http://schemas.microsoft.com/office/drawing/2014/main" id="{44239092-D26F-C4FA-CF58-C19F041020E5}"/>
              </a:ext>
            </a:extLst>
          </p:cNvPr>
          <p:cNvSpPr>
            <a:spLocks noGrp="1"/>
          </p:cNvSpPr>
          <p:nvPr>
            <p:ph type="sldNum" sz="quarter" idx="20"/>
          </p:nvPr>
        </p:nvSpPr>
        <p:spPr/>
        <p:txBody>
          <a:bodyPr/>
          <a:lstStyle/>
          <a:p>
            <a:fld id="{2D04F4CF-F641-6E4E-8F87-8EB8AA2BFA51}" type="slidenum">
              <a:rPr lang="en-US" smtClean="0"/>
              <a:pPr/>
              <a:t>17</a:t>
            </a:fld>
            <a:endParaRPr lang="en-US"/>
          </a:p>
        </p:txBody>
      </p:sp>
      <p:sp>
        <p:nvSpPr>
          <p:cNvPr id="8" name="TextBox 7">
            <a:extLst>
              <a:ext uri="{FF2B5EF4-FFF2-40B4-BE49-F238E27FC236}">
                <a16:creationId xmlns:a16="http://schemas.microsoft.com/office/drawing/2014/main" id="{0F605698-ADA1-AFFE-2D97-A7EF6A1EFD8F}"/>
              </a:ext>
            </a:extLst>
          </p:cNvPr>
          <p:cNvSpPr txBox="1"/>
          <p:nvPr/>
        </p:nvSpPr>
        <p:spPr>
          <a:xfrm>
            <a:off x="1191327" y="4464939"/>
            <a:ext cx="4299210" cy="923330"/>
          </a:xfrm>
          <a:prstGeom prst="rect">
            <a:avLst/>
          </a:prstGeom>
          <a:solidFill>
            <a:schemeClr val="bg1"/>
          </a:solidFill>
          <a:ln>
            <a:solidFill>
              <a:schemeClr val="accent1"/>
            </a:solidFill>
          </a:ln>
        </p:spPr>
        <p:txBody>
          <a:bodyPr wrap="square">
            <a:spAutoFit/>
          </a:bodyPr>
          <a:lstStyle/>
          <a:p>
            <a:pPr marL="0" indent="0">
              <a:buNone/>
            </a:pPr>
            <a:r>
              <a:rPr lang="en-US" dirty="0"/>
              <a:t>Note this is for stability margin calculation. Simulink non-linear elements turned on for budget analysis.</a:t>
            </a:r>
          </a:p>
        </p:txBody>
      </p:sp>
      <p:pic>
        <p:nvPicPr>
          <p:cNvPr id="4099" name="Picture 5" descr="Chart, line chart&#10;&#10;Description automatically generated">
            <a:extLst>
              <a:ext uri="{FF2B5EF4-FFF2-40B4-BE49-F238E27FC236}">
                <a16:creationId xmlns:a16="http://schemas.microsoft.com/office/drawing/2014/main" id="{34B0CDF4-C660-54BD-7A44-45BF18BB27E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4172" t="19134" r="12842" b="12732"/>
          <a:stretch/>
        </p:blipFill>
        <p:spPr bwMode="auto">
          <a:xfrm>
            <a:off x="6138285" y="1938776"/>
            <a:ext cx="5180203" cy="4172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700738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 Placeholder 1">
                <a:extLst>
                  <a:ext uri="{FF2B5EF4-FFF2-40B4-BE49-F238E27FC236}">
                    <a16:creationId xmlns:a16="http://schemas.microsoft.com/office/drawing/2014/main" id="{9041D5FC-58D8-495D-B0BE-9BE07351E7DD}"/>
                  </a:ext>
                </a:extLst>
              </p:cNvPr>
              <p:cNvSpPr>
                <a:spLocks noGrp="1"/>
              </p:cNvSpPr>
              <p:nvPr>
                <p:ph type="body" sz="quarter" idx="17"/>
              </p:nvPr>
            </p:nvSpPr>
            <p:spPr/>
            <p:txBody>
              <a:bodyPr/>
              <a:lstStyle/>
              <a:p>
                <a:pPr marL="0" indent="0">
                  <a:buNone/>
                </a:pPr>
                <a:r>
                  <a:rPr lang="en-US" dirty="0"/>
                  <a:t>In order to determine the peak force or moment experienced by the kinematic control frame (</a:t>
                </a:r>
                <a:r>
                  <a:rPr lang="en-US" dirty="0" err="1"/>
                  <a:t>kcf</a:t>
                </a:r>
                <a:r>
                  <a:rPr lang="en-US" dirty="0"/>
                  <a:t>) during an active compliance insertion, we need two components:</a:t>
                </a:r>
              </a:p>
              <a:p>
                <a:pPr marL="457200" indent="-457200">
                  <a:buAutoNum type="arabicPeriod"/>
                </a:pPr>
                <a:r>
                  <a:rPr lang="en-US" dirty="0"/>
                  <a:t>The steady state “compliant” response that corresponds to an RCCM deflecting sideways</a:t>
                </a:r>
              </a:p>
              <a:p>
                <a:pPr marL="457200" indent="-457200">
                  <a:buAutoNum type="arabicPeriod"/>
                </a:pPr>
                <a:r>
                  <a:rPr lang="en-US" dirty="0"/>
                  <a:t>The transient “damping” response that represents the stabilizing terms of the control system slowing down the response</a:t>
                </a:r>
              </a:p>
              <a:p>
                <a:pPr marL="0" indent="0">
                  <a:buNone/>
                </a:pPr>
                <a:endParaRPr lang="en-US" dirty="0"/>
              </a:p>
              <a:p>
                <a:pPr marL="0" indent="0">
                  <a:buNone/>
                </a:pPr>
                <a:r>
                  <a:rPr lang="en-US" dirty="0"/>
                  <a:t>Summing these values gives us the peak magnitude.</a:t>
                </a:r>
              </a:p>
              <a:p>
                <a:pPr marL="0" indent="0">
                  <a:buNone/>
                </a:pPr>
                <a:endParaRPr lang="en-US" dirty="0"/>
              </a:p>
              <a:p>
                <a:pPr marL="0" indent="0">
                  <a:buNone/>
                </a:pPr>
                <a:r>
                  <a:rPr lang="en-US" dirty="0"/>
                  <a:t>Steady state magnitude is just </a:t>
                </a:r>
                <a14:m>
                  <m:oMath xmlns:m="http://schemas.openxmlformats.org/officeDocument/2006/math">
                    <m:r>
                      <a:rPr lang="en-US" b="0" i="1" smtClean="0">
                        <a:latin typeface="Cambria Math" panose="02040503050406030204" pitchFamily="18" charset="0"/>
                      </a:rPr>
                      <m:t>𝐹</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𝑎𝑐𝑡𝑖𝑣𝑒</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𝑚𝑖𝑠𝑎𝑙𝑖𝑔𝑛</m:t>
                        </m:r>
                      </m:sub>
                    </m:sSub>
                  </m:oMath>
                </a14:m>
                <a:endParaRPr lang="en-US" dirty="0"/>
              </a:p>
              <a:p>
                <a:pPr marL="0" indent="0">
                  <a:buNone/>
                </a:pPr>
                <a:endParaRPr lang="en-US" dirty="0"/>
              </a:p>
              <a:p>
                <a:pPr marL="0" indent="0">
                  <a:buNone/>
                </a:pPr>
                <a:r>
                  <a:rPr lang="en-US" dirty="0"/>
                  <a:t>Transient lag is the steady state response to a step </a:t>
                </a:r>
                <a:br>
                  <a:rPr lang="en-US" dirty="0"/>
                </a:br>
                <a:r>
                  <a:rPr lang="en-US" i="1" dirty="0"/>
                  <a:t>velocity</a:t>
                </a:r>
                <a:r>
                  <a:rPr lang="en-US" dirty="0"/>
                  <a:t> input to the force control system.</a:t>
                </a:r>
              </a:p>
            </p:txBody>
          </p:sp>
        </mc:Choice>
        <mc:Fallback xmlns="">
          <p:sp>
            <p:nvSpPr>
              <p:cNvPr id="2" name="Text Placeholder 1">
                <a:extLst>
                  <a:ext uri="{FF2B5EF4-FFF2-40B4-BE49-F238E27FC236}">
                    <a16:creationId xmlns:a16="http://schemas.microsoft.com/office/drawing/2014/main" id="{9041D5FC-58D8-495D-B0BE-9BE07351E7DD}"/>
                  </a:ext>
                </a:extLst>
              </p:cNvPr>
              <p:cNvSpPr>
                <a:spLocks noGrp="1" noRot="1" noChangeAspect="1" noMove="1" noResize="1" noEditPoints="1" noAdjustHandles="1" noChangeArrowheads="1" noChangeShapeType="1" noTextEdit="1"/>
              </p:cNvSpPr>
              <p:nvPr>
                <p:ph type="body" sz="quarter" idx="17"/>
              </p:nvPr>
            </p:nvSpPr>
            <p:spPr>
              <a:blipFill>
                <a:blip r:embed="rId2"/>
                <a:stretch>
                  <a:fillRect l="-525" t="-1160"/>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A545F472-E7D0-4447-B6B2-79EE9F933304}"/>
              </a:ext>
            </a:extLst>
          </p:cNvPr>
          <p:cNvSpPr>
            <a:spLocks noGrp="1"/>
          </p:cNvSpPr>
          <p:nvPr>
            <p:ph type="title"/>
          </p:nvPr>
        </p:nvSpPr>
        <p:spPr/>
        <p:txBody>
          <a:bodyPr/>
          <a:lstStyle/>
          <a:p>
            <a:r>
              <a:rPr lang="en-US" dirty="0"/>
              <a:t>RGA-OS Insertion</a:t>
            </a:r>
          </a:p>
        </p:txBody>
      </p:sp>
      <p:sp>
        <p:nvSpPr>
          <p:cNvPr id="5" name="Date Placeholder 4">
            <a:extLst>
              <a:ext uri="{FF2B5EF4-FFF2-40B4-BE49-F238E27FC236}">
                <a16:creationId xmlns:a16="http://schemas.microsoft.com/office/drawing/2014/main" id="{0795F965-6C53-4F66-9F5A-2818108FE2F0}"/>
              </a:ext>
            </a:extLst>
          </p:cNvPr>
          <p:cNvSpPr>
            <a:spLocks noGrp="1"/>
          </p:cNvSpPr>
          <p:nvPr>
            <p:ph type="dt" sz="half" idx="18"/>
          </p:nvPr>
        </p:nvSpPr>
        <p:spPr/>
        <p:txBody>
          <a:bodyPr/>
          <a:lstStyle/>
          <a:p>
            <a:r>
              <a:rPr lang="en-US"/>
              <a:t>DD/MM/YYYY</a:t>
            </a:r>
          </a:p>
        </p:txBody>
      </p:sp>
      <p:sp>
        <p:nvSpPr>
          <p:cNvPr id="6" name="Footer Placeholder 5">
            <a:extLst>
              <a:ext uri="{FF2B5EF4-FFF2-40B4-BE49-F238E27FC236}">
                <a16:creationId xmlns:a16="http://schemas.microsoft.com/office/drawing/2014/main" id="{DE8AF88F-EAA4-40EC-9343-488B4BA42106}"/>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7" name="Slide Number Placeholder 6">
            <a:extLst>
              <a:ext uri="{FF2B5EF4-FFF2-40B4-BE49-F238E27FC236}">
                <a16:creationId xmlns:a16="http://schemas.microsoft.com/office/drawing/2014/main" id="{D1DC6D58-E490-42B1-9D15-2CC93FDC2B5F}"/>
              </a:ext>
            </a:extLst>
          </p:cNvPr>
          <p:cNvSpPr>
            <a:spLocks noGrp="1"/>
          </p:cNvSpPr>
          <p:nvPr>
            <p:ph type="sldNum" sz="quarter" idx="20"/>
          </p:nvPr>
        </p:nvSpPr>
        <p:spPr/>
        <p:txBody>
          <a:bodyPr/>
          <a:lstStyle/>
          <a:p>
            <a:fld id="{2D04F4CF-F641-6E4E-8F87-8EB8AA2BFA51}" type="slidenum">
              <a:rPr lang="en-US" smtClean="0"/>
              <a:pPr/>
              <a:t>18</a:t>
            </a:fld>
            <a:endParaRPr lang="en-US"/>
          </a:p>
        </p:txBody>
      </p:sp>
      <p:grpSp>
        <p:nvGrpSpPr>
          <p:cNvPr id="4" name="Group 3">
            <a:extLst>
              <a:ext uri="{FF2B5EF4-FFF2-40B4-BE49-F238E27FC236}">
                <a16:creationId xmlns:a16="http://schemas.microsoft.com/office/drawing/2014/main" id="{38A41F51-CC25-220D-595F-B9EA4C940B4C}"/>
              </a:ext>
            </a:extLst>
          </p:cNvPr>
          <p:cNvGrpSpPr/>
          <p:nvPr/>
        </p:nvGrpSpPr>
        <p:grpSpPr>
          <a:xfrm>
            <a:off x="7776431" y="3283181"/>
            <a:ext cx="4415569" cy="3158894"/>
            <a:chOff x="6817460" y="3560107"/>
            <a:chExt cx="4625603" cy="3309152"/>
          </a:xfrm>
        </p:grpSpPr>
        <p:pic>
          <p:nvPicPr>
            <p:cNvPr id="8" name="Picture 7">
              <a:extLst>
                <a:ext uri="{FF2B5EF4-FFF2-40B4-BE49-F238E27FC236}">
                  <a16:creationId xmlns:a16="http://schemas.microsoft.com/office/drawing/2014/main" id="{8F4555A8-E13D-B1F4-6E47-89A2AD05DEAD}"/>
                </a:ext>
              </a:extLst>
            </p:cNvPr>
            <p:cNvPicPr>
              <a:picLocks noChangeAspect="1"/>
            </p:cNvPicPr>
            <p:nvPr/>
          </p:nvPicPr>
          <p:blipFill>
            <a:blip r:embed="rId3"/>
            <a:stretch>
              <a:fillRect/>
            </a:stretch>
          </p:blipFill>
          <p:spPr>
            <a:xfrm>
              <a:off x="6817460" y="3560107"/>
              <a:ext cx="4178172" cy="3309152"/>
            </a:xfrm>
            <a:prstGeom prst="rect">
              <a:avLst/>
            </a:prstGeom>
          </p:spPr>
        </p:pic>
        <p:cxnSp>
          <p:nvCxnSpPr>
            <p:cNvPr id="9" name="Straight Connector 8">
              <a:extLst>
                <a:ext uri="{FF2B5EF4-FFF2-40B4-BE49-F238E27FC236}">
                  <a16:creationId xmlns:a16="http://schemas.microsoft.com/office/drawing/2014/main" id="{0CA24EAF-119F-1A39-74B1-D7C835DAE6A1}"/>
                </a:ext>
              </a:extLst>
            </p:cNvPr>
            <p:cNvCxnSpPr>
              <a:cxnSpLocks/>
            </p:cNvCxnSpPr>
            <p:nvPr/>
          </p:nvCxnSpPr>
          <p:spPr bwMode="auto">
            <a:xfrm flipV="1">
              <a:off x="7539107" y="4152702"/>
              <a:ext cx="2440916" cy="2213265"/>
            </a:xfrm>
            <a:prstGeom prst="line">
              <a:avLst/>
            </a:prstGeom>
            <a:noFill/>
            <a:ln w="25400" cap="flat" cmpd="sng" algn="ctr">
              <a:solidFill>
                <a:srgbClr val="FF0000"/>
              </a:solidFill>
              <a:prstDash val="sysDash"/>
              <a:round/>
              <a:headEnd type="none" w="med" len="med"/>
              <a:tailEnd type="none" w="med" len="med"/>
            </a:ln>
            <a:effectLst/>
          </p:spPr>
        </p:cxnSp>
        <p:cxnSp>
          <p:nvCxnSpPr>
            <p:cNvPr id="10" name="Straight Connector 9">
              <a:extLst>
                <a:ext uri="{FF2B5EF4-FFF2-40B4-BE49-F238E27FC236}">
                  <a16:creationId xmlns:a16="http://schemas.microsoft.com/office/drawing/2014/main" id="{DCE3A2A0-78E8-E2C8-987C-A45A72493CEC}"/>
                </a:ext>
              </a:extLst>
            </p:cNvPr>
            <p:cNvCxnSpPr>
              <a:cxnSpLocks/>
            </p:cNvCxnSpPr>
            <p:nvPr/>
          </p:nvCxnSpPr>
          <p:spPr bwMode="auto">
            <a:xfrm flipH="1">
              <a:off x="9980024" y="4152702"/>
              <a:ext cx="339633" cy="0"/>
            </a:xfrm>
            <a:prstGeom prst="line">
              <a:avLst/>
            </a:prstGeom>
            <a:noFill/>
            <a:ln w="25400" cap="flat" cmpd="sng" algn="ctr">
              <a:solidFill>
                <a:srgbClr val="FF0000"/>
              </a:solidFill>
              <a:prstDash val="sysDash"/>
              <a:round/>
              <a:headEnd type="none" w="med" len="med"/>
              <a:tailEnd type="none" w="med" len="med"/>
            </a:ln>
            <a:effectLst/>
          </p:spPr>
        </p:cxnSp>
        <p:sp>
          <p:nvSpPr>
            <p:cNvPr id="11" name="TextBox 10">
              <a:extLst>
                <a:ext uri="{FF2B5EF4-FFF2-40B4-BE49-F238E27FC236}">
                  <a16:creationId xmlns:a16="http://schemas.microsoft.com/office/drawing/2014/main" id="{2839C638-1FFE-DE62-4DBE-2D8BE332E481}"/>
                </a:ext>
              </a:extLst>
            </p:cNvPr>
            <p:cNvSpPr txBox="1"/>
            <p:nvPr/>
          </p:nvSpPr>
          <p:spPr>
            <a:xfrm>
              <a:off x="8288053" y="5723602"/>
              <a:ext cx="2683241" cy="67385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0000"/>
                  </a:solidFill>
                  <a:effectLst/>
                  <a:uLnTx/>
                  <a:uFillTx/>
                  <a:latin typeface="Calibri"/>
                  <a:ea typeface="+mn-ea"/>
                  <a:cs typeface="+mn-cs"/>
                </a:rPr>
                <a:t>Equivalent “idealized”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0000"/>
                  </a:solidFill>
                  <a:effectLst/>
                  <a:uLnTx/>
                  <a:uFillTx/>
                  <a:latin typeface="Calibri"/>
                  <a:ea typeface="+mn-ea"/>
                  <a:cs typeface="+mn-cs"/>
                </a:rPr>
                <a:t>passive stiffness response</a:t>
              </a:r>
            </a:p>
          </p:txBody>
        </p:sp>
        <p:cxnSp>
          <p:nvCxnSpPr>
            <p:cNvPr id="12" name="Straight Connector 11">
              <a:extLst>
                <a:ext uri="{FF2B5EF4-FFF2-40B4-BE49-F238E27FC236}">
                  <a16:creationId xmlns:a16="http://schemas.microsoft.com/office/drawing/2014/main" id="{94F050EF-8787-ABFA-C03D-EC13115C44FB}"/>
                </a:ext>
              </a:extLst>
            </p:cNvPr>
            <p:cNvCxnSpPr/>
            <p:nvPr/>
          </p:nvCxnSpPr>
          <p:spPr bwMode="auto">
            <a:xfrm>
              <a:off x="11190514" y="3702810"/>
              <a:ext cx="0" cy="449892"/>
            </a:xfrm>
            <a:prstGeom prst="line">
              <a:avLst/>
            </a:prstGeom>
            <a:noFill/>
            <a:ln w="38100" cap="flat" cmpd="sng" algn="ctr">
              <a:solidFill>
                <a:srgbClr val="FFC000"/>
              </a:solidFill>
              <a:prstDash val="sysDot"/>
              <a:round/>
              <a:headEnd type="none" w="med" len="med"/>
              <a:tailEnd type="none" w="med" len="med"/>
            </a:ln>
            <a:effectLst/>
          </p:spPr>
        </p:cxnSp>
        <p:cxnSp>
          <p:nvCxnSpPr>
            <p:cNvPr id="13" name="Straight Connector 12">
              <a:extLst>
                <a:ext uri="{FF2B5EF4-FFF2-40B4-BE49-F238E27FC236}">
                  <a16:creationId xmlns:a16="http://schemas.microsoft.com/office/drawing/2014/main" id="{C47F4AB3-7D26-562D-0C44-B9338F31E22F}"/>
                </a:ext>
              </a:extLst>
            </p:cNvPr>
            <p:cNvCxnSpPr>
              <a:cxnSpLocks/>
            </p:cNvCxnSpPr>
            <p:nvPr/>
          </p:nvCxnSpPr>
          <p:spPr bwMode="auto">
            <a:xfrm>
              <a:off x="9980023" y="3702810"/>
              <a:ext cx="1463040" cy="0"/>
            </a:xfrm>
            <a:prstGeom prst="line">
              <a:avLst/>
            </a:prstGeom>
            <a:noFill/>
            <a:ln w="38100" cap="flat" cmpd="sng" algn="ctr">
              <a:solidFill>
                <a:srgbClr val="FFC000"/>
              </a:solidFill>
              <a:prstDash val="sysDot"/>
              <a:round/>
              <a:headEnd type="none" w="med" len="med"/>
              <a:tailEnd type="none" w="med" len="med"/>
            </a:ln>
            <a:effectLst/>
          </p:spPr>
        </p:cxnSp>
        <p:cxnSp>
          <p:nvCxnSpPr>
            <p:cNvPr id="14" name="Straight Connector 13">
              <a:extLst>
                <a:ext uri="{FF2B5EF4-FFF2-40B4-BE49-F238E27FC236}">
                  <a16:creationId xmlns:a16="http://schemas.microsoft.com/office/drawing/2014/main" id="{8F102E99-0167-82ED-3C7F-C596AADEE38C}"/>
                </a:ext>
              </a:extLst>
            </p:cNvPr>
            <p:cNvCxnSpPr>
              <a:cxnSpLocks/>
            </p:cNvCxnSpPr>
            <p:nvPr/>
          </p:nvCxnSpPr>
          <p:spPr bwMode="auto">
            <a:xfrm>
              <a:off x="10711543" y="4152702"/>
              <a:ext cx="731520" cy="0"/>
            </a:xfrm>
            <a:prstGeom prst="line">
              <a:avLst/>
            </a:prstGeom>
            <a:noFill/>
            <a:ln w="38100" cap="flat" cmpd="sng" algn="ctr">
              <a:solidFill>
                <a:srgbClr val="FFC000"/>
              </a:solidFill>
              <a:prstDash val="sysDot"/>
              <a:round/>
              <a:headEnd type="none" w="med" len="med"/>
              <a:tailEnd type="none" w="med" len="med"/>
            </a:ln>
            <a:effectLst/>
          </p:spPr>
        </p:cxnSp>
        <p:sp>
          <p:nvSpPr>
            <p:cNvPr id="15" name="TextBox 14">
              <a:extLst>
                <a:ext uri="{FF2B5EF4-FFF2-40B4-BE49-F238E27FC236}">
                  <a16:creationId xmlns:a16="http://schemas.microsoft.com/office/drawing/2014/main" id="{F408BF21-D74F-00EA-3510-94814284F99C}"/>
                </a:ext>
              </a:extLst>
            </p:cNvPr>
            <p:cNvSpPr txBox="1"/>
            <p:nvPr/>
          </p:nvSpPr>
          <p:spPr>
            <a:xfrm>
              <a:off x="9980023" y="4221972"/>
              <a:ext cx="1463040" cy="870525"/>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C000"/>
                  </a:solidFill>
                  <a:effectLst/>
                  <a:uLnTx/>
                  <a:uFillTx/>
                  <a:latin typeface="Calibri"/>
                  <a:ea typeface="+mn-ea"/>
                  <a:cs typeface="+mn-cs"/>
                </a:rPr>
                <a:t>Lag caused by stabilizing damping term</a:t>
              </a:r>
            </a:p>
          </p:txBody>
        </p:sp>
      </p:grpSp>
      <p:sp>
        <p:nvSpPr>
          <p:cNvPr id="16" name="TextBox 15">
            <a:extLst>
              <a:ext uri="{FF2B5EF4-FFF2-40B4-BE49-F238E27FC236}">
                <a16:creationId xmlns:a16="http://schemas.microsoft.com/office/drawing/2014/main" id="{42EE2BEF-5094-A972-8253-8738940163B4}"/>
              </a:ext>
            </a:extLst>
          </p:cNvPr>
          <p:cNvSpPr txBox="1"/>
          <p:nvPr/>
        </p:nvSpPr>
        <p:spPr>
          <a:xfrm>
            <a:off x="9209796" y="6391099"/>
            <a:ext cx="1406769" cy="369332"/>
          </a:xfrm>
          <a:prstGeom prst="rect">
            <a:avLst/>
          </a:prstGeom>
        </p:spPr>
        <p:txBody>
          <a:bodyPr wrap="square" rtlCol="0">
            <a:spAutoFit/>
          </a:bodyPr>
          <a:lstStyle/>
          <a:p>
            <a:pPr algn="l"/>
            <a:r>
              <a:rPr lang="en-US" dirty="0"/>
              <a:t>Time (secs)</a:t>
            </a:r>
          </a:p>
        </p:txBody>
      </p:sp>
      <p:sp>
        <p:nvSpPr>
          <p:cNvPr id="17" name="TextBox 16">
            <a:extLst>
              <a:ext uri="{FF2B5EF4-FFF2-40B4-BE49-F238E27FC236}">
                <a16:creationId xmlns:a16="http://schemas.microsoft.com/office/drawing/2014/main" id="{84F29695-5684-8BDB-3BD8-16E970474033}"/>
              </a:ext>
            </a:extLst>
          </p:cNvPr>
          <p:cNvSpPr txBox="1"/>
          <p:nvPr/>
        </p:nvSpPr>
        <p:spPr>
          <a:xfrm rot="16200000">
            <a:off x="6860961" y="4617798"/>
            <a:ext cx="1406769" cy="369332"/>
          </a:xfrm>
          <a:prstGeom prst="rect">
            <a:avLst/>
          </a:prstGeom>
        </p:spPr>
        <p:txBody>
          <a:bodyPr wrap="square" rtlCol="0">
            <a:spAutoFit/>
          </a:bodyPr>
          <a:lstStyle/>
          <a:p>
            <a:pPr algn="ctr"/>
            <a:r>
              <a:rPr lang="en-US" dirty="0"/>
              <a:t>Force (N)</a:t>
            </a:r>
          </a:p>
        </p:txBody>
      </p:sp>
      <p:sp>
        <p:nvSpPr>
          <p:cNvPr id="18" name="TextBox 17">
            <a:extLst>
              <a:ext uri="{FF2B5EF4-FFF2-40B4-BE49-F238E27FC236}">
                <a16:creationId xmlns:a16="http://schemas.microsoft.com/office/drawing/2014/main" id="{E86034DC-154A-44EA-6E21-0384AF3505B7}"/>
              </a:ext>
            </a:extLst>
          </p:cNvPr>
          <p:cNvSpPr txBox="1"/>
          <p:nvPr/>
        </p:nvSpPr>
        <p:spPr>
          <a:xfrm>
            <a:off x="7539221" y="2854059"/>
            <a:ext cx="4411698" cy="369332"/>
          </a:xfrm>
          <a:prstGeom prst="rect">
            <a:avLst/>
          </a:prstGeom>
        </p:spPr>
        <p:txBody>
          <a:bodyPr wrap="square" rtlCol="0">
            <a:spAutoFit/>
          </a:bodyPr>
          <a:lstStyle/>
          <a:p>
            <a:pPr algn="ctr"/>
            <a:r>
              <a:rPr lang="en-US" dirty="0"/>
              <a:t>Response to chamfer translation ramp</a:t>
            </a:r>
          </a:p>
        </p:txBody>
      </p:sp>
    </p:spTree>
    <p:extLst>
      <p:ext uri="{BB962C8B-B14F-4D97-AF65-F5344CB8AC3E}">
        <p14:creationId xmlns:p14="http://schemas.microsoft.com/office/powerpoint/2010/main" val="34795733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18417F6-039B-42C4-8994-4E81B4AFB35A}"/>
              </a:ext>
            </a:extLst>
          </p:cNvPr>
          <p:cNvSpPr>
            <a:spLocks noGrp="1"/>
          </p:cNvSpPr>
          <p:nvPr>
            <p:ph idx="1"/>
          </p:nvPr>
        </p:nvSpPr>
        <p:spPr>
          <a:xfrm>
            <a:off x="195281" y="1105950"/>
            <a:ext cx="7120487" cy="3945696"/>
          </a:xfrm>
        </p:spPr>
        <p:txBody>
          <a:bodyPr/>
          <a:lstStyle/>
          <a:p>
            <a:pPr marL="0" indent="0">
              <a:buNone/>
            </a:pPr>
            <a:r>
              <a:rPr lang="en-US"/>
              <a:t>Goal: determine the </a:t>
            </a:r>
            <a:r>
              <a:rPr lang="en-US" i="1"/>
              <a:t>rate</a:t>
            </a:r>
            <a:r>
              <a:rPr lang="en-US"/>
              <a:t> and </a:t>
            </a:r>
            <a:r>
              <a:rPr lang="en-US" i="1"/>
              <a:t>latency</a:t>
            </a:r>
            <a:r>
              <a:rPr lang="en-US"/>
              <a:t> (RTIs) that an active compliance system could permit and remain stable with </a:t>
            </a:r>
            <a:br>
              <a:rPr lang="en-US"/>
            </a:br>
            <a:r>
              <a:rPr lang="en-US"/>
              <a:t>flight-like arm dynamics.</a:t>
            </a:r>
          </a:p>
          <a:p>
            <a:pPr marL="0" indent="0">
              <a:buNone/>
            </a:pPr>
            <a:endParaRPr lang="en-US" sz="1200"/>
          </a:p>
          <a:p>
            <a:pPr marL="0" indent="0">
              <a:buNone/>
            </a:pPr>
            <a:r>
              <a:rPr lang="en-US" sz="1600"/>
              <a:t>Early analyses extended the JPLCAMS Simulink library from the SCS SHACD modelling efforts into the active compliance domain.</a:t>
            </a:r>
          </a:p>
          <a:p>
            <a:pPr marL="0" indent="0">
              <a:buNone/>
            </a:pPr>
            <a:endParaRPr lang="en-US" sz="1600"/>
          </a:p>
          <a:p>
            <a:pPr marL="0" indent="0">
              <a:buNone/>
            </a:pPr>
            <a:r>
              <a:rPr lang="en-US" sz="1600"/>
              <a:t>Actuator dynamics are taken from ESA/LDO proposed motors and gearboxes, with JPLCAMS PID tuning applied to “SCU” joint position controller. (given no LDO joint control parameters supplied as of yet)</a:t>
            </a:r>
          </a:p>
          <a:p>
            <a:pPr marL="0" indent="0">
              <a:buNone/>
            </a:pPr>
            <a:endParaRPr lang="en-US" sz="1600"/>
          </a:p>
          <a:p>
            <a:pPr marL="0" indent="0">
              <a:buNone/>
            </a:pPr>
            <a:r>
              <a:rPr lang="en-US" sz="1600"/>
              <a:t>The full 6-DoF active compliance problem is abstracted down to a single-DoF representation looking at joint 6 complying in translation along the Y axis of tool frame to examine impacts of rate and latency on closed loop response.</a:t>
            </a:r>
          </a:p>
        </p:txBody>
      </p:sp>
      <p:sp>
        <p:nvSpPr>
          <p:cNvPr id="3" name="Title 2">
            <a:extLst>
              <a:ext uri="{FF2B5EF4-FFF2-40B4-BE49-F238E27FC236}">
                <a16:creationId xmlns:a16="http://schemas.microsoft.com/office/drawing/2014/main" id="{5BB2EEFA-3D7A-45A8-AAC7-0A7831112EFA}"/>
              </a:ext>
            </a:extLst>
          </p:cNvPr>
          <p:cNvSpPr>
            <a:spLocks noGrp="1"/>
          </p:cNvSpPr>
          <p:nvPr>
            <p:ph type="title"/>
          </p:nvPr>
        </p:nvSpPr>
        <p:spPr/>
        <p:txBody>
          <a:bodyPr/>
          <a:lstStyle/>
          <a:p>
            <a:r>
              <a:rPr lang="en-US"/>
              <a:t>Active Compliance – Tolerable Control Rate</a:t>
            </a:r>
          </a:p>
        </p:txBody>
      </p:sp>
      <p:sp>
        <p:nvSpPr>
          <p:cNvPr id="4" name="Slide Number Placeholder 3">
            <a:extLst>
              <a:ext uri="{FF2B5EF4-FFF2-40B4-BE49-F238E27FC236}">
                <a16:creationId xmlns:a16="http://schemas.microsoft.com/office/drawing/2014/main" id="{23893094-A94D-453C-A30F-CB0F221B282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B0D5911-593C-4B7A-998F-6DBC76EF3BD7}" type="slidenum">
              <a:rPr kumimoji="0" lang="en-US" sz="800" b="0" i="0" u="none" strike="noStrike" kern="1200" cap="none" spc="0" normalizeH="0" baseline="0" noProof="0" smtClean="0">
                <a:ln>
                  <a:noFill/>
                </a:ln>
                <a:solidFill>
                  <a:prstClr val="black">
                    <a:tint val="75000"/>
                  </a:prstClr>
                </a:solidFill>
                <a:effectLst/>
                <a:uLnTx/>
                <a:uFillTx/>
                <a:latin typeface="Calibri"/>
                <a:ea typeface="ＭＳ Ｐゴシック" charset="0"/>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800" b="0" i="0" u="none" strike="noStrike" kern="1200" cap="none" spc="0" normalizeH="0" baseline="0" noProof="0">
              <a:ln>
                <a:noFill/>
              </a:ln>
              <a:solidFill>
                <a:prstClr val="black">
                  <a:tint val="75000"/>
                </a:prstClr>
              </a:solidFill>
              <a:effectLst/>
              <a:uLnTx/>
              <a:uFillTx/>
              <a:latin typeface="Calibri"/>
              <a:ea typeface="ＭＳ Ｐゴシック" charset="0"/>
            </a:endParaRPr>
          </a:p>
        </p:txBody>
      </p:sp>
      <p:grpSp>
        <p:nvGrpSpPr>
          <p:cNvPr id="48" name="Group 47">
            <a:extLst>
              <a:ext uri="{FF2B5EF4-FFF2-40B4-BE49-F238E27FC236}">
                <a16:creationId xmlns:a16="http://schemas.microsoft.com/office/drawing/2014/main" id="{325179ED-4EB3-46A5-A623-C2C5CEDA9406}"/>
              </a:ext>
            </a:extLst>
          </p:cNvPr>
          <p:cNvGrpSpPr/>
          <p:nvPr/>
        </p:nvGrpSpPr>
        <p:grpSpPr>
          <a:xfrm>
            <a:off x="131895" y="5467623"/>
            <a:ext cx="11897603" cy="1361924"/>
            <a:chOff x="-439790" y="4568216"/>
            <a:chExt cx="11897603" cy="1361924"/>
          </a:xfrm>
        </p:grpSpPr>
        <p:grpSp>
          <p:nvGrpSpPr>
            <p:cNvPr id="5" name="Group 4">
              <a:extLst>
                <a:ext uri="{FF2B5EF4-FFF2-40B4-BE49-F238E27FC236}">
                  <a16:creationId xmlns:a16="http://schemas.microsoft.com/office/drawing/2014/main" id="{FDDAAB9D-CF3D-4867-93D1-3881ED0B6C74}"/>
                </a:ext>
              </a:extLst>
            </p:cNvPr>
            <p:cNvGrpSpPr/>
            <p:nvPr/>
          </p:nvGrpSpPr>
          <p:grpSpPr>
            <a:xfrm>
              <a:off x="1523573" y="4685529"/>
              <a:ext cx="9934240" cy="1125369"/>
              <a:chOff x="1121923" y="3718711"/>
              <a:chExt cx="9934240" cy="1125369"/>
            </a:xfrm>
          </p:grpSpPr>
          <p:pic>
            <p:nvPicPr>
              <p:cNvPr id="6" name="Picture 5">
                <a:extLst>
                  <a:ext uri="{FF2B5EF4-FFF2-40B4-BE49-F238E27FC236}">
                    <a16:creationId xmlns:a16="http://schemas.microsoft.com/office/drawing/2014/main" id="{DD04461D-6EDF-481C-8B83-33E4F07F3F4F}"/>
                  </a:ext>
                </a:extLst>
              </p:cNvPr>
              <p:cNvPicPr>
                <a:picLocks noChangeAspect="1"/>
              </p:cNvPicPr>
              <p:nvPr/>
            </p:nvPicPr>
            <p:blipFill>
              <a:blip r:embed="rId2">
                <a:clrChange>
                  <a:clrFrom>
                    <a:srgbClr val="000000"/>
                  </a:clrFrom>
                  <a:clrTo>
                    <a:srgbClr val="000000">
                      <a:alpha val="0"/>
                    </a:srgbClr>
                  </a:clrTo>
                </a:clrChange>
              </a:blip>
              <a:stretch>
                <a:fillRect/>
              </a:stretch>
            </p:blipFill>
            <p:spPr>
              <a:xfrm>
                <a:off x="6208203" y="4078962"/>
                <a:ext cx="2272511" cy="641047"/>
              </a:xfrm>
              <a:prstGeom prst="rect">
                <a:avLst/>
              </a:prstGeom>
            </p:spPr>
          </p:pic>
          <p:sp>
            <p:nvSpPr>
              <p:cNvPr id="7" name="Right Triangle 6">
                <a:extLst>
                  <a:ext uri="{FF2B5EF4-FFF2-40B4-BE49-F238E27FC236}">
                    <a16:creationId xmlns:a16="http://schemas.microsoft.com/office/drawing/2014/main" id="{DB9405ED-2693-4E70-8FCA-3DA40DABD230}"/>
                  </a:ext>
                </a:extLst>
              </p:cNvPr>
              <p:cNvSpPr/>
              <p:nvPr/>
            </p:nvSpPr>
            <p:spPr bwMode="auto">
              <a:xfrm rot="10800000">
                <a:off x="7977412" y="4156782"/>
                <a:ext cx="1108221" cy="321063"/>
              </a:xfrm>
              <a:prstGeom prst="rtTriangle">
                <a:avLst/>
              </a:prstGeom>
              <a:solidFill>
                <a:srgbClr val="D4745E"/>
              </a:solidFill>
              <a:ln w="9525" cap="flat" cmpd="sng" algn="ctr">
                <a:solidFill>
                  <a:srgbClr val="D4745E"/>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Narrow" pitchFamily="34" charset="0"/>
                  <a:ea typeface="+mn-ea"/>
                  <a:cs typeface="+mn-cs"/>
                </a:endParaRPr>
              </a:p>
            </p:txBody>
          </p:sp>
          <p:sp>
            <p:nvSpPr>
              <p:cNvPr id="8" name="Oval 7">
                <a:extLst>
                  <a:ext uri="{FF2B5EF4-FFF2-40B4-BE49-F238E27FC236}">
                    <a16:creationId xmlns:a16="http://schemas.microsoft.com/office/drawing/2014/main" id="{C0391CED-5946-4FC8-B19E-8A376194069F}"/>
                  </a:ext>
                </a:extLst>
              </p:cNvPr>
              <p:cNvSpPr/>
              <p:nvPr/>
            </p:nvSpPr>
            <p:spPr bwMode="auto">
              <a:xfrm>
                <a:off x="1258111" y="4254230"/>
                <a:ext cx="324255" cy="298315"/>
              </a:xfrm>
              <a:prstGeom prst="ellipse">
                <a:avLst/>
              </a:prstGeom>
              <a:solidFill>
                <a:srgbClr val="A6A6A6"/>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Narrow" pitchFamily="34" charset="0"/>
                  <a:ea typeface="+mn-ea"/>
                  <a:cs typeface="+mn-cs"/>
                </a:endParaRPr>
              </a:p>
            </p:txBody>
          </p:sp>
          <p:sp>
            <p:nvSpPr>
              <p:cNvPr id="9" name="Arc 8">
                <a:extLst>
                  <a:ext uri="{FF2B5EF4-FFF2-40B4-BE49-F238E27FC236}">
                    <a16:creationId xmlns:a16="http://schemas.microsoft.com/office/drawing/2014/main" id="{78890E9A-77CF-4364-83D7-2063A9228A63}"/>
                  </a:ext>
                </a:extLst>
              </p:cNvPr>
              <p:cNvSpPr/>
              <p:nvPr/>
            </p:nvSpPr>
            <p:spPr bwMode="auto">
              <a:xfrm>
                <a:off x="1121923" y="4117871"/>
                <a:ext cx="596629" cy="563227"/>
              </a:xfrm>
              <a:prstGeom prst="arc">
                <a:avLst>
                  <a:gd name="adj1" fmla="val 4991774"/>
                  <a:gd name="adj2" fmla="val 17205371"/>
                </a:avLst>
              </a:prstGeom>
              <a:noFill/>
              <a:ln w="38100" cap="flat" cmpd="sng" algn="ctr">
                <a:solidFill>
                  <a:schemeClr val="accent1"/>
                </a:solidFill>
                <a:prstDash val="solid"/>
                <a:round/>
                <a:headEnd type="none" w="med" len="med"/>
                <a:tailEnd type="triangl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10" name="Group 9">
                <a:extLst>
                  <a:ext uri="{FF2B5EF4-FFF2-40B4-BE49-F238E27FC236}">
                    <a16:creationId xmlns:a16="http://schemas.microsoft.com/office/drawing/2014/main" id="{BB9EA418-03AF-4057-9B43-A09BB49C81CD}"/>
                  </a:ext>
                </a:extLst>
              </p:cNvPr>
              <p:cNvGrpSpPr/>
              <p:nvPr/>
            </p:nvGrpSpPr>
            <p:grpSpPr>
              <a:xfrm>
                <a:off x="1582366" y="4057667"/>
                <a:ext cx="3318110" cy="345721"/>
                <a:chOff x="1582366" y="4057667"/>
                <a:chExt cx="3318110" cy="345721"/>
              </a:xfrm>
            </p:grpSpPr>
            <p:cxnSp>
              <p:nvCxnSpPr>
                <p:cNvPr id="34" name="Straight Connector 33">
                  <a:extLst>
                    <a:ext uri="{FF2B5EF4-FFF2-40B4-BE49-F238E27FC236}">
                      <a16:creationId xmlns:a16="http://schemas.microsoft.com/office/drawing/2014/main" id="{440764BF-F4E5-4815-99F9-C2563BA06802}"/>
                    </a:ext>
                  </a:extLst>
                </p:cNvPr>
                <p:cNvCxnSpPr>
                  <a:cxnSpLocks/>
                  <a:stCxn id="8" idx="6"/>
                </p:cNvCxnSpPr>
                <p:nvPr/>
              </p:nvCxnSpPr>
              <p:spPr bwMode="auto">
                <a:xfrm flipV="1">
                  <a:off x="1582366" y="4396211"/>
                  <a:ext cx="2828485" cy="7177"/>
                </a:xfrm>
                <a:prstGeom prst="line">
                  <a:avLst/>
                </a:prstGeom>
                <a:noFill/>
                <a:ln w="38100" cap="flat" cmpd="sng" algn="ctr">
                  <a:solidFill>
                    <a:schemeClr val="bg1">
                      <a:lumMod val="65000"/>
                    </a:schemeClr>
                  </a:solidFill>
                  <a:prstDash val="solid"/>
                  <a:round/>
                  <a:headEnd type="none" w="med" len="med"/>
                  <a:tailEnd type="none" w="med" len="med"/>
                </a:ln>
                <a:effectLst/>
              </p:spPr>
            </p:cxnSp>
            <p:cxnSp>
              <p:nvCxnSpPr>
                <p:cNvPr id="35" name="Straight Connector 34">
                  <a:extLst>
                    <a:ext uri="{FF2B5EF4-FFF2-40B4-BE49-F238E27FC236}">
                      <a16:creationId xmlns:a16="http://schemas.microsoft.com/office/drawing/2014/main" id="{D5267C09-6780-4A96-A4D5-A1EC27A48AD2}"/>
                    </a:ext>
                  </a:extLst>
                </p:cNvPr>
                <p:cNvCxnSpPr>
                  <a:cxnSpLocks/>
                </p:cNvCxnSpPr>
                <p:nvPr/>
              </p:nvCxnSpPr>
              <p:spPr bwMode="auto">
                <a:xfrm>
                  <a:off x="4410851" y="4057667"/>
                  <a:ext cx="489625" cy="0"/>
                </a:xfrm>
                <a:prstGeom prst="line">
                  <a:avLst/>
                </a:prstGeom>
                <a:noFill/>
                <a:ln w="38100" cap="flat" cmpd="sng" algn="ctr">
                  <a:solidFill>
                    <a:schemeClr val="bg1">
                      <a:lumMod val="65000"/>
                    </a:schemeClr>
                  </a:solidFill>
                  <a:prstDash val="solid"/>
                  <a:round/>
                  <a:headEnd type="none" w="med" len="med"/>
                  <a:tailEnd type="none" w="med" len="med"/>
                </a:ln>
                <a:effectLst/>
              </p:spPr>
            </p:cxnSp>
            <p:cxnSp>
              <p:nvCxnSpPr>
                <p:cNvPr id="36" name="Straight Connector 35">
                  <a:extLst>
                    <a:ext uri="{FF2B5EF4-FFF2-40B4-BE49-F238E27FC236}">
                      <a16:creationId xmlns:a16="http://schemas.microsoft.com/office/drawing/2014/main" id="{5A736FEA-7422-4026-B776-4E8068FC640D}"/>
                    </a:ext>
                  </a:extLst>
                </p:cNvPr>
                <p:cNvCxnSpPr>
                  <a:cxnSpLocks/>
                </p:cNvCxnSpPr>
                <p:nvPr/>
              </p:nvCxnSpPr>
              <p:spPr bwMode="auto">
                <a:xfrm flipV="1">
                  <a:off x="4410851" y="4057668"/>
                  <a:ext cx="0" cy="345719"/>
                </a:xfrm>
                <a:prstGeom prst="line">
                  <a:avLst/>
                </a:prstGeom>
                <a:noFill/>
                <a:ln w="38100" cap="flat" cmpd="sng" algn="ctr">
                  <a:solidFill>
                    <a:schemeClr val="bg1">
                      <a:lumMod val="65000"/>
                    </a:schemeClr>
                  </a:solidFill>
                  <a:prstDash val="solid"/>
                  <a:round/>
                  <a:headEnd type="none" w="med" len="med"/>
                  <a:tailEnd type="none" w="med" len="med"/>
                </a:ln>
                <a:effectLst/>
              </p:spPr>
            </p:cxnSp>
          </p:grpSp>
          <p:grpSp>
            <p:nvGrpSpPr>
              <p:cNvPr id="11" name="Group 10">
                <a:extLst>
                  <a:ext uri="{FF2B5EF4-FFF2-40B4-BE49-F238E27FC236}">
                    <a16:creationId xmlns:a16="http://schemas.microsoft.com/office/drawing/2014/main" id="{44F96269-78B3-4B03-AD83-BF9F84748E2D}"/>
                  </a:ext>
                </a:extLst>
              </p:cNvPr>
              <p:cNvGrpSpPr/>
              <p:nvPr/>
            </p:nvGrpSpPr>
            <p:grpSpPr>
              <a:xfrm>
                <a:off x="4873558" y="4156781"/>
                <a:ext cx="1468876" cy="539840"/>
                <a:chOff x="4873558" y="4156781"/>
                <a:chExt cx="1468876" cy="539840"/>
              </a:xfrm>
            </p:grpSpPr>
            <p:cxnSp>
              <p:nvCxnSpPr>
                <p:cNvPr id="28" name="Straight Connector 27">
                  <a:extLst>
                    <a:ext uri="{FF2B5EF4-FFF2-40B4-BE49-F238E27FC236}">
                      <a16:creationId xmlns:a16="http://schemas.microsoft.com/office/drawing/2014/main" id="{A9A8D1D3-3022-4AFE-A974-641C4CB4E83D}"/>
                    </a:ext>
                  </a:extLst>
                </p:cNvPr>
                <p:cNvCxnSpPr>
                  <a:cxnSpLocks/>
                </p:cNvCxnSpPr>
                <p:nvPr/>
              </p:nvCxnSpPr>
              <p:spPr bwMode="auto">
                <a:xfrm flipV="1">
                  <a:off x="6024664" y="4156782"/>
                  <a:ext cx="0" cy="489625"/>
                </a:xfrm>
                <a:prstGeom prst="line">
                  <a:avLst/>
                </a:prstGeom>
                <a:noFill/>
                <a:ln w="38100" cap="flat" cmpd="sng" algn="ctr">
                  <a:solidFill>
                    <a:schemeClr val="bg1">
                      <a:lumMod val="65000"/>
                    </a:schemeClr>
                  </a:solidFill>
                  <a:prstDash val="solid"/>
                  <a:round/>
                  <a:headEnd type="none" w="med" len="med"/>
                  <a:tailEnd type="none" w="med" len="med"/>
                </a:ln>
                <a:effectLst/>
              </p:spPr>
            </p:cxnSp>
            <p:cxnSp>
              <p:nvCxnSpPr>
                <p:cNvPr id="29" name="Straight Connector 28">
                  <a:extLst>
                    <a:ext uri="{FF2B5EF4-FFF2-40B4-BE49-F238E27FC236}">
                      <a16:creationId xmlns:a16="http://schemas.microsoft.com/office/drawing/2014/main" id="{8A0F8C7B-9B11-43B7-8FC5-B829AB658358}"/>
                    </a:ext>
                  </a:extLst>
                </p:cNvPr>
                <p:cNvCxnSpPr>
                  <a:cxnSpLocks/>
                </p:cNvCxnSpPr>
                <p:nvPr/>
              </p:nvCxnSpPr>
              <p:spPr bwMode="auto">
                <a:xfrm flipH="1">
                  <a:off x="6018179" y="4156781"/>
                  <a:ext cx="324255" cy="1"/>
                </a:xfrm>
                <a:prstGeom prst="line">
                  <a:avLst/>
                </a:prstGeom>
                <a:noFill/>
                <a:ln w="38100" cap="flat" cmpd="sng" algn="ctr">
                  <a:solidFill>
                    <a:schemeClr val="bg1">
                      <a:lumMod val="65000"/>
                    </a:schemeClr>
                  </a:solidFill>
                  <a:prstDash val="solid"/>
                  <a:round/>
                  <a:headEnd type="none" w="med" len="med"/>
                  <a:tailEnd type="none" w="med" len="med"/>
                </a:ln>
                <a:effectLst/>
              </p:spPr>
            </p:cxnSp>
            <p:cxnSp>
              <p:nvCxnSpPr>
                <p:cNvPr id="30" name="Straight Connector 29">
                  <a:extLst>
                    <a:ext uri="{FF2B5EF4-FFF2-40B4-BE49-F238E27FC236}">
                      <a16:creationId xmlns:a16="http://schemas.microsoft.com/office/drawing/2014/main" id="{F559EFE6-2858-4A32-A2C4-DB082BFA8A93}"/>
                    </a:ext>
                  </a:extLst>
                </p:cNvPr>
                <p:cNvCxnSpPr>
                  <a:cxnSpLocks/>
                </p:cNvCxnSpPr>
                <p:nvPr/>
              </p:nvCxnSpPr>
              <p:spPr bwMode="auto">
                <a:xfrm flipH="1">
                  <a:off x="6003253" y="4646407"/>
                  <a:ext cx="324255" cy="1"/>
                </a:xfrm>
                <a:prstGeom prst="line">
                  <a:avLst/>
                </a:prstGeom>
                <a:noFill/>
                <a:ln w="38100" cap="flat" cmpd="sng" algn="ctr">
                  <a:solidFill>
                    <a:schemeClr val="bg1">
                      <a:lumMod val="65000"/>
                    </a:schemeClr>
                  </a:solidFill>
                  <a:prstDash val="solid"/>
                  <a:round/>
                  <a:headEnd type="none" w="med" len="med"/>
                  <a:tailEnd type="none" w="med" len="med"/>
                </a:ln>
                <a:effectLst/>
              </p:spPr>
            </p:cxnSp>
            <p:cxnSp>
              <p:nvCxnSpPr>
                <p:cNvPr id="31" name="Straight Connector 30">
                  <a:extLst>
                    <a:ext uri="{FF2B5EF4-FFF2-40B4-BE49-F238E27FC236}">
                      <a16:creationId xmlns:a16="http://schemas.microsoft.com/office/drawing/2014/main" id="{2E67FB22-C40D-462B-AE3A-F938C200A1F5}"/>
                    </a:ext>
                  </a:extLst>
                </p:cNvPr>
                <p:cNvCxnSpPr>
                  <a:cxnSpLocks/>
                </p:cNvCxnSpPr>
                <p:nvPr/>
              </p:nvCxnSpPr>
              <p:spPr bwMode="auto">
                <a:xfrm>
                  <a:off x="5317787" y="4396211"/>
                  <a:ext cx="697149" cy="0"/>
                </a:xfrm>
                <a:prstGeom prst="line">
                  <a:avLst/>
                </a:prstGeom>
                <a:noFill/>
                <a:ln w="38100" cap="flat" cmpd="sng" algn="ctr">
                  <a:solidFill>
                    <a:schemeClr val="bg1">
                      <a:lumMod val="65000"/>
                    </a:schemeClr>
                  </a:solidFill>
                  <a:prstDash val="solid"/>
                  <a:round/>
                  <a:headEnd type="none" w="med" len="med"/>
                  <a:tailEnd type="none" w="med" len="med"/>
                </a:ln>
                <a:effectLst/>
              </p:spPr>
            </p:cxnSp>
            <p:cxnSp>
              <p:nvCxnSpPr>
                <p:cNvPr id="32" name="Straight Connector 31">
                  <a:extLst>
                    <a:ext uri="{FF2B5EF4-FFF2-40B4-BE49-F238E27FC236}">
                      <a16:creationId xmlns:a16="http://schemas.microsoft.com/office/drawing/2014/main" id="{11C6B4D5-95FB-4A4F-A649-A39923DB02F0}"/>
                    </a:ext>
                  </a:extLst>
                </p:cNvPr>
                <p:cNvCxnSpPr>
                  <a:cxnSpLocks/>
                </p:cNvCxnSpPr>
                <p:nvPr/>
              </p:nvCxnSpPr>
              <p:spPr bwMode="auto">
                <a:xfrm>
                  <a:off x="4873558" y="4696620"/>
                  <a:ext cx="454935" cy="1"/>
                </a:xfrm>
                <a:prstGeom prst="line">
                  <a:avLst/>
                </a:prstGeom>
                <a:noFill/>
                <a:ln w="38100" cap="flat" cmpd="sng" algn="ctr">
                  <a:solidFill>
                    <a:schemeClr val="bg1">
                      <a:lumMod val="65000"/>
                    </a:schemeClr>
                  </a:solidFill>
                  <a:prstDash val="solid"/>
                  <a:round/>
                  <a:headEnd type="none" w="med" len="med"/>
                  <a:tailEnd type="none" w="med" len="med"/>
                </a:ln>
                <a:effectLst/>
              </p:spPr>
            </p:cxnSp>
            <p:cxnSp>
              <p:nvCxnSpPr>
                <p:cNvPr id="33" name="Straight Connector 32">
                  <a:extLst>
                    <a:ext uri="{FF2B5EF4-FFF2-40B4-BE49-F238E27FC236}">
                      <a16:creationId xmlns:a16="http://schemas.microsoft.com/office/drawing/2014/main" id="{73BBC819-1FBB-4A3F-B1C1-C9D9ED338DBD}"/>
                    </a:ext>
                  </a:extLst>
                </p:cNvPr>
                <p:cNvCxnSpPr>
                  <a:cxnSpLocks/>
                </p:cNvCxnSpPr>
                <p:nvPr/>
              </p:nvCxnSpPr>
              <p:spPr bwMode="auto">
                <a:xfrm flipV="1">
                  <a:off x="5328493" y="4396211"/>
                  <a:ext cx="0" cy="300410"/>
                </a:xfrm>
                <a:prstGeom prst="line">
                  <a:avLst/>
                </a:prstGeom>
                <a:noFill/>
                <a:ln w="38100" cap="flat" cmpd="sng" algn="ctr">
                  <a:solidFill>
                    <a:schemeClr val="bg1">
                      <a:lumMod val="65000"/>
                    </a:schemeClr>
                  </a:solidFill>
                  <a:prstDash val="solid"/>
                  <a:round/>
                  <a:headEnd type="none" w="med" len="med"/>
                  <a:tailEnd type="none" w="med" len="med"/>
                </a:ln>
                <a:effectLst/>
              </p:spPr>
            </p:cxnSp>
          </p:grpSp>
          <p:grpSp>
            <p:nvGrpSpPr>
              <p:cNvPr id="12" name="Group 11">
                <a:extLst>
                  <a:ext uri="{FF2B5EF4-FFF2-40B4-BE49-F238E27FC236}">
                    <a16:creationId xmlns:a16="http://schemas.microsoft.com/office/drawing/2014/main" id="{AA5B1D61-63B2-457D-98B0-A998E1D1DBE4}"/>
                  </a:ext>
                </a:extLst>
              </p:cNvPr>
              <p:cNvGrpSpPr/>
              <p:nvPr/>
            </p:nvGrpSpPr>
            <p:grpSpPr>
              <a:xfrm>
                <a:off x="4770453" y="4057495"/>
                <a:ext cx="242081" cy="617645"/>
                <a:chOff x="2170724" y="3777397"/>
                <a:chExt cx="425984" cy="1086854"/>
              </a:xfrm>
            </p:grpSpPr>
            <p:cxnSp>
              <p:nvCxnSpPr>
                <p:cNvPr id="21" name="Straight Connector 20">
                  <a:extLst>
                    <a:ext uri="{FF2B5EF4-FFF2-40B4-BE49-F238E27FC236}">
                      <a16:creationId xmlns:a16="http://schemas.microsoft.com/office/drawing/2014/main" id="{18F02FFC-677F-407D-B7D1-A81BEF659A8A}"/>
                    </a:ext>
                  </a:extLst>
                </p:cNvPr>
                <p:cNvCxnSpPr>
                  <a:cxnSpLocks/>
                </p:cNvCxnSpPr>
                <p:nvPr/>
              </p:nvCxnSpPr>
              <p:spPr bwMode="auto">
                <a:xfrm flipV="1">
                  <a:off x="2388675" y="4655539"/>
                  <a:ext cx="0" cy="208712"/>
                </a:xfrm>
                <a:prstGeom prst="line">
                  <a:avLst/>
                </a:prstGeom>
                <a:noFill/>
                <a:ln w="38100" cap="flat" cmpd="sng" algn="ctr">
                  <a:solidFill>
                    <a:srgbClr val="7030A0"/>
                  </a:solidFill>
                  <a:prstDash val="solid"/>
                  <a:round/>
                  <a:headEnd type="none" w="med" len="med"/>
                  <a:tailEnd type="none" w="med" len="med"/>
                </a:ln>
                <a:effectLst/>
              </p:spPr>
            </p:cxnSp>
            <p:cxnSp>
              <p:nvCxnSpPr>
                <p:cNvPr id="22" name="Straight Connector 21">
                  <a:extLst>
                    <a:ext uri="{FF2B5EF4-FFF2-40B4-BE49-F238E27FC236}">
                      <a16:creationId xmlns:a16="http://schemas.microsoft.com/office/drawing/2014/main" id="{DFCD72B1-1C70-4C72-9FD2-99E2DA7AA010}"/>
                    </a:ext>
                  </a:extLst>
                </p:cNvPr>
                <p:cNvCxnSpPr>
                  <a:cxnSpLocks/>
                </p:cNvCxnSpPr>
                <p:nvPr/>
              </p:nvCxnSpPr>
              <p:spPr bwMode="auto">
                <a:xfrm flipV="1">
                  <a:off x="2395736" y="3777397"/>
                  <a:ext cx="0" cy="208712"/>
                </a:xfrm>
                <a:prstGeom prst="line">
                  <a:avLst/>
                </a:prstGeom>
                <a:noFill/>
                <a:ln w="38100" cap="flat" cmpd="sng" algn="ctr">
                  <a:solidFill>
                    <a:srgbClr val="7030A0"/>
                  </a:solidFill>
                  <a:prstDash val="solid"/>
                  <a:round/>
                  <a:headEnd type="none" w="med" len="med"/>
                  <a:tailEnd type="none" w="med" len="med"/>
                </a:ln>
                <a:effectLst/>
              </p:spPr>
            </p:cxnSp>
            <p:cxnSp>
              <p:nvCxnSpPr>
                <p:cNvPr id="23" name="Straight Connector 22">
                  <a:extLst>
                    <a:ext uri="{FF2B5EF4-FFF2-40B4-BE49-F238E27FC236}">
                      <a16:creationId xmlns:a16="http://schemas.microsoft.com/office/drawing/2014/main" id="{36912E7E-AC53-4BBE-9152-D99490BE10A1}"/>
                    </a:ext>
                  </a:extLst>
                </p:cNvPr>
                <p:cNvCxnSpPr>
                  <a:cxnSpLocks/>
                </p:cNvCxnSpPr>
                <p:nvPr/>
              </p:nvCxnSpPr>
              <p:spPr bwMode="auto">
                <a:xfrm flipV="1">
                  <a:off x="2231041" y="4380178"/>
                  <a:ext cx="351369" cy="182966"/>
                </a:xfrm>
                <a:prstGeom prst="line">
                  <a:avLst/>
                </a:prstGeom>
                <a:noFill/>
                <a:ln w="38100" cap="flat" cmpd="sng" algn="ctr">
                  <a:solidFill>
                    <a:srgbClr val="7030A0"/>
                  </a:solidFill>
                  <a:prstDash val="solid"/>
                  <a:round/>
                  <a:headEnd type="none" w="med" len="med"/>
                  <a:tailEnd type="none" w="med" len="med"/>
                </a:ln>
                <a:effectLst/>
              </p:spPr>
            </p:cxnSp>
            <p:cxnSp>
              <p:nvCxnSpPr>
                <p:cNvPr id="24" name="Straight Connector 23">
                  <a:extLst>
                    <a:ext uri="{FF2B5EF4-FFF2-40B4-BE49-F238E27FC236}">
                      <a16:creationId xmlns:a16="http://schemas.microsoft.com/office/drawing/2014/main" id="{FAE74BD2-C4FF-47EB-A0B7-774E3A8760FD}"/>
                    </a:ext>
                  </a:extLst>
                </p:cNvPr>
                <p:cNvCxnSpPr>
                  <a:cxnSpLocks/>
                </p:cNvCxnSpPr>
                <p:nvPr/>
              </p:nvCxnSpPr>
              <p:spPr bwMode="auto">
                <a:xfrm flipV="1">
                  <a:off x="2170724" y="4086183"/>
                  <a:ext cx="374226" cy="171828"/>
                </a:xfrm>
                <a:prstGeom prst="line">
                  <a:avLst/>
                </a:prstGeom>
                <a:noFill/>
                <a:ln w="38100" cap="flat" cmpd="sng" algn="ctr">
                  <a:solidFill>
                    <a:srgbClr val="7030A0"/>
                  </a:solidFill>
                  <a:prstDash val="solid"/>
                  <a:round/>
                  <a:headEnd type="none" w="med" len="med"/>
                  <a:tailEnd type="none" w="med" len="med"/>
                </a:ln>
                <a:effectLst/>
              </p:spPr>
            </p:cxnSp>
            <p:cxnSp>
              <p:nvCxnSpPr>
                <p:cNvPr id="25" name="Straight Connector 24">
                  <a:extLst>
                    <a:ext uri="{FF2B5EF4-FFF2-40B4-BE49-F238E27FC236}">
                      <a16:creationId xmlns:a16="http://schemas.microsoft.com/office/drawing/2014/main" id="{D7CB3AD3-7C90-4B56-884D-DC8004EB9281}"/>
                    </a:ext>
                  </a:extLst>
                </p:cNvPr>
                <p:cNvCxnSpPr>
                  <a:cxnSpLocks/>
                </p:cNvCxnSpPr>
                <p:nvPr/>
              </p:nvCxnSpPr>
              <p:spPr bwMode="auto">
                <a:xfrm>
                  <a:off x="2231040" y="4576928"/>
                  <a:ext cx="167265" cy="85134"/>
                </a:xfrm>
                <a:prstGeom prst="line">
                  <a:avLst/>
                </a:prstGeom>
                <a:noFill/>
                <a:ln w="38100" cap="flat" cmpd="sng" algn="ctr">
                  <a:solidFill>
                    <a:srgbClr val="7030A0"/>
                  </a:solidFill>
                  <a:prstDash val="solid"/>
                  <a:round/>
                  <a:headEnd type="none" w="med" len="med"/>
                  <a:tailEnd type="none" w="med" len="med"/>
                </a:ln>
                <a:effectLst/>
              </p:spPr>
            </p:cxnSp>
            <p:cxnSp>
              <p:nvCxnSpPr>
                <p:cNvPr id="26" name="Straight Connector 25">
                  <a:extLst>
                    <a:ext uri="{FF2B5EF4-FFF2-40B4-BE49-F238E27FC236}">
                      <a16:creationId xmlns:a16="http://schemas.microsoft.com/office/drawing/2014/main" id="{F5949212-F37D-4A68-BEED-0EC3198880A8}"/>
                    </a:ext>
                  </a:extLst>
                </p:cNvPr>
                <p:cNvCxnSpPr>
                  <a:cxnSpLocks/>
                </p:cNvCxnSpPr>
                <p:nvPr/>
              </p:nvCxnSpPr>
              <p:spPr bwMode="auto">
                <a:xfrm>
                  <a:off x="2170724" y="4263959"/>
                  <a:ext cx="425984" cy="119678"/>
                </a:xfrm>
                <a:prstGeom prst="line">
                  <a:avLst/>
                </a:prstGeom>
                <a:noFill/>
                <a:ln w="38100" cap="flat" cmpd="sng" algn="ctr">
                  <a:solidFill>
                    <a:srgbClr val="7030A0"/>
                  </a:solidFill>
                  <a:prstDash val="solid"/>
                  <a:round/>
                  <a:headEnd type="none" w="med" len="med"/>
                  <a:tailEnd type="none" w="med" len="med"/>
                </a:ln>
                <a:effectLst/>
              </p:spPr>
            </p:cxnSp>
            <p:cxnSp>
              <p:nvCxnSpPr>
                <p:cNvPr id="27" name="Straight Connector 26">
                  <a:extLst>
                    <a:ext uri="{FF2B5EF4-FFF2-40B4-BE49-F238E27FC236}">
                      <a16:creationId xmlns:a16="http://schemas.microsoft.com/office/drawing/2014/main" id="{6CF08DD5-D067-4B92-8341-7AE4C8CCCD12}"/>
                    </a:ext>
                  </a:extLst>
                </p:cNvPr>
                <p:cNvCxnSpPr>
                  <a:cxnSpLocks/>
                </p:cNvCxnSpPr>
                <p:nvPr/>
              </p:nvCxnSpPr>
              <p:spPr bwMode="auto">
                <a:xfrm>
                  <a:off x="2377685" y="3987267"/>
                  <a:ext cx="167265" cy="85134"/>
                </a:xfrm>
                <a:prstGeom prst="line">
                  <a:avLst/>
                </a:prstGeom>
                <a:noFill/>
                <a:ln w="38100" cap="flat" cmpd="sng" algn="ctr">
                  <a:solidFill>
                    <a:srgbClr val="7030A0"/>
                  </a:solidFill>
                  <a:prstDash val="solid"/>
                  <a:round/>
                  <a:headEnd type="none" w="med" len="med"/>
                  <a:tailEnd type="none" w="med" len="med"/>
                </a:ln>
                <a:effectLst/>
              </p:spPr>
            </p:cxnSp>
          </p:gr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3292649-6050-45E3-BC36-149C5BB419C0}"/>
                      </a:ext>
                    </a:extLst>
                  </p:cNvPr>
                  <p:cNvSpPr txBox="1"/>
                  <p:nvPr/>
                </p:nvSpPr>
                <p:spPr>
                  <a:xfrm>
                    <a:off x="4893688" y="3929925"/>
                    <a:ext cx="81567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𝑘</m:t>
                              </m:r>
                            </m:e>
                            <m:sub>
                              <m:r>
                                <a:rPr kumimoji="0" lang="en-US" sz="18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t>𝑚𝑒𝑐h</m:t>
                              </m:r>
                            </m:sub>
                          </m:sSub>
                        </m:oMath>
                      </m:oMathPara>
                    </a14:m>
                    <a:endParaRPr kumimoji="0" lang="en-US" sz="1800" b="0" i="0" u="none" strike="noStrike" kern="1200" cap="none" spc="0" normalizeH="0" baseline="0" noProof="0">
                      <a:ln>
                        <a:noFill/>
                      </a:ln>
                      <a:solidFill>
                        <a:srgbClr val="7030A0"/>
                      </a:solidFill>
                      <a:effectLst/>
                      <a:uLnTx/>
                      <a:uFillTx/>
                      <a:latin typeface="Calibri"/>
                      <a:ea typeface="+mn-ea"/>
                      <a:cs typeface="+mn-cs"/>
                    </a:endParaRPr>
                  </a:p>
                </p:txBody>
              </p:sp>
            </mc:Choice>
            <mc:Fallback xmlns="">
              <p:sp>
                <p:nvSpPr>
                  <p:cNvPr id="13" name="TextBox 12">
                    <a:extLst>
                      <a:ext uri="{FF2B5EF4-FFF2-40B4-BE49-F238E27FC236}">
                        <a16:creationId xmlns:a16="http://schemas.microsoft.com/office/drawing/2014/main" id="{F3292649-6050-45E3-BC36-149C5BB419C0}"/>
                      </a:ext>
                    </a:extLst>
                  </p:cNvPr>
                  <p:cNvSpPr txBox="1">
                    <a:spLocks noRot="1" noChangeAspect="1" noMove="1" noResize="1" noEditPoints="1" noAdjustHandles="1" noChangeArrowheads="1" noChangeShapeType="1" noTextEdit="1"/>
                  </p:cNvSpPr>
                  <p:nvPr/>
                </p:nvSpPr>
                <p:spPr>
                  <a:xfrm>
                    <a:off x="4893688" y="3929925"/>
                    <a:ext cx="815673" cy="369332"/>
                  </a:xfrm>
                  <a:prstGeom prst="rect">
                    <a:avLst/>
                  </a:prstGeom>
                  <a:blipFill>
                    <a:blip r:embed="rId3"/>
                    <a:stretch>
                      <a:fillRect/>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E295F7FA-E9BB-49F0-95B1-49ABCB309D6D}"/>
                  </a:ext>
                </a:extLst>
              </p:cNvPr>
              <p:cNvSpPr txBox="1"/>
              <p:nvPr/>
            </p:nvSpPr>
            <p:spPr>
              <a:xfrm>
                <a:off x="1562262" y="3975077"/>
                <a:ext cx="79970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A6A6A6"/>
                    </a:solidFill>
                    <a:effectLst/>
                    <a:uLnTx/>
                    <a:uFillTx/>
                    <a:latin typeface="Calibri"/>
                    <a:ea typeface="+mn-ea"/>
                    <a:cs typeface="+mn-cs"/>
                  </a:rPr>
                  <a:t>Joint 6</a:t>
                </a:r>
              </a:p>
            </p:txBody>
          </p:sp>
          <p:grpSp>
            <p:nvGrpSpPr>
              <p:cNvPr id="15" name="Group 14">
                <a:extLst>
                  <a:ext uri="{FF2B5EF4-FFF2-40B4-BE49-F238E27FC236}">
                    <a16:creationId xmlns:a16="http://schemas.microsoft.com/office/drawing/2014/main" id="{FDD18E07-2ED8-4C1A-8010-2AE752D12A3D}"/>
                  </a:ext>
                </a:extLst>
              </p:cNvPr>
              <p:cNvGrpSpPr/>
              <p:nvPr/>
            </p:nvGrpSpPr>
            <p:grpSpPr>
              <a:xfrm>
                <a:off x="7656436" y="3718711"/>
                <a:ext cx="1426481" cy="369332"/>
                <a:chOff x="7889618" y="3407719"/>
                <a:chExt cx="1426481" cy="369332"/>
              </a:xfrm>
            </p:grpSpPr>
            <p:cxnSp>
              <p:nvCxnSpPr>
                <p:cNvPr id="19" name="Straight Arrow Connector 18">
                  <a:extLst>
                    <a:ext uri="{FF2B5EF4-FFF2-40B4-BE49-F238E27FC236}">
                      <a16:creationId xmlns:a16="http://schemas.microsoft.com/office/drawing/2014/main" id="{E61E6455-2655-467D-BA82-457D2008DEFB}"/>
                    </a:ext>
                  </a:extLst>
                </p:cNvPr>
                <p:cNvCxnSpPr/>
                <p:nvPr/>
              </p:nvCxnSpPr>
              <p:spPr bwMode="auto">
                <a:xfrm>
                  <a:off x="8005765" y="3746503"/>
                  <a:ext cx="1250894" cy="0"/>
                </a:xfrm>
                <a:prstGeom prst="straightConnector1">
                  <a:avLst/>
                </a:prstGeom>
                <a:noFill/>
                <a:ln w="25400" cap="flat" cmpd="sng" algn="ctr">
                  <a:solidFill>
                    <a:srgbClr val="FFC000"/>
                  </a:solidFill>
                  <a:prstDash val="dash"/>
                  <a:round/>
                  <a:headEnd type="none" w="med" len="med"/>
                  <a:tailEnd type="triangle"/>
                </a:ln>
                <a:effectLst/>
              </p:spPr>
            </p:cxnSp>
            <p:sp>
              <p:nvSpPr>
                <p:cNvPr id="20" name="TextBox 19">
                  <a:extLst>
                    <a:ext uri="{FF2B5EF4-FFF2-40B4-BE49-F238E27FC236}">
                      <a16:creationId xmlns:a16="http://schemas.microsoft.com/office/drawing/2014/main" id="{10D61375-FEF0-402A-A938-DFF3A6A04C42}"/>
                    </a:ext>
                  </a:extLst>
                </p:cNvPr>
                <p:cNvSpPr txBox="1"/>
                <p:nvPr/>
              </p:nvSpPr>
              <p:spPr>
                <a:xfrm>
                  <a:off x="7889618" y="3407719"/>
                  <a:ext cx="14264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C000"/>
                      </a:solidFill>
                      <a:effectLst/>
                      <a:uLnTx/>
                      <a:uFillTx/>
                      <a:latin typeface="Calibri"/>
                      <a:ea typeface="+mn-ea"/>
                      <a:cs typeface="+mn-cs"/>
                    </a:rPr>
                    <a:t>Insertion axis</a:t>
                  </a:r>
                </a:p>
              </p:txBody>
            </p:sp>
          </p:grpSp>
          <p:grpSp>
            <p:nvGrpSpPr>
              <p:cNvPr id="16" name="Group 15">
                <a:extLst>
                  <a:ext uri="{FF2B5EF4-FFF2-40B4-BE49-F238E27FC236}">
                    <a16:creationId xmlns:a16="http://schemas.microsoft.com/office/drawing/2014/main" id="{65C1E201-AC25-40CC-9690-7A7BD98D6D0A}"/>
                  </a:ext>
                </a:extLst>
              </p:cNvPr>
              <p:cNvGrpSpPr/>
              <p:nvPr/>
            </p:nvGrpSpPr>
            <p:grpSpPr>
              <a:xfrm>
                <a:off x="9181419" y="4152058"/>
                <a:ext cx="1874744" cy="692022"/>
                <a:chOff x="7691420" y="3174702"/>
                <a:chExt cx="1874744" cy="692022"/>
              </a:xfrm>
            </p:grpSpPr>
            <p:cxnSp>
              <p:nvCxnSpPr>
                <p:cNvPr id="17" name="Straight Arrow Connector 16">
                  <a:extLst>
                    <a:ext uri="{FF2B5EF4-FFF2-40B4-BE49-F238E27FC236}">
                      <a16:creationId xmlns:a16="http://schemas.microsoft.com/office/drawing/2014/main" id="{ABF64581-4FD6-4E7F-BD09-3A98F03A1A9E}"/>
                    </a:ext>
                  </a:extLst>
                </p:cNvPr>
                <p:cNvCxnSpPr>
                  <a:cxnSpLocks/>
                </p:cNvCxnSpPr>
                <p:nvPr/>
              </p:nvCxnSpPr>
              <p:spPr bwMode="auto">
                <a:xfrm>
                  <a:off x="7693745" y="3174702"/>
                  <a:ext cx="0" cy="610222"/>
                </a:xfrm>
                <a:prstGeom prst="straightConnector1">
                  <a:avLst/>
                </a:prstGeom>
                <a:noFill/>
                <a:ln w="25400" cap="flat" cmpd="sng" algn="ctr">
                  <a:solidFill>
                    <a:srgbClr val="873624"/>
                  </a:solidFill>
                  <a:prstDash val="dash"/>
                  <a:round/>
                  <a:headEnd type="none" w="med" len="med"/>
                  <a:tailEnd type="triangle"/>
                </a:ln>
                <a:effectLst/>
              </p:spPr>
            </p:cxnSp>
            <p:sp>
              <p:nvSpPr>
                <p:cNvPr id="18" name="TextBox 17">
                  <a:extLst>
                    <a:ext uri="{FF2B5EF4-FFF2-40B4-BE49-F238E27FC236}">
                      <a16:creationId xmlns:a16="http://schemas.microsoft.com/office/drawing/2014/main" id="{8C82F222-C7C0-4976-873A-A1107D17BBA5}"/>
                    </a:ext>
                  </a:extLst>
                </p:cNvPr>
                <p:cNvSpPr txBox="1"/>
                <p:nvPr/>
              </p:nvSpPr>
              <p:spPr>
                <a:xfrm>
                  <a:off x="7691420" y="3220393"/>
                  <a:ext cx="1874744"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873624"/>
                      </a:solidFill>
                      <a:effectLst/>
                      <a:uLnTx/>
                      <a:uFillTx/>
                      <a:latin typeface="Calibri"/>
                      <a:ea typeface="+mn-ea"/>
                      <a:cs typeface="+mn-cs"/>
                    </a:rPr>
                    <a:t>Deflection axis</a:t>
                  </a:r>
                  <a:br>
                    <a:rPr kumimoji="0" lang="en-US" sz="1800" b="0" i="0" u="none" strike="noStrike" kern="1200" cap="none" spc="0" normalizeH="0" baseline="0" noProof="0">
                      <a:ln>
                        <a:noFill/>
                      </a:ln>
                      <a:solidFill>
                        <a:srgbClr val="873624"/>
                      </a:solidFill>
                      <a:effectLst/>
                      <a:uLnTx/>
                      <a:uFillTx/>
                      <a:latin typeface="Calibri"/>
                      <a:ea typeface="+mn-ea"/>
                      <a:cs typeface="+mn-cs"/>
                    </a:rPr>
                  </a:br>
                  <a:r>
                    <a:rPr kumimoji="0" lang="en-US" sz="1800" b="0" i="0" u="none" strike="noStrike" kern="1200" cap="none" spc="0" normalizeH="0" baseline="0" noProof="0">
                      <a:ln>
                        <a:noFill/>
                      </a:ln>
                      <a:solidFill>
                        <a:srgbClr val="873624"/>
                      </a:solidFill>
                      <a:effectLst/>
                      <a:uLnTx/>
                      <a:uFillTx/>
                      <a:latin typeface="Calibri"/>
                      <a:ea typeface="+mn-ea"/>
                      <a:cs typeface="+mn-cs"/>
                    </a:rPr>
                    <a:t>(tool frame Y axis)</a:t>
                  </a:r>
                </a:p>
              </p:txBody>
            </p:sp>
          </p:grpSp>
        </p:gr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05B4A29-17EA-4AFE-BDFC-7B3E689FDD5A}"/>
                    </a:ext>
                  </a:extLst>
                </p:cNvPr>
                <p:cNvSpPr txBox="1"/>
                <p:nvPr/>
              </p:nvSpPr>
              <p:spPr>
                <a:xfrm>
                  <a:off x="971886" y="5161938"/>
                  <a:ext cx="57143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dirty="0" smtClean="0">
                            <a:ln>
                              <a:noFill/>
                            </a:ln>
                            <a:solidFill>
                              <a:srgbClr val="873624"/>
                            </a:solidFill>
                            <a:effectLst/>
                            <a:uLnTx/>
                            <a:uFillTx/>
                            <a:latin typeface="Cambria Math" panose="02040503050406030204" pitchFamily="18" charset="0"/>
                            <a:ea typeface="+mn-ea"/>
                            <a:cs typeface="+mn-cs"/>
                          </a:rPr>
                          <m:t>𝜃</m:t>
                        </m:r>
                        <m:r>
                          <a:rPr kumimoji="0" lang="en-US" sz="1800" b="0" i="1" u="none" strike="noStrike" kern="1200" cap="none" spc="0" normalizeH="0" baseline="0" noProof="0" dirty="0" smtClean="0">
                            <a:ln>
                              <a:noFill/>
                            </a:ln>
                            <a:solidFill>
                              <a:srgbClr val="873624"/>
                            </a:solidFill>
                            <a:effectLst/>
                            <a:uLnTx/>
                            <a:uFillTx/>
                            <a:latin typeface="Cambria Math" panose="02040503050406030204" pitchFamily="18" charset="0"/>
                            <a:ea typeface="+mn-ea"/>
                            <a:cs typeface="+mn-cs"/>
                          </a:rPr>
                          <m:t>, </m:t>
                        </m:r>
                        <m:r>
                          <a:rPr kumimoji="0" lang="en-US" sz="1800" b="0" i="1" u="none" strike="noStrike" kern="1200" cap="none" spc="0" normalizeH="0" baseline="0" noProof="0" dirty="0" smtClean="0">
                            <a:ln>
                              <a:noFill/>
                            </a:ln>
                            <a:solidFill>
                              <a:srgbClr val="873624"/>
                            </a:solidFill>
                            <a:effectLst/>
                            <a:uLnTx/>
                            <a:uFillTx/>
                            <a:latin typeface="Cambria Math" panose="02040503050406030204" pitchFamily="18" charset="0"/>
                            <a:ea typeface="+mn-ea"/>
                            <a:cs typeface="+mn-cs"/>
                          </a:rPr>
                          <m:t>𝜏</m:t>
                        </m:r>
                      </m:oMath>
                    </m:oMathPara>
                  </a14:m>
                  <a:endParaRPr kumimoji="0" lang="en-US" sz="1800" b="0" i="0" u="none" strike="noStrike" kern="1200" cap="none" spc="0" normalizeH="0" baseline="0" noProof="0">
                    <a:ln>
                      <a:noFill/>
                    </a:ln>
                    <a:solidFill>
                      <a:srgbClr val="873624"/>
                    </a:solidFill>
                    <a:effectLst/>
                    <a:uLnTx/>
                    <a:uFillTx/>
                    <a:latin typeface="Calibri"/>
                    <a:ea typeface="+mn-ea"/>
                    <a:cs typeface="+mn-cs"/>
                  </a:endParaRPr>
                </a:p>
              </p:txBody>
            </p:sp>
          </mc:Choice>
          <mc:Fallback xmlns="">
            <p:sp>
              <p:nvSpPr>
                <p:cNvPr id="37" name="TextBox 36">
                  <a:extLst>
                    <a:ext uri="{FF2B5EF4-FFF2-40B4-BE49-F238E27FC236}">
                      <a16:creationId xmlns:a16="http://schemas.microsoft.com/office/drawing/2014/main" id="{E05B4A29-17EA-4AFE-BDFC-7B3E689FDD5A}"/>
                    </a:ext>
                  </a:extLst>
                </p:cNvPr>
                <p:cNvSpPr txBox="1">
                  <a:spLocks noRot="1" noChangeAspect="1" noMove="1" noResize="1" noEditPoints="1" noAdjustHandles="1" noChangeArrowheads="1" noChangeShapeType="1" noTextEdit="1"/>
                </p:cNvSpPr>
                <p:nvPr/>
              </p:nvSpPr>
              <p:spPr>
                <a:xfrm>
                  <a:off x="971886" y="5161938"/>
                  <a:ext cx="571438" cy="369332"/>
                </a:xfrm>
                <a:prstGeom prst="rect">
                  <a:avLst/>
                </a:prstGeom>
                <a:blipFill>
                  <a:blip r:embed="rId4"/>
                  <a:stretch>
                    <a:fillRect/>
                  </a:stretch>
                </a:blipFill>
              </p:spPr>
              <p:txBody>
                <a:bodyPr/>
                <a:lstStyle/>
                <a:p>
                  <a:r>
                    <a:rPr lang="en-US">
                      <a:noFill/>
                    </a:rPr>
                    <a:t> </a:t>
                  </a:r>
                </a:p>
              </p:txBody>
            </p:sp>
          </mc:Fallback>
        </mc:AlternateContent>
        <p:grpSp>
          <p:nvGrpSpPr>
            <p:cNvPr id="38" name="Group 37">
              <a:extLst>
                <a:ext uri="{FF2B5EF4-FFF2-40B4-BE49-F238E27FC236}">
                  <a16:creationId xmlns:a16="http://schemas.microsoft.com/office/drawing/2014/main" id="{2BAF89DC-6380-4136-831F-CAE5A61E6AA3}"/>
                </a:ext>
              </a:extLst>
            </p:cNvPr>
            <p:cNvGrpSpPr/>
            <p:nvPr/>
          </p:nvGrpSpPr>
          <p:grpSpPr>
            <a:xfrm>
              <a:off x="1821887" y="5679828"/>
              <a:ext cx="6916655" cy="250312"/>
              <a:chOff x="1213466" y="2884210"/>
              <a:chExt cx="6916655" cy="250312"/>
            </a:xfrm>
          </p:grpSpPr>
          <p:cxnSp>
            <p:nvCxnSpPr>
              <p:cNvPr id="39" name="Straight Connector 38">
                <a:extLst>
                  <a:ext uri="{FF2B5EF4-FFF2-40B4-BE49-F238E27FC236}">
                    <a16:creationId xmlns:a16="http://schemas.microsoft.com/office/drawing/2014/main" id="{D66C3F06-4C75-4265-9B31-D835F33BEFC8}"/>
                  </a:ext>
                </a:extLst>
              </p:cNvPr>
              <p:cNvCxnSpPr/>
              <p:nvPr/>
            </p:nvCxnSpPr>
            <p:spPr bwMode="auto">
              <a:xfrm>
                <a:off x="1213466" y="2935740"/>
                <a:ext cx="0" cy="198782"/>
              </a:xfrm>
              <a:prstGeom prst="line">
                <a:avLst/>
              </a:prstGeom>
              <a:noFill/>
              <a:ln w="25400" cap="flat" cmpd="sng" algn="ctr">
                <a:solidFill>
                  <a:schemeClr val="tx1"/>
                </a:solidFill>
                <a:prstDash val="solid"/>
                <a:round/>
                <a:headEnd type="none" w="med" len="med"/>
                <a:tailEnd type="none" w="med" len="med"/>
              </a:ln>
              <a:effectLst/>
            </p:spPr>
          </p:cxnSp>
          <p:cxnSp>
            <p:nvCxnSpPr>
              <p:cNvPr id="40" name="Straight Connector 39">
                <a:extLst>
                  <a:ext uri="{FF2B5EF4-FFF2-40B4-BE49-F238E27FC236}">
                    <a16:creationId xmlns:a16="http://schemas.microsoft.com/office/drawing/2014/main" id="{8315FE33-B282-4D80-B03F-E0397B91C70D}"/>
                  </a:ext>
                </a:extLst>
              </p:cNvPr>
              <p:cNvCxnSpPr>
                <a:cxnSpLocks/>
              </p:cNvCxnSpPr>
              <p:nvPr/>
            </p:nvCxnSpPr>
            <p:spPr bwMode="auto">
              <a:xfrm flipV="1">
                <a:off x="1213466" y="2983601"/>
                <a:ext cx="6906084" cy="51530"/>
              </a:xfrm>
              <a:prstGeom prst="line">
                <a:avLst/>
              </a:prstGeom>
              <a:noFill/>
              <a:ln w="25400" cap="flat" cmpd="sng" algn="ctr">
                <a:solidFill>
                  <a:schemeClr val="tx1"/>
                </a:solidFill>
                <a:prstDash val="sysDot"/>
                <a:round/>
                <a:headEnd type="none" w="med" len="med"/>
                <a:tailEnd type="none" w="med" len="med"/>
              </a:ln>
              <a:effectLst/>
            </p:spPr>
          </p:cxnSp>
          <p:cxnSp>
            <p:nvCxnSpPr>
              <p:cNvPr id="41" name="Straight Connector 40">
                <a:extLst>
                  <a:ext uri="{FF2B5EF4-FFF2-40B4-BE49-F238E27FC236}">
                    <a16:creationId xmlns:a16="http://schemas.microsoft.com/office/drawing/2014/main" id="{636E2485-4F68-4210-9633-D4169D8E3E86}"/>
                  </a:ext>
                </a:extLst>
              </p:cNvPr>
              <p:cNvCxnSpPr/>
              <p:nvPr/>
            </p:nvCxnSpPr>
            <p:spPr bwMode="auto">
              <a:xfrm>
                <a:off x="8130121" y="2884210"/>
                <a:ext cx="0" cy="198782"/>
              </a:xfrm>
              <a:prstGeom prst="line">
                <a:avLst/>
              </a:prstGeom>
              <a:noFill/>
              <a:ln w="25400" cap="flat" cmpd="sng" algn="ctr">
                <a:solidFill>
                  <a:schemeClr val="tx1"/>
                </a:solidFill>
                <a:prstDash val="solid"/>
                <a:round/>
                <a:headEnd type="none" w="med" len="med"/>
                <a:tailEnd type="none" w="med" len="med"/>
              </a:ln>
              <a:effectLst/>
            </p:spPr>
          </p:cxnSp>
        </p:grpSp>
        <p:sp>
          <p:nvSpPr>
            <p:cNvPr id="42" name="TextBox 41">
              <a:extLst>
                <a:ext uri="{FF2B5EF4-FFF2-40B4-BE49-F238E27FC236}">
                  <a16:creationId xmlns:a16="http://schemas.microsoft.com/office/drawing/2014/main" id="{BA83A2EB-5EFE-4E08-AB24-9FC104FAAA2C}"/>
                </a:ext>
              </a:extLst>
            </p:cNvPr>
            <p:cNvSpPr txBox="1"/>
            <p:nvPr/>
          </p:nvSpPr>
          <p:spPr>
            <a:xfrm>
              <a:off x="2823767" y="5501604"/>
              <a:ext cx="1744645"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a:ea typeface="+mn-ea"/>
                  <a:cs typeface="+mn-cs"/>
                </a:rPr>
                <a:t>Joint 6 -&gt; EE radius</a:t>
              </a:r>
            </a:p>
          </p:txBody>
        </p:sp>
        <p:cxnSp>
          <p:nvCxnSpPr>
            <p:cNvPr id="43" name="Straight Arrow Connector 42">
              <a:extLst>
                <a:ext uri="{FF2B5EF4-FFF2-40B4-BE49-F238E27FC236}">
                  <a16:creationId xmlns:a16="http://schemas.microsoft.com/office/drawing/2014/main" id="{6BB51D1E-DD52-4C4B-B35B-F359BC2CA81A}"/>
                </a:ext>
              </a:extLst>
            </p:cNvPr>
            <p:cNvCxnSpPr/>
            <p:nvPr/>
          </p:nvCxnSpPr>
          <p:spPr bwMode="auto">
            <a:xfrm>
              <a:off x="1338465" y="4899692"/>
              <a:ext cx="1250894" cy="0"/>
            </a:xfrm>
            <a:prstGeom prst="straightConnector1">
              <a:avLst/>
            </a:prstGeom>
            <a:noFill/>
            <a:ln w="38100" cap="flat" cmpd="sng" algn="ctr">
              <a:solidFill>
                <a:srgbClr val="FFC000"/>
              </a:solidFill>
              <a:prstDash val="dash"/>
              <a:round/>
              <a:headEnd type="none" w="med" len="med"/>
              <a:tailEnd type="triangle"/>
            </a:ln>
            <a:effectLst/>
          </p:spPr>
        </p:cxnSp>
        <p:sp>
          <p:nvSpPr>
            <p:cNvPr id="44" name="TextBox 43">
              <a:extLst>
                <a:ext uri="{FF2B5EF4-FFF2-40B4-BE49-F238E27FC236}">
                  <a16:creationId xmlns:a16="http://schemas.microsoft.com/office/drawing/2014/main" id="{9FF366AF-1EB6-443B-A6B4-DC112647B5EB}"/>
                </a:ext>
              </a:extLst>
            </p:cNvPr>
            <p:cNvSpPr txBox="1"/>
            <p:nvPr/>
          </p:nvSpPr>
          <p:spPr>
            <a:xfrm>
              <a:off x="1084090" y="4568216"/>
              <a:ext cx="1620572"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C000"/>
                  </a:solidFill>
                  <a:effectLst/>
                  <a:uLnTx/>
                  <a:uFillTx/>
                  <a:latin typeface="Calibri"/>
                  <a:ea typeface="+mn-ea"/>
                  <a:cs typeface="+mn-cs"/>
                </a:rPr>
                <a:t>Insertion velocity</a:t>
              </a:r>
            </a:p>
          </p:txBody>
        </p:sp>
        <p:sp>
          <p:nvSpPr>
            <p:cNvPr id="45" name="TextBox 44">
              <a:extLst>
                <a:ext uri="{FF2B5EF4-FFF2-40B4-BE49-F238E27FC236}">
                  <a16:creationId xmlns:a16="http://schemas.microsoft.com/office/drawing/2014/main" id="{118CB4E2-1922-416D-BCF6-289187192F5B}"/>
                </a:ext>
              </a:extLst>
            </p:cNvPr>
            <p:cNvSpPr txBox="1"/>
            <p:nvPr/>
          </p:nvSpPr>
          <p:spPr>
            <a:xfrm>
              <a:off x="-439790" y="5470843"/>
              <a:ext cx="2115784" cy="338554"/>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873624"/>
                  </a:solidFill>
                  <a:effectLst/>
                  <a:uLnTx/>
                  <a:uFillTx/>
                  <a:latin typeface="Calibri"/>
                  <a:ea typeface="+mn-ea"/>
                  <a:cs typeface="+mn-cs"/>
                </a:rPr>
                <a:t>Deflection response</a:t>
              </a:r>
            </a:p>
          </p:txBody>
        </p:sp>
        <p:sp>
          <p:nvSpPr>
            <p:cNvPr id="47" name="TextBox 46">
              <a:extLst>
                <a:ext uri="{FF2B5EF4-FFF2-40B4-BE49-F238E27FC236}">
                  <a16:creationId xmlns:a16="http://schemas.microsoft.com/office/drawing/2014/main" id="{06363AAD-4851-4CCE-9C34-D3D03A560F85}"/>
                </a:ext>
              </a:extLst>
            </p:cNvPr>
            <p:cNvSpPr txBox="1"/>
            <p:nvPr/>
          </p:nvSpPr>
          <p:spPr>
            <a:xfrm>
              <a:off x="8150543" y="5397988"/>
              <a:ext cx="129484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D4745E"/>
                  </a:solidFill>
                  <a:effectLst/>
                  <a:uLnTx/>
                  <a:uFillTx/>
                  <a:latin typeface="Calibri"/>
                  <a:ea typeface="+mn-ea"/>
                  <a:cs typeface="+mn-cs"/>
                </a:rPr>
                <a:t>OS Chamfer</a:t>
              </a:r>
            </a:p>
          </p:txBody>
        </p:sp>
      </p:grpSp>
      <p:pic>
        <p:nvPicPr>
          <p:cNvPr id="49" name="Picture 48">
            <a:extLst>
              <a:ext uri="{FF2B5EF4-FFF2-40B4-BE49-F238E27FC236}">
                <a16:creationId xmlns:a16="http://schemas.microsoft.com/office/drawing/2014/main" id="{F9DB905C-A16E-4C23-AE54-C9C3B623BB32}"/>
              </a:ext>
            </a:extLst>
          </p:cNvPr>
          <p:cNvPicPr>
            <a:picLocks noChangeAspect="1"/>
          </p:cNvPicPr>
          <p:nvPr/>
        </p:nvPicPr>
        <p:blipFill>
          <a:blip r:embed="rId5"/>
          <a:stretch>
            <a:fillRect/>
          </a:stretch>
        </p:blipFill>
        <p:spPr>
          <a:xfrm>
            <a:off x="7038083" y="978012"/>
            <a:ext cx="5100211" cy="1883731"/>
          </a:xfrm>
          <a:prstGeom prst="rect">
            <a:avLst/>
          </a:prstGeom>
        </p:spPr>
      </p:pic>
      <p:sp>
        <p:nvSpPr>
          <p:cNvPr id="50" name="TextBox 49">
            <a:extLst>
              <a:ext uri="{FF2B5EF4-FFF2-40B4-BE49-F238E27FC236}">
                <a16:creationId xmlns:a16="http://schemas.microsoft.com/office/drawing/2014/main" id="{06713102-F4E6-442E-B2E8-B482AB3C18C8}"/>
              </a:ext>
            </a:extLst>
          </p:cNvPr>
          <p:cNvSpPr txBox="1"/>
          <p:nvPr/>
        </p:nvSpPr>
        <p:spPr>
          <a:xfrm>
            <a:off x="7582176" y="2814192"/>
            <a:ext cx="4414542"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a:ea typeface="+mn-ea"/>
                <a:cs typeface="+mn-cs"/>
              </a:rPr>
              <a:t>JPLCAMS Simulink Model of Single-DoF Active Compliance</a:t>
            </a:r>
          </a:p>
        </p:txBody>
      </p:sp>
      <p:pic>
        <p:nvPicPr>
          <p:cNvPr id="51" name="Picture 50">
            <a:extLst>
              <a:ext uri="{FF2B5EF4-FFF2-40B4-BE49-F238E27FC236}">
                <a16:creationId xmlns:a16="http://schemas.microsoft.com/office/drawing/2014/main" id="{F7CB1482-CDE6-4424-9AB1-1E55EF5E72F2}"/>
              </a:ext>
            </a:extLst>
          </p:cNvPr>
          <p:cNvPicPr>
            <a:picLocks noChangeAspect="1"/>
          </p:cNvPicPr>
          <p:nvPr/>
        </p:nvPicPr>
        <p:blipFill rotWithShape="1">
          <a:blip r:embed="rId6"/>
          <a:srcRect t="8149"/>
          <a:stretch/>
        </p:blipFill>
        <p:spPr>
          <a:xfrm>
            <a:off x="8434764" y="3513834"/>
            <a:ext cx="3662025" cy="2051404"/>
          </a:xfrm>
          <a:prstGeom prst="rect">
            <a:avLst/>
          </a:prstGeom>
        </p:spPr>
      </p:pic>
      <p:cxnSp>
        <p:nvCxnSpPr>
          <p:cNvPr id="53" name="Straight Connector 52">
            <a:extLst>
              <a:ext uri="{FF2B5EF4-FFF2-40B4-BE49-F238E27FC236}">
                <a16:creationId xmlns:a16="http://schemas.microsoft.com/office/drawing/2014/main" id="{1040AC0E-810D-4943-9B32-B0F64F878AAA}"/>
              </a:ext>
            </a:extLst>
          </p:cNvPr>
          <p:cNvCxnSpPr>
            <a:cxnSpLocks/>
          </p:cNvCxnSpPr>
          <p:nvPr/>
        </p:nvCxnSpPr>
        <p:spPr bwMode="auto">
          <a:xfrm flipV="1">
            <a:off x="10039589" y="4731298"/>
            <a:ext cx="928369" cy="594713"/>
          </a:xfrm>
          <a:prstGeom prst="line">
            <a:avLst/>
          </a:prstGeom>
          <a:noFill/>
          <a:ln w="25400" cap="flat" cmpd="sng" algn="ctr">
            <a:solidFill>
              <a:schemeClr val="tx1"/>
            </a:solidFill>
            <a:prstDash val="sysDot"/>
            <a:round/>
            <a:headEnd type="none" w="med" len="med"/>
            <a:tailEnd type="none" w="med" len="med"/>
          </a:ln>
          <a:effectLst/>
        </p:spPr>
      </p:cxnSp>
      <p:cxnSp>
        <p:nvCxnSpPr>
          <p:cNvPr id="57" name="Straight Connector 56">
            <a:extLst>
              <a:ext uri="{FF2B5EF4-FFF2-40B4-BE49-F238E27FC236}">
                <a16:creationId xmlns:a16="http://schemas.microsoft.com/office/drawing/2014/main" id="{4FE92651-BA01-42F2-9248-CD9F4C6F74E5}"/>
              </a:ext>
            </a:extLst>
          </p:cNvPr>
          <p:cNvCxnSpPr>
            <a:cxnSpLocks/>
          </p:cNvCxnSpPr>
          <p:nvPr/>
        </p:nvCxnSpPr>
        <p:spPr bwMode="auto">
          <a:xfrm>
            <a:off x="9980149" y="4653613"/>
            <a:ext cx="59440" cy="747425"/>
          </a:xfrm>
          <a:prstGeom prst="line">
            <a:avLst/>
          </a:prstGeom>
          <a:noFill/>
          <a:ln w="25400" cap="flat" cmpd="sng" algn="ctr">
            <a:solidFill>
              <a:schemeClr val="tx1"/>
            </a:solidFill>
            <a:prstDash val="solid"/>
            <a:round/>
            <a:headEnd type="none" w="med" len="med"/>
            <a:tailEnd type="none" w="med" len="med"/>
          </a:ln>
          <a:effectLst/>
        </p:spPr>
      </p:cxnSp>
      <p:cxnSp>
        <p:nvCxnSpPr>
          <p:cNvPr id="60" name="Straight Connector 59">
            <a:extLst>
              <a:ext uri="{FF2B5EF4-FFF2-40B4-BE49-F238E27FC236}">
                <a16:creationId xmlns:a16="http://schemas.microsoft.com/office/drawing/2014/main" id="{18FE2F09-A53F-4942-8C9D-9DB6B3E37173}"/>
              </a:ext>
            </a:extLst>
          </p:cNvPr>
          <p:cNvCxnSpPr>
            <a:cxnSpLocks/>
          </p:cNvCxnSpPr>
          <p:nvPr/>
        </p:nvCxnSpPr>
        <p:spPr bwMode="auto">
          <a:xfrm>
            <a:off x="10931890" y="4357585"/>
            <a:ext cx="36068" cy="500192"/>
          </a:xfrm>
          <a:prstGeom prst="line">
            <a:avLst/>
          </a:prstGeom>
          <a:noFill/>
          <a:ln w="25400" cap="flat" cmpd="sng" algn="ctr">
            <a:solidFill>
              <a:schemeClr val="tx1"/>
            </a:solidFill>
            <a:prstDash val="solid"/>
            <a:round/>
            <a:headEnd type="none" w="med" len="med"/>
            <a:tailEnd type="none" w="med" len="med"/>
          </a:ln>
          <a:effectLst/>
        </p:spPr>
      </p:cxnSp>
      <p:sp>
        <p:nvSpPr>
          <p:cNvPr id="52" name="Oval 51">
            <a:extLst>
              <a:ext uri="{FF2B5EF4-FFF2-40B4-BE49-F238E27FC236}">
                <a16:creationId xmlns:a16="http://schemas.microsoft.com/office/drawing/2014/main" id="{4D919FA4-ACF4-488A-BE09-13AAF6C7BA61}"/>
              </a:ext>
            </a:extLst>
          </p:cNvPr>
          <p:cNvSpPr/>
          <p:nvPr/>
        </p:nvSpPr>
        <p:spPr bwMode="auto">
          <a:xfrm rot="20410052">
            <a:off x="9648408" y="4040833"/>
            <a:ext cx="1848684" cy="930341"/>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Narrow" pitchFamily="34" charset="0"/>
              <a:ea typeface="+mn-ea"/>
              <a:cs typeface="+mn-cs"/>
            </a:endParaRPr>
          </a:p>
        </p:txBody>
      </p:sp>
      <p:sp>
        <p:nvSpPr>
          <p:cNvPr id="62" name="TextBox 61">
            <a:extLst>
              <a:ext uri="{FF2B5EF4-FFF2-40B4-BE49-F238E27FC236}">
                <a16:creationId xmlns:a16="http://schemas.microsoft.com/office/drawing/2014/main" id="{23E65FD7-9665-43D0-9964-EA0CC173AE52}"/>
              </a:ext>
            </a:extLst>
          </p:cNvPr>
          <p:cNvSpPr txBox="1"/>
          <p:nvPr/>
        </p:nvSpPr>
        <p:spPr>
          <a:xfrm rot="19754238">
            <a:off x="9826215" y="5070660"/>
            <a:ext cx="1355115"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Joint 6 -&gt; EE radius</a:t>
            </a:r>
          </a:p>
        </p:txBody>
      </p:sp>
      <p:sp>
        <p:nvSpPr>
          <p:cNvPr id="64" name="Arc 63">
            <a:extLst>
              <a:ext uri="{FF2B5EF4-FFF2-40B4-BE49-F238E27FC236}">
                <a16:creationId xmlns:a16="http://schemas.microsoft.com/office/drawing/2014/main" id="{290ED741-F8C1-4984-8196-3C58B83A0F7E}"/>
              </a:ext>
            </a:extLst>
          </p:cNvPr>
          <p:cNvSpPr/>
          <p:nvPr/>
        </p:nvSpPr>
        <p:spPr bwMode="auto">
          <a:xfrm>
            <a:off x="8549447" y="4191799"/>
            <a:ext cx="2749579" cy="1753388"/>
          </a:xfrm>
          <a:prstGeom prst="arc">
            <a:avLst>
              <a:gd name="adj1" fmla="val 20641808"/>
              <a:gd name="adj2" fmla="val 4178208"/>
            </a:avLst>
          </a:prstGeom>
          <a:noFill/>
          <a:ln w="38100" cap="flat" cmpd="sng" algn="ctr">
            <a:solidFill>
              <a:srgbClr val="FF0000"/>
            </a:solidFill>
            <a:prstDash val="solid"/>
            <a:round/>
            <a:headEnd type="none" w="med" len="med"/>
            <a:tailEnd type="triangl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5" name="TextBox 64">
            <a:extLst>
              <a:ext uri="{FF2B5EF4-FFF2-40B4-BE49-F238E27FC236}">
                <a16:creationId xmlns:a16="http://schemas.microsoft.com/office/drawing/2014/main" id="{E21F5CA7-2426-40F6-9B0B-37A5C336775D}"/>
              </a:ext>
            </a:extLst>
          </p:cNvPr>
          <p:cNvSpPr txBox="1"/>
          <p:nvPr/>
        </p:nvSpPr>
        <p:spPr>
          <a:xfrm>
            <a:off x="3738985" y="5456552"/>
            <a:ext cx="421525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a:ea typeface="+mn-ea"/>
                <a:cs typeface="+mn-cs"/>
              </a:rPr>
              <a:t>Single-DoF abstraction of active compliance control law</a:t>
            </a:r>
          </a:p>
        </p:txBody>
      </p:sp>
      <p:sp>
        <p:nvSpPr>
          <p:cNvPr id="66" name="TextBox 65">
            <a:extLst>
              <a:ext uri="{FF2B5EF4-FFF2-40B4-BE49-F238E27FC236}">
                <a16:creationId xmlns:a16="http://schemas.microsoft.com/office/drawing/2014/main" id="{9516825E-800D-42DF-B1CE-9E5CFD88CC4C}"/>
              </a:ext>
            </a:extLst>
          </p:cNvPr>
          <p:cNvSpPr txBox="1"/>
          <p:nvPr/>
        </p:nvSpPr>
        <p:spPr>
          <a:xfrm>
            <a:off x="9792139" y="3210567"/>
            <a:ext cx="238898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a:ea typeface="+mn-ea"/>
                <a:cs typeface="+mn-cs"/>
              </a:rPr>
              <a:t>Full OS insertion configuration</a:t>
            </a:r>
          </a:p>
        </p:txBody>
      </p:sp>
      <p:sp>
        <p:nvSpPr>
          <p:cNvPr id="67" name="TextBox 66">
            <a:extLst>
              <a:ext uri="{FF2B5EF4-FFF2-40B4-BE49-F238E27FC236}">
                <a16:creationId xmlns:a16="http://schemas.microsoft.com/office/drawing/2014/main" id="{1054D1CD-DA49-4021-AF2C-1758E7F6F3B0}"/>
              </a:ext>
            </a:extLst>
          </p:cNvPr>
          <p:cNvSpPr txBox="1"/>
          <p:nvPr/>
        </p:nvSpPr>
        <p:spPr>
          <a:xfrm>
            <a:off x="8943485" y="1732893"/>
            <a:ext cx="56137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Calibri"/>
                <a:ea typeface="+mn-ea"/>
                <a:cs typeface="+mn-cs"/>
              </a:rPr>
              <a:t>SCU</a:t>
            </a:r>
          </a:p>
        </p:txBody>
      </p:sp>
      <p:sp>
        <p:nvSpPr>
          <p:cNvPr id="46" name="TextBox 45">
            <a:extLst>
              <a:ext uri="{FF2B5EF4-FFF2-40B4-BE49-F238E27FC236}">
                <a16:creationId xmlns:a16="http://schemas.microsoft.com/office/drawing/2014/main" id="{453AA705-2006-0D44-54B5-75DE519FF636}"/>
              </a:ext>
            </a:extLst>
          </p:cNvPr>
          <p:cNvSpPr txBox="1"/>
          <p:nvPr/>
        </p:nvSpPr>
        <p:spPr>
          <a:xfrm rot="20778849">
            <a:off x="2942276" y="1811181"/>
            <a:ext cx="5312701" cy="1323439"/>
          </a:xfrm>
          <a:prstGeom prst="rect">
            <a:avLst/>
          </a:prstGeom>
          <a:noFill/>
        </p:spPr>
        <p:txBody>
          <a:bodyPr wrap="square" rtlCol="0">
            <a:spAutoFit/>
          </a:bodyPr>
          <a:lstStyle/>
          <a:p>
            <a:r>
              <a:rPr lang="en-US" sz="8000" b="1" dirty="0">
                <a:solidFill>
                  <a:srgbClr val="FF0000"/>
                </a:solidFill>
              </a:rPr>
              <a:t>PDR MODEL</a:t>
            </a:r>
          </a:p>
        </p:txBody>
      </p:sp>
    </p:spTree>
    <p:extLst>
      <p:ext uri="{BB962C8B-B14F-4D97-AF65-F5344CB8AC3E}">
        <p14:creationId xmlns:p14="http://schemas.microsoft.com/office/powerpoint/2010/main" val="2725416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E0019340-DCF9-48C4-B164-A9A2DB762047}"/>
                  </a:ext>
                </a:extLst>
              </p:cNvPr>
              <p:cNvSpPr>
                <a:spLocks noGrp="1"/>
              </p:cNvSpPr>
              <p:nvPr>
                <p:ph idx="1"/>
              </p:nvPr>
            </p:nvSpPr>
            <p:spPr>
              <a:xfrm>
                <a:off x="284872" y="1062937"/>
                <a:ext cx="11555733" cy="5755422"/>
              </a:xfrm>
            </p:spPr>
            <p:txBody>
              <a:bodyPr/>
              <a:lstStyle/>
              <a:p>
                <a:pPr marL="0" indent="0">
                  <a:buNone/>
                </a:pPr>
                <a:r>
                  <a:rPr lang="en-US"/>
                  <a:t>Controlled parameters:</a:t>
                </a:r>
              </a:p>
              <a:p>
                <a:r>
                  <a:rPr lang="en-US"/>
                  <a:t>Joint command &amp; FTS read RATE – The frequency at which joint position commands are sent, and FTS measurements are read; emulating the speed of an LMC-&gt;SCU comms interface</a:t>
                </a:r>
              </a:p>
              <a:p>
                <a:r>
                  <a:rPr lang="en-US"/>
                  <a:t>Joint command &amp; FTS read LATENCY – The number of cycles at the given rate that </a:t>
                </a:r>
                <a:r>
                  <a:rPr lang="en-US" i="1"/>
                  <a:t>both</a:t>
                </a:r>
                <a:r>
                  <a:rPr lang="en-US"/>
                  <a:t> the outgoing joint command signals </a:t>
                </a:r>
                <a:r>
                  <a:rPr lang="en-US" i="1"/>
                  <a:t>and</a:t>
                </a:r>
                <a:r>
                  <a:rPr lang="en-US"/>
                  <a:t> incoming FTS measurements are delayed; emulating RTIs</a:t>
                </a:r>
              </a:p>
              <a:p>
                <a:pPr marL="0" indent="0">
                  <a:buNone/>
                </a:pPr>
                <a:endParaRPr lang="en-US"/>
              </a:p>
              <a:p>
                <a:pPr marL="0" indent="0">
                  <a:buNone/>
                </a:pPr>
                <a:r>
                  <a:rPr lang="en-US"/>
                  <a:t>“Stability” here is considered as </a:t>
                </a:r>
                <a14:m>
                  <m:oMath xmlns:m="http://schemas.openxmlformats.org/officeDocument/2006/math">
                    <m:r>
                      <a:rPr lang="en-US" b="0" i="1" smtClean="0">
                        <a:latin typeface="Cambria Math" panose="02040503050406030204" pitchFamily="18" charset="0"/>
                      </a:rPr>
                      <m:t>𝜁</m:t>
                    </m:r>
                    <m:r>
                      <a:rPr lang="en-US" b="0" i="1" smtClean="0">
                        <a:latin typeface="Cambria Math" panose="02040503050406030204" pitchFamily="18" charset="0"/>
                      </a:rPr>
                      <m:t>&gt;0.5</m:t>
                    </m:r>
                  </m:oMath>
                </a14:m>
                <a:r>
                  <a:rPr lang="en-US"/>
                  <a:t> where there are </a:t>
                </a:r>
                <a14:m>
                  <m:oMath xmlns:m="http://schemas.openxmlformats.org/officeDocument/2006/math">
                    <m:r>
                      <a:rPr lang="en-US" i="1" smtClean="0">
                        <a:latin typeface="Cambria Math" panose="02040503050406030204" pitchFamily="18" charset="0"/>
                        <a:ea typeface="Cambria Math" panose="02040503050406030204" pitchFamily="18" charset="0"/>
                      </a:rPr>
                      <m:t>&lt;</m:t>
                    </m:r>
                    <m:r>
                      <a:rPr lang="en-US" b="0" i="1" smtClean="0">
                        <a:latin typeface="Cambria Math" panose="02040503050406030204" pitchFamily="18" charset="0"/>
                        <a:ea typeface="Cambria Math" panose="02040503050406030204" pitchFamily="18" charset="0"/>
                      </a:rPr>
                      <m:t>2</m:t>
                    </m:r>
                  </m:oMath>
                </a14:m>
                <a:r>
                  <a:rPr lang="en-US"/>
                  <a:t> negative peaks</a:t>
                </a:r>
              </a:p>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a:p>
              <a:p>
                <a:pPr marL="0" indent="0">
                  <a:buNone/>
                </a:pPr>
                <a:r>
                  <a:rPr lang="en-US"/>
                  <a:t>Conclusion:</a:t>
                </a:r>
              </a:p>
              <a:p>
                <a:pPr marL="0" indent="0">
                  <a:buNone/>
                </a:pPr>
                <a:r>
                  <a:rPr lang="en-US"/>
                  <a:t>Only 256Hz is stable through 5 RTI of command and read latency, however,</a:t>
                </a:r>
                <a:br>
                  <a:rPr lang="en-US"/>
                </a:br>
                <a:r>
                  <a:rPr lang="en-US"/>
                  <a:t>128Hz may be sufficient for </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3</m:t>
                    </m:r>
                  </m:oMath>
                </a14:m>
                <a:r>
                  <a:rPr lang="en-US"/>
                  <a:t> RTI command &amp; sense latency (6 RTI total)</a:t>
                </a:r>
              </a:p>
            </p:txBody>
          </p:sp>
        </mc:Choice>
        <mc:Fallback xmlns="">
          <p:sp>
            <p:nvSpPr>
              <p:cNvPr id="2" name="Content Placeholder 1">
                <a:extLst>
                  <a:ext uri="{FF2B5EF4-FFF2-40B4-BE49-F238E27FC236}">
                    <a16:creationId xmlns:a16="http://schemas.microsoft.com/office/drawing/2014/main" id="{E0019340-DCF9-48C4-B164-A9A2DB762047}"/>
                  </a:ext>
                </a:extLst>
              </p:cNvPr>
              <p:cNvSpPr>
                <a:spLocks noGrp="1" noRot="1" noChangeAspect="1" noMove="1" noResize="1" noEditPoints="1" noAdjustHandles="1" noChangeArrowheads="1" noChangeShapeType="1" noTextEdit="1"/>
              </p:cNvSpPr>
              <p:nvPr>
                <p:ph idx="1"/>
              </p:nvPr>
            </p:nvSpPr>
            <p:spPr>
              <a:xfrm>
                <a:off x="284872" y="1062937"/>
                <a:ext cx="11555733" cy="5755422"/>
              </a:xfrm>
              <a:blipFill>
                <a:blip r:embed="rId2"/>
                <a:stretch>
                  <a:fillRect l="-580" t="-424" b="-1059"/>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09758743-2EB6-4EB5-B095-0712358FAD4F}"/>
              </a:ext>
            </a:extLst>
          </p:cNvPr>
          <p:cNvSpPr>
            <a:spLocks noGrp="1"/>
          </p:cNvSpPr>
          <p:nvPr>
            <p:ph type="title"/>
          </p:nvPr>
        </p:nvSpPr>
        <p:spPr/>
        <p:txBody>
          <a:bodyPr/>
          <a:lstStyle/>
          <a:p>
            <a:r>
              <a:rPr lang="en-US"/>
              <a:t>Simulink Results</a:t>
            </a:r>
          </a:p>
        </p:txBody>
      </p:sp>
      <p:sp>
        <p:nvSpPr>
          <p:cNvPr id="4" name="Slide Number Placeholder 3">
            <a:extLst>
              <a:ext uri="{FF2B5EF4-FFF2-40B4-BE49-F238E27FC236}">
                <a16:creationId xmlns:a16="http://schemas.microsoft.com/office/drawing/2014/main" id="{3D6206A2-5815-406D-9D3E-AAC31059CDE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B0D5911-593C-4B7A-998F-6DBC76EF3BD7}" type="slidenum">
              <a:rPr kumimoji="0" lang="en-US" sz="800" b="0" i="0" u="none" strike="noStrike" kern="1200" cap="none" spc="0" normalizeH="0" baseline="0" noProof="0" smtClean="0">
                <a:ln>
                  <a:noFill/>
                </a:ln>
                <a:solidFill>
                  <a:prstClr val="black">
                    <a:tint val="75000"/>
                  </a:prstClr>
                </a:solidFill>
                <a:effectLst/>
                <a:uLnTx/>
                <a:uFillTx/>
                <a:latin typeface="Calibri"/>
                <a:ea typeface="ＭＳ Ｐゴシック" charset="0"/>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800" b="0" i="0" u="none" strike="noStrike" kern="1200" cap="none" spc="0" normalizeH="0" baseline="0" noProof="0">
              <a:ln>
                <a:noFill/>
              </a:ln>
              <a:solidFill>
                <a:prstClr val="black">
                  <a:tint val="75000"/>
                </a:prstClr>
              </a:solidFill>
              <a:effectLst/>
              <a:uLnTx/>
              <a:uFillTx/>
              <a:latin typeface="Calibri"/>
              <a:ea typeface="ＭＳ Ｐゴシック" charset="0"/>
            </a:endParaRPr>
          </a:p>
        </p:txBody>
      </p:sp>
      <p:pic>
        <p:nvPicPr>
          <p:cNvPr id="6" name="Picture 5">
            <a:extLst>
              <a:ext uri="{FF2B5EF4-FFF2-40B4-BE49-F238E27FC236}">
                <a16:creationId xmlns:a16="http://schemas.microsoft.com/office/drawing/2014/main" id="{604DB3B8-305F-4726-9FA1-14BB880FBEA5}"/>
              </a:ext>
            </a:extLst>
          </p:cNvPr>
          <p:cNvPicPr>
            <a:picLocks noChangeAspect="1"/>
          </p:cNvPicPr>
          <p:nvPr/>
        </p:nvPicPr>
        <p:blipFill>
          <a:blip r:embed="rId3"/>
          <a:stretch>
            <a:fillRect/>
          </a:stretch>
        </p:blipFill>
        <p:spPr>
          <a:xfrm>
            <a:off x="9496228" y="2865509"/>
            <a:ext cx="2056626" cy="1375594"/>
          </a:xfrm>
          <a:prstGeom prst="rect">
            <a:avLst/>
          </a:prstGeom>
        </p:spPr>
      </p:pic>
      <p:pic>
        <p:nvPicPr>
          <p:cNvPr id="7" name="Picture 6">
            <a:extLst>
              <a:ext uri="{FF2B5EF4-FFF2-40B4-BE49-F238E27FC236}">
                <a16:creationId xmlns:a16="http://schemas.microsoft.com/office/drawing/2014/main" id="{244AA893-7A7D-4F66-A459-C8F1DEA39144}"/>
              </a:ext>
            </a:extLst>
          </p:cNvPr>
          <p:cNvPicPr>
            <a:picLocks noChangeAspect="1"/>
          </p:cNvPicPr>
          <p:nvPr/>
        </p:nvPicPr>
        <p:blipFill>
          <a:blip r:embed="rId4"/>
          <a:stretch>
            <a:fillRect/>
          </a:stretch>
        </p:blipFill>
        <p:spPr>
          <a:xfrm>
            <a:off x="9496227" y="4264399"/>
            <a:ext cx="2056625" cy="1355608"/>
          </a:xfrm>
          <a:prstGeom prst="rect">
            <a:avLst/>
          </a:prstGeom>
        </p:spPr>
      </p:pic>
      <p:sp>
        <p:nvSpPr>
          <p:cNvPr id="8" name="TextBox 7">
            <a:extLst>
              <a:ext uri="{FF2B5EF4-FFF2-40B4-BE49-F238E27FC236}">
                <a16:creationId xmlns:a16="http://schemas.microsoft.com/office/drawing/2014/main" id="{B1138641-4B51-4ED6-9CA1-6571E5227EDF}"/>
              </a:ext>
            </a:extLst>
          </p:cNvPr>
          <p:cNvSpPr txBox="1"/>
          <p:nvPr/>
        </p:nvSpPr>
        <p:spPr>
          <a:xfrm>
            <a:off x="10587674" y="3251867"/>
            <a:ext cx="76533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a:ea typeface="+mn-ea"/>
                <a:cs typeface="+mn-cs"/>
              </a:rPr>
              <a:t>Stable</a:t>
            </a:r>
          </a:p>
        </p:txBody>
      </p:sp>
      <p:sp>
        <p:nvSpPr>
          <p:cNvPr id="9" name="TextBox 8">
            <a:extLst>
              <a:ext uri="{FF2B5EF4-FFF2-40B4-BE49-F238E27FC236}">
                <a16:creationId xmlns:a16="http://schemas.microsoft.com/office/drawing/2014/main" id="{48A3E3F0-23A2-4CEC-89A7-E7E37C707197}"/>
              </a:ext>
            </a:extLst>
          </p:cNvPr>
          <p:cNvSpPr txBox="1"/>
          <p:nvPr/>
        </p:nvSpPr>
        <p:spPr>
          <a:xfrm>
            <a:off x="10485016" y="4890139"/>
            <a:ext cx="101668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a:ea typeface="+mn-ea"/>
                <a:cs typeface="+mn-cs"/>
              </a:rPr>
              <a:t>Marginal</a:t>
            </a:r>
          </a:p>
        </p:txBody>
      </p:sp>
      <p:pic>
        <p:nvPicPr>
          <p:cNvPr id="10" name="Picture 9">
            <a:extLst>
              <a:ext uri="{FF2B5EF4-FFF2-40B4-BE49-F238E27FC236}">
                <a16:creationId xmlns:a16="http://schemas.microsoft.com/office/drawing/2014/main" id="{5DB75E25-0991-4792-B88D-DE488A9F2B60}"/>
              </a:ext>
            </a:extLst>
          </p:cNvPr>
          <p:cNvPicPr>
            <a:picLocks noChangeAspect="1"/>
          </p:cNvPicPr>
          <p:nvPr/>
        </p:nvPicPr>
        <p:blipFill>
          <a:blip r:embed="rId5"/>
          <a:stretch>
            <a:fillRect/>
          </a:stretch>
        </p:blipFill>
        <p:spPr>
          <a:xfrm>
            <a:off x="9497245" y="5649126"/>
            <a:ext cx="2055607" cy="1055457"/>
          </a:xfrm>
          <a:prstGeom prst="rect">
            <a:avLst/>
          </a:prstGeom>
        </p:spPr>
      </p:pic>
      <p:sp>
        <p:nvSpPr>
          <p:cNvPr id="11" name="TextBox 10">
            <a:extLst>
              <a:ext uri="{FF2B5EF4-FFF2-40B4-BE49-F238E27FC236}">
                <a16:creationId xmlns:a16="http://schemas.microsoft.com/office/drawing/2014/main" id="{F43A0E9B-DBA7-489C-A232-AB31362D8E22}"/>
              </a:ext>
            </a:extLst>
          </p:cNvPr>
          <p:cNvSpPr txBox="1"/>
          <p:nvPr/>
        </p:nvSpPr>
        <p:spPr>
          <a:xfrm>
            <a:off x="10485658" y="5618486"/>
            <a:ext cx="101604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a:ea typeface="+mn-ea"/>
                <a:cs typeface="+mn-cs"/>
              </a:rPr>
              <a:t>Unstable</a:t>
            </a:r>
          </a:p>
        </p:txBody>
      </p:sp>
      <p:graphicFrame>
        <p:nvGraphicFramePr>
          <p:cNvPr id="12" name="Table 11">
            <a:extLst>
              <a:ext uri="{FF2B5EF4-FFF2-40B4-BE49-F238E27FC236}">
                <a16:creationId xmlns:a16="http://schemas.microsoft.com/office/drawing/2014/main" id="{1A746CC6-7EAE-4666-8358-4790A676284B}"/>
              </a:ext>
            </a:extLst>
          </p:cNvPr>
          <p:cNvGraphicFramePr>
            <a:graphicFrameLocks noGrp="1"/>
          </p:cNvGraphicFramePr>
          <p:nvPr/>
        </p:nvGraphicFramePr>
        <p:xfrm>
          <a:off x="1100752" y="3693073"/>
          <a:ext cx="7176951" cy="1807240"/>
        </p:xfrm>
        <a:graphic>
          <a:graphicData uri="http://schemas.openxmlformats.org/drawingml/2006/table">
            <a:tbl>
              <a:tblPr firstRow="1" bandRow="1">
                <a:tableStyleId>{5C22544A-7EE6-4342-B048-85BDC9FD1C3A}</a:tableStyleId>
              </a:tblPr>
              <a:tblGrid>
                <a:gridCol w="854241">
                  <a:extLst>
                    <a:ext uri="{9D8B030D-6E8A-4147-A177-3AD203B41FA5}">
                      <a16:colId xmlns:a16="http://schemas.microsoft.com/office/drawing/2014/main" val="1672787627"/>
                    </a:ext>
                  </a:extLst>
                </a:gridCol>
                <a:gridCol w="1264542">
                  <a:extLst>
                    <a:ext uri="{9D8B030D-6E8A-4147-A177-3AD203B41FA5}">
                      <a16:colId xmlns:a16="http://schemas.microsoft.com/office/drawing/2014/main" val="2007271838"/>
                    </a:ext>
                  </a:extLst>
                </a:gridCol>
                <a:gridCol w="1264542">
                  <a:extLst>
                    <a:ext uri="{9D8B030D-6E8A-4147-A177-3AD203B41FA5}">
                      <a16:colId xmlns:a16="http://schemas.microsoft.com/office/drawing/2014/main" val="1113976323"/>
                    </a:ext>
                  </a:extLst>
                </a:gridCol>
                <a:gridCol w="1264542">
                  <a:extLst>
                    <a:ext uri="{9D8B030D-6E8A-4147-A177-3AD203B41FA5}">
                      <a16:colId xmlns:a16="http://schemas.microsoft.com/office/drawing/2014/main" val="3322987316"/>
                    </a:ext>
                  </a:extLst>
                </a:gridCol>
                <a:gridCol w="1264542">
                  <a:extLst>
                    <a:ext uri="{9D8B030D-6E8A-4147-A177-3AD203B41FA5}">
                      <a16:colId xmlns:a16="http://schemas.microsoft.com/office/drawing/2014/main" val="2177275632"/>
                    </a:ext>
                  </a:extLst>
                </a:gridCol>
                <a:gridCol w="1264542">
                  <a:extLst>
                    <a:ext uri="{9D8B030D-6E8A-4147-A177-3AD203B41FA5}">
                      <a16:colId xmlns:a16="http://schemas.microsoft.com/office/drawing/2014/main" val="321994696"/>
                    </a:ext>
                  </a:extLst>
                </a:gridCol>
              </a:tblGrid>
              <a:tr h="156945">
                <a:tc>
                  <a:txBody>
                    <a:bodyPr/>
                    <a:lstStyle/>
                    <a:p>
                      <a:r>
                        <a:rPr lang="en-US" sz="1200"/>
                        <a:t>Round Trip</a:t>
                      </a:r>
                    </a:p>
                  </a:txBody>
                  <a:tcPr marL="76341" marR="76341" marT="38170" marB="38170"/>
                </a:tc>
                <a:tc>
                  <a:txBody>
                    <a:bodyPr/>
                    <a:lstStyle/>
                    <a:p>
                      <a:r>
                        <a:rPr lang="en-US" sz="1200"/>
                        <a:t>16 Hz</a:t>
                      </a:r>
                    </a:p>
                  </a:txBody>
                  <a:tcPr marL="76341" marR="76341" marT="38170" marB="38170"/>
                </a:tc>
                <a:tc>
                  <a:txBody>
                    <a:bodyPr/>
                    <a:lstStyle/>
                    <a:p>
                      <a:r>
                        <a:rPr lang="en-US" sz="1200"/>
                        <a:t>32 Hz</a:t>
                      </a:r>
                    </a:p>
                  </a:txBody>
                  <a:tcPr marL="76341" marR="76341" marT="38170" marB="38170"/>
                </a:tc>
                <a:tc>
                  <a:txBody>
                    <a:bodyPr/>
                    <a:lstStyle/>
                    <a:p>
                      <a:r>
                        <a:rPr lang="en-US" sz="1200"/>
                        <a:t>64 Hz</a:t>
                      </a:r>
                    </a:p>
                  </a:txBody>
                  <a:tcPr marL="76341" marR="76341" marT="38170" marB="38170"/>
                </a:tc>
                <a:tc>
                  <a:txBody>
                    <a:bodyPr/>
                    <a:lstStyle/>
                    <a:p>
                      <a:r>
                        <a:rPr lang="en-US" sz="1200"/>
                        <a:t>128 Hz</a:t>
                      </a:r>
                    </a:p>
                  </a:txBody>
                  <a:tcPr marL="76341" marR="76341" marT="38170" marB="38170"/>
                </a:tc>
                <a:tc>
                  <a:txBody>
                    <a:bodyPr/>
                    <a:lstStyle/>
                    <a:p>
                      <a:r>
                        <a:rPr lang="en-US" sz="1200"/>
                        <a:t>256 Hz</a:t>
                      </a:r>
                    </a:p>
                  </a:txBody>
                  <a:tcPr marL="76341" marR="76341" marT="38170" marB="38170"/>
                </a:tc>
                <a:extLst>
                  <a:ext uri="{0D108BD9-81ED-4DB2-BD59-A6C34878D82A}">
                    <a16:rowId xmlns:a16="http://schemas.microsoft.com/office/drawing/2014/main" val="1778336723"/>
                  </a:ext>
                </a:extLst>
              </a:tr>
              <a:tr h="309604">
                <a:tc>
                  <a:txBody>
                    <a:bodyPr/>
                    <a:lstStyle/>
                    <a:p>
                      <a:r>
                        <a:rPr lang="en-US" sz="1200" b="1">
                          <a:solidFill>
                            <a:schemeClr val="bg1"/>
                          </a:solidFill>
                        </a:rPr>
                        <a:t>2 RTI</a:t>
                      </a:r>
                    </a:p>
                  </a:txBody>
                  <a:tcPr marL="76341" marR="76341" marT="38170" marB="38170">
                    <a:solidFill>
                      <a:srgbClr val="873624"/>
                    </a:solidFill>
                  </a:tcPr>
                </a:tc>
                <a:tc>
                  <a:txBody>
                    <a:bodyPr/>
                    <a:lstStyle/>
                    <a:p>
                      <a:r>
                        <a:rPr lang="en-US" sz="1200"/>
                        <a:t>Unstable</a:t>
                      </a:r>
                    </a:p>
                  </a:txBody>
                  <a:tcPr marL="76341" marR="76341" marT="38170" marB="38170">
                    <a:solidFill>
                      <a:srgbClr val="FF6D6D"/>
                    </a:solidFill>
                  </a:tcPr>
                </a:tc>
                <a:tc>
                  <a:txBody>
                    <a:bodyPr/>
                    <a:lstStyle/>
                    <a:p>
                      <a:r>
                        <a:rPr lang="en-US" sz="1200"/>
                        <a:t>Marginal</a:t>
                      </a:r>
                    </a:p>
                  </a:txBody>
                  <a:tcPr marL="76341" marR="76341" marT="38170" marB="38170">
                    <a:solidFill>
                      <a:srgbClr val="FFFF8B"/>
                    </a:solidFill>
                  </a:tcPr>
                </a:tc>
                <a:tc>
                  <a:txBody>
                    <a:bodyPr/>
                    <a:lstStyle/>
                    <a:p>
                      <a:r>
                        <a:rPr lang="en-US" sz="1200"/>
                        <a:t>Stable</a:t>
                      </a:r>
                    </a:p>
                  </a:txBody>
                  <a:tcPr marL="76341" marR="76341" marT="38170" marB="38170">
                    <a:solidFill>
                      <a:srgbClr val="BAE18F"/>
                    </a:solidFill>
                  </a:tcPr>
                </a:tc>
                <a:tc>
                  <a:txBody>
                    <a:bodyPr/>
                    <a:lstStyle/>
                    <a:p>
                      <a:r>
                        <a:rPr lang="en-US" sz="1200"/>
                        <a:t>Stable</a:t>
                      </a:r>
                    </a:p>
                  </a:txBody>
                  <a:tcPr marL="76341" marR="76341" marT="38170" marB="38170">
                    <a:solidFill>
                      <a:srgbClr val="BAE18F"/>
                    </a:solidFill>
                  </a:tcPr>
                </a:tc>
                <a:tc>
                  <a:txBody>
                    <a:bodyPr/>
                    <a:lstStyle/>
                    <a:p>
                      <a:r>
                        <a:rPr lang="en-US" sz="1200"/>
                        <a:t>Stable</a:t>
                      </a:r>
                    </a:p>
                  </a:txBody>
                  <a:tcPr marL="76341" marR="76341" marT="38170" marB="38170">
                    <a:solidFill>
                      <a:srgbClr val="BAE18F"/>
                    </a:solidFill>
                  </a:tcPr>
                </a:tc>
                <a:extLst>
                  <a:ext uri="{0D108BD9-81ED-4DB2-BD59-A6C34878D82A}">
                    <a16:rowId xmlns:a16="http://schemas.microsoft.com/office/drawing/2014/main" val="1349352342"/>
                  </a:ext>
                </a:extLst>
              </a:tr>
              <a:tr h="309604">
                <a:tc>
                  <a:txBody>
                    <a:bodyPr/>
                    <a:lstStyle/>
                    <a:p>
                      <a:r>
                        <a:rPr lang="en-US" sz="1200" b="1">
                          <a:solidFill>
                            <a:schemeClr val="bg1"/>
                          </a:solidFill>
                        </a:rPr>
                        <a:t>4 RTI</a:t>
                      </a:r>
                    </a:p>
                  </a:txBody>
                  <a:tcPr marL="76341" marR="76341" marT="38170" marB="38170">
                    <a:solidFill>
                      <a:srgbClr val="873624"/>
                    </a:solidFill>
                  </a:tcPr>
                </a:tc>
                <a:tc>
                  <a:txBody>
                    <a:bodyPr/>
                    <a:lstStyle/>
                    <a:p>
                      <a:r>
                        <a:rPr lang="en-US" sz="1200"/>
                        <a:t>Unstable</a:t>
                      </a:r>
                    </a:p>
                  </a:txBody>
                  <a:tcPr marL="76341" marR="76341" marT="38170" marB="38170">
                    <a:solidFill>
                      <a:srgbClr val="FF6D6D"/>
                    </a:solidFill>
                  </a:tcPr>
                </a:tc>
                <a:tc>
                  <a:txBody>
                    <a:bodyPr/>
                    <a:lstStyle/>
                    <a:p>
                      <a:r>
                        <a:rPr lang="en-US" sz="1200"/>
                        <a:t>Unstable</a:t>
                      </a:r>
                    </a:p>
                  </a:txBody>
                  <a:tcPr marL="76341" marR="76341" marT="38170" marB="38170">
                    <a:solidFill>
                      <a:srgbClr val="FF6D6D"/>
                    </a:solidFill>
                  </a:tcPr>
                </a:tc>
                <a:tc>
                  <a:txBody>
                    <a:bodyPr/>
                    <a:lstStyle/>
                    <a:p>
                      <a:r>
                        <a:rPr lang="en-US" sz="1200"/>
                        <a:t>Marginal</a:t>
                      </a:r>
                    </a:p>
                  </a:txBody>
                  <a:tcPr marL="76341" marR="76341" marT="38170" marB="38170">
                    <a:solidFill>
                      <a:srgbClr val="FFFF8B"/>
                    </a:solidFill>
                  </a:tcPr>
                </a:tc>
                <a:tc>
                  <a:txBody>
                    <a:bodyPr/>
                    <a:lstStyle/>
                    <a:p>
                      <a:r>
                        <a:rPr lang="en-US" sz="1200"/>
                        <a:t>Stable</a:t>
                      </a:r>
                    </a:p>
                  </a:txBody>
                  <a:tcPr marL="76341" marR="76341" marT="38170" marB="38170">
                    <a:solidFill>
                      <a:srgbClr val="BAE18F"/>
                    </a:solidFill>
                  </a:tcPr>
                </a:tc>
                <a:tc>
                  <a:txBody>
                    <a:bodyPr/>
                    <a:lstStyle/>
                    <a:p>
                      <a:r>
                        <a:rPr lang="en-US" sz="1200"/>
                        <a:t>Stable</a:t>
                      </a:r>
                    </a:p>
                  </a:txBody>
                  <a:tcPr marL="76341" marR="76341" marT="38170" marB="38170">
                    <a:solidFill>
                      <a:srgbClr val="BAE18F"/>
                    </a:solidFill>
                  </a:tcPr>
                </a:tc>
                <a:extLst>
                  <a:ext uri="{0D108BD9-81ED-4DB2-BD59-A6C34878D82A}">
                    <a16:rowId xmlns:a16="http://schemas.microsoft.com/office/drawing/2014/main" val="3425106426"/>
                  </a:ext>
                </a:extLst>
              </a:tr>
              <a:tr h="309604">
                <a:tc>
                  <a:txBody>
                    <a:bodyPr/>
                    <a:lstStyle/>
                    <a:p>
                      <a:r>
                        <a:rPr lang="en-US" sz="1200" b="1">
                          <a:solidFill>
                            <a:schemeClr val="bg1"/>
                          </a:solidFill>
                        </a:rPr>
                        <a:t>6 RTI</a:t>
                      </a:r>
                    </a:p>
                  </a:txBody>
                  <a:tcPr marL="76341" marR="76341" marT="38170" marB="38170">
                    <a:solidFill>
                      <a:srgbClr val="873624"/>
                    </a:solidFill>
                  </a:tcPr>
                </a:tc>
                <a:tc>
                  <a:txBody>
                    <a:bodyPr/>
                    <a:lstStyle/>
                    <a:p>
                      <a:r>
                        <a:rPr lang="en-US" sz="1200"/>
                        <a:t>Unstable</a:t>
                      </a:r>
                    </a:p>
                  </a:txBody>
                  <a:tcPr marL="76341" marR="76341" marT="38170" marB="38170">
                    <a:solidFill>
                      <a:srgbClr val="FF6D6D"/>
                    </a:solidFill>
                  </a:tcPr>
                </a:tc>
                <a:tc>
                  <a:txBody>
                    <a:bodyPr/>
                    <a:lstStyle/>
                    <a:p>
                      <a:r>
                        <a:rPr lang="en-US" sz="1200"/>
                        <a:t>Unstable</a:t>
                      </a:r>
                    </a:p>
                  </a:txBody>
                  <a:tcPr marL="76341" marR="76341" marT="38170" marB="38170">
                    <a:solidFill>
                      <a:srgbClr val="FF6D6D"/>
                    </a:solidFill>
                  </a:tcPr>
                </a:tc>
                <a:tc>
                  <a:txBody>
                    <a:bodyPr/>
                    <a:lstStyle/>
                    <a:p>
                      <a:r>
                        <a:rPr lang="en-US" sz="1200"/>
                        <a:t>Marginal</a:t>
                      </a:r>
                    </a:p>
                  </a:txBody>
                  <a:tcPr marL="76341" marR="76341" marT="38170" marB="38170">
                    <a:solidFill>
                      <a:srgbClr val="FFFF8B"/>
                    </a:solidFill>
                  </a:tcPr>
                </a:tc>
                <a:tc>
                  <a:txBody>
                    <a:bodyPr/>
                    <a:lstStyle/>
                    <a:p>
                      <a:r>
                        <a:rPr lang="en-US" sz="1200"/>
                        <a:t>Stable</a:t>
                      </a:r>
                    </a:p>
                  </a:txBody>
                  <a:tcPr marL="76341" marR="76341" marT="38170" marB="38170">
                    <a:solidFill>
                      <a:srgbClr val="BAE18F"/>
                    </a:solidFill>
                  </a:tcPr>
                </a:tc>
                <a:tc>
                  <a:txBody>
                    <a:bodyPr/>
                    <a:lstStyle/>
                    <a:p>
                      <a:r>
                        <a:rPr lang="en-US" sz="1200"/>
                        <a:t>Stable</a:t>
                      </a:r>
                    </a:p>
                  </a:txBody>
                  <a:tcPr marL="76341" marR="76341" marT="38170" marB="38170">
                    <a:solidFill>
                      <a:srgbClr val="BAE18F"/>
                    </a:solidFill>
                  </a:tcPr>
                </a:tc>
                <a:extLst>
                  <a:ext uri="{0D108BD9-81ED-4DB2-BD59-A6C34878D82A}">
                    <a16:rowId xmlns:a16="http://schemas.microsoft.com/office/drawing/2014/main" val="1067146096"/>
                  </a:ext>
                </a:extLst>
              </a:tr>
              <a:tr h="309604">
                <a:tc>
                  <a:txBody>
                    <a:bodyPr/>
                    <a:lstStyle/>
                    <a:p>
                      <a:r>
                        <a:rPr lang="en-US" sz="1200" b="1">
                          <a:solidFill>
                            <a:schemeClr val="bg1"/>
                          </a:solidFill>
                        </a:rPr>
                        <a:t>8 RTI</a:t>
                      </a:r>
                    </a:p>
                  </a:txBody>
                  <a:tcPr marL="76341" marR="76341" marT="38170" marB="38170">
                    <a:solidFill>
                      <a:srgbClr val="873624"/>
                    </a:solidFill>
                  </a:tcPr>
                </a:tc>
                <a:tc>
                  <a:txBody>
                    <a:bodyPr/>
                    <a:lstStyle/>
                    <a:p>
                      <a:r>
                        <a:rPr lang="en-US" sz="1200"/>
                        <a:t>Unstable</a:t>
                      </a:r>
                    </a:p>
                  </a:txBody>
                  <a:tcPr marL="76341" marR="76341" marT="38170" marB="38170">
                    <a:solidFill>
                      <a:srgbClr val="FF6D6D"/>
                    </a:solidFill>
                  </a:tcPr>
                </a:tc>
                <a:tc>
                  <a:txBody>
                    <a:bodyPr/>
                    <a:lstStyle/>
                    <a:p>
                      <a:r>
                        <a:rPr lang="en-US" sz="1200"/>
                        <a:t>Unstable</a:t>
                      </a:r>
                    </a:p>
                  </a:txBody>
                  <a:tcPr marL="76341" marR="76341" marT="38170" marB="38170">
                    <a:solidFill>
                      <a:srgbClr val="FF6D6D"/>
                    </a:solidFill>
                  </a:tcPr>
                </a:tc>
                <a:tc>
                  <a:txBody>
                    <a:bodyPr/>
                    <a:lstStyle/>
                    <a:p>
                      <a:r>
                        <a:rPr lang="en-US" sz="1200"/>
                        <a:t>Marginal</a:t>
                      </a:r>
                    </a:p>
                  </a:txBody>
                  <a:tcPr marL="76341" marR="76341" marT="38170" marB="38170">
                    <a:solidFill>
                      <a:srgbClr val="FFFF8B"/>
                    </a:solidFill>
                  </a:tcPr>
                </a:tc>
                <a:tc>
                  <a:txBody>
                    <a:bodyPr/>
                    <a:lstStyle/>
                    <a:p>
                      <a:r>
                        <a:rPr lang="en-US" sz="1200"/>
                        <a:t>Marginal</a:t>
                      </a:r>
                    </a:p>
                  </a:txBody>
                  <a:tcPr marL="76341" marR="76341" marT="38170" marB="38170">
                    <a:solidFill>
                      <a:srgbClr val="FFFF8B"/>
                    </a:solidFill>
                  </a:tcPr>
                </a:tc>
                <a:tc>
                  <a:txBody>
                    <a:bodyPr/>
                    <a:lstStyle/>
                    <a:p>
                      <a:r>
                        <a:rPr lang="en-US" sz="1200"/>
                        <a:t>Stable</a:t>
                      </a:r>
                    </a:p>
                  </a:txBody>
                  <a:tcPr marL="76341" marR="76341" marT="38170" marB="38170">
                    <a:solidFill>
                      <a:srgbClr val="BAE18F"/>
                    </a:solidFill>
                  </a:tcPr>
                </a:tc>
                <a:extLst>
                  <a:ext uri="{0D108BD9-81ED-4DB2-BD59-A6C34878D82A}">
                    <a16:rowId xmlns:a16="http://schemas.microsoft.com/office/drawing/2014/main" val="1123995233"/>
                  </a:ext>
                </a:extLst>
              </a:tr>
              <a:tr h="309604">
                <a:tc>
                  <a:txBody>
                    <a:bodyPr/>
                    <a:lstStyle/>
                    <a:p>
                      <a:r>
                        <a:rPr lang="en-US" sz="1200" b="1">
                          <a:solidFill>
                            <a:schemeClr val="bg1"/>
                          </a:solidFill>
                        </a:rPr>
                        <a:t>10 RTI</a:t>
                      </a:r>
                    </a:p>
                  </a:txBody>
                  <a:tcPr marL="76341" marR="76341" marT="38170" marB="38170">
                    <a:solidFill>
                      <a:srgbClr val="873624"/>
                    </a:solidFill>
                  </a:tcPr>
                </a:tc>
                <a:tc>
                  <a:txBody>
                    <a:bodyPr/>
                    <a:lstStyle/>
                    <a:p>
                      <a:r>
                        <a:rPr lang="en-US" sz="1200"/>
                        <a:t>Unstable</a:t>
                      </a:r>
                    </a:p>
                  </a:txBody>
                  <a:tcPr marL="76341" marR="76341" marT="38170" marB="38170">
                    <a:solidFill>
                      <a:srgbClr val="FF6D6D"/>
                    </a:solidFill>
                  </a:tcPr>
                </a:tc>
                <a:tc>
                  <a:txBody>
                    <a:bodyPr/>
                    <a:lstStyle/>
                    <a:p>
                      <a:r>
                        <a:rPr lang="en-US" sz="1200"/>
                        <a:t>Unstable</a:t>
                      </a:r>
                    </a:p>
                  </a:txBody>
                  <a:tcPr marL="76341" marR="76341" marT="38170" marB="38170">
                    <a:solidFill>
                      <a:srgbClr val="FF6D6D"/>
                    </a:solidFill>
                  </a:tcPr>
                </a:tc>
                <a:tc>
                  <a:txBody>
                    <a:bodyPr/>
                    <a:lstStyle/>
                    <a:p>
                      <a:r>
                        <a:rPr lang="en-US" sz="1200"/>
                        <a:t>Unstable</a:t>
                      </a:r>
                    </a:p>
                  </a:txBody>
                  <a:tcPr marL="76341" marR="76341" marT="38170" marB="38170">
                    <a:solidFill>
                      <a:srgbClr val="FF6D6D"/>
                    </a:solidFill>
                  </a:tcPr>
                </a:tc>
                <a:tc>
                  <a:txBody>
                    <a:bodyPr/>
                    <a:lstStyle/>
                    <a:p>
                      <a:r>
                        <a:rPr lang="en-US" sz="1200"/>
                        <a:t>Marginal</a:t>
                      </a:r>
                    </a:p>
                  </a:txBody>
                  <a:tcPr marL="76341" marR="76341" marT="38170" marB="38170">
                    <a:solidFill>
                      <a:srgbClr val="FFFF8B"/>
                    </a:solidFill>
                  </a:tcPr>
                </a:tc>
                <a:tc>
                  <a:txBody>
                    <a:bodyPr/>
                    <a:lstStyle/>
                    <a:p>
                      <a:r>
                        <a:rPr lang="en-US" sz="1200"/>
                        <a:t>Stable</a:t>
                      </a:r>
                    </a:p>
                  </a:txBody>
                  <a:tcPr marL="76341" marR="76341" marT="38170" marB="38170">
                    <a:solidFill>
                      <a:srgbClr val="BAE18F"/>
                    </a:solidFill>
                  </a:tcPr>
                </a:tc>
                <a:extLst>
                  <a:ext uri="{0D108BD9-81ED-4DB2-BD59-A6C34878D82A}">
                    <a16:rowId xmlns:a16="http://schemas.microsoft.com/office/drawing/2014/main" val="2834973974"/>
                  </a:ext>
                </a:extLst>
              </a:tr>
            </a:tbl>
          </a:graphicData>
        </a:graphic>
      </p:graphicFrame>
      <p:sp>
        <p:nvSpPr>
          <p:cNvPr id="5" name="TextBox 4">
            <a:extLst>
              <a:ext uri="{FF2B5EF4-FFF2-40B4-BE49-F238E27FC236}">
                <a16:creationId xmlns:a16="http://schemas.microsoft.com/office/drawing/2014/main" id="{B46F1389-2C8D-9D65-D75D-CDE50FA6D9ED}"/>
              </a:ext>
            </a:extLst>
          </p:cNvPr>
          <p:cNvSpPr txBox="1"/>
          <p:nvPr/>
        </p:nvSpPr>
        <p:spPr>
          <a:xfrm rot="20778849">
            <a:off x="3155795" y="1785558"/>
            <a:ext cx="5096108" cy="1323439"/>
          </a:xfrm>
          <a:prstGeom prst="rect">
            <a:avLst/>
          </a:prstGeom>
          <a:noFill/>
        </p:spPr>
        <p:txBody>
          <a:bodyPr wrap="square" rtlCol="0">
            <a:spAutoFit/>
          </a:bodyPr>
          <a:lstStyle/>
          <a:p>
            <a:r>
              <a:rPr lang="en-US" sz="8000" b="1" dirty="0">
                <a:solidFill>
                  <a:srgbClr val="FF0000"/>
                </a:solidFill>
              </a:rPr>
              <a:t>PDR TABLE</a:t>
            </a:r>
          </a:p>
        </p:txBody>
      </p:sp>
    </p:spTree>
    <p:extLst>
      <p:ext uri="{BB962C8B-B14F-4D97-AF65-F5344CB8AC3E}">
        <p14:creationId xmlns:p14="http://schemas.microsoft.com/office/powerpoint/2010/main" val="2124929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C94E1AC-98D9-4E47-AC7E-0FD677F7BB76}"/>
              </a:ext>
            </a:extLst>
          </p:cNvPr>
          <p:cNvSpPr>
            <a:spLocks noGrp="1"/>
          </p:cNvSpPr>
          <p:nvPr>
            <p:ph type="title"/>
          </p:nvPr>
        </p:nvSpPr>
        <p:spPr/>
        <p:txBody>
          <a:bodyPr/>
          <a:lstStyle/>
          <a:p>
            <a:r>
              <a:rPr lang="en-US"/>
              <a:t>BACKUP – Simulink Model</a:t>
            </a:r>
          </a:p>
        </p:txBody>
      </p:sp>
      <p:sp>
        <p:nvSpPr>
          <p:cNvPr id="4" name="Slide Number Placeholder 3">
            <a:extLst>
              <a:ext uri="{FF2B5EF4-FFF2-40B4-BE49-F238E27FC236}">
                <a16:creationId xmlns:a16="http://schemas.microsoft.com/office/drawing/2014/main" id="{C65122B0-8C7E-4A5A-BE63-6E7FC4A165F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B0D5911-593C-4B7A-998F-6DBC76EF3BD7}" type="slidenum">
              <a:rPr kumimoji="0" lang="en-US" sz="800" b="0" i="0" u="none" strike="noStrike" kern="1200" cap="none" spc="0" normalizeH="0" baseline="0" noProof="0" smtClean="0">
                <a:ln>
                  <a:noFill/>
                </a:ln>
                <a:solidFill>
                  <a:prstClr val="black">
                    <a:tint val="75000"/>
                  </a:prstClr>
                </a:solidFill>
                <a:effectLst/>
                <a:uLnTx/>
                <a:uFillTx/>
                <a:latin typeface="Calibri"/>
                <a:ea typeface="ＭＳ Ｐゴシック" charset="0"/>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800" b="0" i="0" u="none" strike="noStrike" kern="1200" cap="none" spc="0" normalizeH="0" baseline="0" noProof="0">
              <a:ln>
                <a:noFill/>
              </a:ln>
              <a:solidFill>
                <a:prstClr val="black">
                  <a:tint val="75000"/>
                </a:prstClr>
              </a:solidFill>
              <a:effectLst/>
              <a:uLnTx/>
              <a:uFillTx/>
              <a:latin typeface="Calibri"/>
              <a:ea typeface="ＭＳ Ｐゴシック" charset="0"/>
            </a:endParaRPr>
          </a:p>
        </p:txBody>
      </p:sp>
      <p:grpSp>
        <p:nvGrpSpPr>
          <p:cNvPr id="10" name="Group 9">
            <a:extLst>
              <a:ext uri="{FF2B5EF4-FFF2-40B4-BE49-F238E27FC236}">
                <a16:creationId xmlns:a16="http://schemas.microsoft.com/office/drawing/2014/main" id="{3A7A59FB-3EFB-46D5-9B61-CF35783E1057}"/>
              </a:ext>
            </a:extLst>
          </p:cNvPr>
          <p:cNvGrpSpPr/>
          <p:nvPr/>
        </p:nvGrpSpPr>
        <p:grpSpPr>
          <a:xfrm>
            <a:off x="635433" y="876771"/>
            <a:ext cx="10566036" cy="3902499"/>
            <a:chOff x="1037125" y="966361"/>
            <a:chExt cx="10117749" cy="3736927"/>
          </a:xfrm>
        </p:grpSpPr>
        <p:pic>
          <p:nvPicPr>
            <p:cNvPr id="5" name="Picture 4">
              <a:extLst>
                <a:ext uri="{FF2B5EF4-FFF2-40B4-BE49-F238E27FC236}">
                  <a16:creationId xmlns:a16="http://schemas.microsoft.com/office/drawing/2014/main" id="{7D893FCE-B9FF-4590-A9F2-95A86959F205}"/>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1037125" y="966361"/>
              <a:ext cx="10117749" cy="3736927"/>
            </a:xfrm>
            <a:prstGeom prst="rect">
              <a:avLst/>
            </a:prstGeom>
          </p:spPr>
        </p:pic>
        <p:sp>
          <p:nvSpPr>
            <p:cNvPr id="6" name="TextBox 5">
              <a:extLst>
                <a:ext uri="{FF2B5EF4-FFF2-40B4-BE49-F238E27FC236}">
                  <a16:creationId xmlns:a16="http://schemas.microsoft.com/office/drawing/2014/main" id="{8A4272A0-B271-4A1F-9363-8842E264C77C}"/>
                </a:ext>
              </a:extLst>
            </p:cNvPr>
            <p:cNvSpPr txBox="1"/>
            <p:nvPr/>
          </p:nvSpPr>
          <p:spPr>
            <a:xfrm>
              <a:off x="4901487" y="2511660"/>
              <a:ext cx="947695"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prstClr val="black"/>
                  </a:solidFill>
                  <a:effectLst/>
                  <a:uLnTx/>
                  <a:uFillTx/>
                  <a:latin typeface="Calibri"/>
                  <a:ea typeface="+mn-ea"/>
                  <a:cs typeface="+mn-cs"/>
                </a:rPr>
                <a:t>SCU</a:t>
              </a:r>
            </a:p>
          </p:txBody>
        </p:sp>
      </p:grpSp>
      <p:grpSp>
        <p:nvGrpSpPr>
          <p:cNvPr id="9" name="Group 8">
            <a:extLst>
              <a:ext uri="{FF2B5EF4-FFF2-40B4-BE49-F238E27FC236}">
                <a16:creationId xmlns:a16="http://schemas.microsoft.com/office/drawing/2014/main" id="{563CCA38-DF49-4E0C-B018-BB51EA15062A}"/>
              </a:ext>
            </a:extLst>
          </p:cNvPr>
          <p:cNvGrpSpPr/>
          <p:nvPr/>
        </p:nvGrpSpPr>
        <p:grpSpPr>
          <a:xfrm>
            <a:off x="1317240" y="4732676"/>
            <a:ext cx="9212921" cy="2010469"/>
            <a:chOff x="1328888" y="4779270"/>
            <a:chExt cx="9212921" cy="2010469"/>
          </a:xfrm>
        </p:grpSpPr>
        <p:pic>
          <p:nvPicPr>
            <p:cNvPr id="7" name="Picture 6">
              <a:extLst>
                <a:ext uri="{FF2B5EF4-FFF2-40B4-BE49-F238E27FC236}">
                  <a16:creationId xmlns:a16="http://schemas.microsoft.com/office/drawing/2014/main" id="{DFB99551-250D-46C4-B5EB-1ED2C071DF94}"/>
                </a:ext>
              </a:extLst>
            </p:cNvPr>
            <p:cNvPicPr>
              <a:picLocks noChangeAspect="1"/>
            </p:cNvPicPr>
            <p:nvPr/>
          </p:nvPicPr>
          <p:blipFill>
            <a:blip r:embed="rId3">
              <a:clrChange>
                <a:clrFrom>
                  <a:srgbClr val="F6F6F6"/>
                </a:clrFrom>
                <a:clrTo>
                  <a:srgbClr val="F6F6F6">
                    <a:alpha val="0"/>
                  </a:srgbClr>
                </a:clrTo>
              </a:clrChange>
            </a:blip>
            <a:stretch>
              <a:fillRect/>
            </a:stretch>
          </p:blipFill>
          <p:spPr>
            <a:xfrm>
              <a:off x="1328888" y="4779270"/>
              <a:ext cx="9212921" cy="2010469"/>
            </a:xfrm>
            <a:prstGeom prst="rect">
              <a:avLst/>
            </a:prstGeom>
          </p:spPr>
        </p:pic>
        <p:sp>
          <p:nvSpPr>
            <p:cNvPr id="8" name="TextBox 7">
              <a:extLst>
                <a:ext uri="{FF2B5EF4-FFF2-40B4-BE49-F238E27FC236}">
                  <a16:creationId xmlns:a16="http://schemas.microsoft.com/office/drawing/2014/main" id="{53E6E178-FF7A-4066-A0A9-707E766A2F7A}"/>
                </a:ext>
              </a:extLst>
            </p:cNvPr>
            <p:cNvSpPr txBox="1"/>
            <p:nvPr/>
          </p:nvSpPr>
          <p:spPr>
            <a:xfrm>
              <a:off x="1452013" y="6247814"/>
              <a:ext cx="2480359"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Calibri"/>
                  <a:ea typeface="+mn-ea"/>
                  <a:cs typeface="+mn-cs"/>
                </a:rPr>
                <a:t>Servo Control Unit</a:t>
              </a:r>
            </a:p>
          </p:txBody>
        </p:sp>
      </p:grpSp>
      <p:sp>
        <p:nvSpPr>
          <p:cNvPr id="11" name="Rectangle 10">
            <a:extLst>
              <a:ext uri="{FF2B5EF4-FFF2-40B4-BE49-F238E27FC236}">
                <a16:creationId xmlns:a16="http://schemas.microsoft.com/office/drawing/2014/main" id="{D61A1483-176A-4036-B010-2A854C820A85}"/>
              </a:ext>
            </a:extLst>
          </p:cNvPr>
          <p:cNvSpPr/>
          <p:nvPr/>
        </p:nvSpPr>
        <p:spPr bwMode="auto">
          <a:xfrm>
            <a:off x="1317240" y="4886507"/>
            <a:ext cx="9282811" cy="1903232"/>
          </a:xfrm>
          <a:prstGeom prst="rect">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Narrow" pitchFamily="34" charset="0"/>
              <a:ea typeface="+mn-ea"/>
              <a:cs typeface="+mn-cs"/>
            </a:endParaRPr>
          </a:p>
        </p:txBody>
      </p:sp>
      <p:sp>
        <p:nvSpPr>
          <p:cNvPr id="2" name="TextBox 1">
            <a:extLst>
              <a:ext uri="{FF2B5EF4-FFF2-40B4-BE49-F238E27FC236}">
                <a16:creationId xmlns:a16="http://schemas.microsoft.com/office/drawing/2014/main" id="{0D70B45F-95C1-B8D6-722E-DBA1425AB34D}"/>
              </a:ext>
            </a:extLst>
          </p:cNvPr>
          <p:cNvSpPr txBox="1"/>
          <p:nvPr/>
        </p:nvSpPr>
        <p:spPr>
          <a:xfrm rot="20778849">
            <a:off x="2942276" y="1811181"/>
            <a:ext cx="5312701" cy="1323439"/>
          </a:xfrm>
          <a:prstGeom prst="rect">
            <a:avLst/>
          </a:prstGeom>
          <a:noFill/>
        </p:spPr>
        <p:txBody>
          <a:bodyPr wrap="square" rtlCol="0">
            <a:spAutoFit/>
          </a:bodyPr>
          <a:lstStyle/>
          <a:p>
            <a:r>
              <a:rPr lang="en-US" sz="8000" b="1" dirty="0">
                <a:solidFill>
                  <a:srgbClr val="FF0000"/>
                </a:solidFill>
              </a:rPr>
              <a:t>PDR MODEL</a:t>
            </a:r>
          </a:p>
        </p:txBody>
      </p:sp>
    </p:spTree>
    <p:extLst>
      <p:ext uri="{BB962C8B-B14F-4D97-AF65-F5344CB8AC3E}">
        <p14:creationId xmlns:p14="http://schemas.microsoft.com/office/powerpoint/2010/main" val="1224084326"/>
      </p:ext>
    </p:extLst>
  </p:cSld>
  <p:clrMapOvr>
    <a:masterClrMapping/>
  </p:clrMapOvr>
</p:sld>
</file>

<file path=ppt/theme/theme1.xml><?xml version="1.0" encoding="utf-8"?>
<a:theme xmlns:a="http://schemas.openxmlformats.org/drawingml/2006/main" name="MSR SRL Thermal Theme">
  <a:themeElements>
    <a:clrScheme name="Custom 1">
      <a:dk1>
        <a:srgbClr val="000000"/>
      </a:dk1>
      <a:lt1>
        <a:srgbClr val="FFFFFF"/>
      </a:lt1>
      <a:dk2>
        <a:srgbClr val="44546A"/>
      </a:dk2>
      <a:lt2>
        <a:srgbClr val="E7E6E6"/>
      </a:lt2>
      <a:accent1>
        <a:srgbClr val="053147"/>
      </a:accent1>
      <a:accent2>
        <a:srgbClr val="093C8E"/>
      </a:accent2>
      <a:accent3>
        <a:srgbClr val="0B3C90"/>
      </a:accent3>
      <a:accent4>
        <a:srgbClr val="04AC69"/>
      </a:accent4>
      <a:accent5>
        <a:srgbClr val="D00000"/>
      </a:accent5>
      <a:accent6>
        <a:srgbClr val="FE6E1C"/>
      </a:accent6>
      <a:hlink>
        <a:srgbClr val="347DF2"/>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algn="l">
          <a:defRPr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JPL-MFO">
  <a:themeElements>
    <a:clrScheme name="Hardcover">
      <a:dk1>
        <a:sysClr val="windowText" lastClr="000000"/>
      </a:dk1>
      <a:lt1>
        <a:sysClr val="window" lastClr="FFFFFF"/>
      </a:lt1>
      <a:dk2>
        <a:srgbClr val="895D1D"/>
      </a:dk2>
      <a:lt2>
        <a:srgbClr val="ECE9C6"/>
      </a:lt2>
      <a:accent1>
        <a:srgbClr val="873624"/>
      </a:accent1>
      <a:accent2>
        <a:srgbClr val="D6862D"/>
      </a:accent2>
      <a:accent3>
        <a:srgbClr val="D0BE40"/>
      </a:accent3>
      <a:accent4>
        <a:srgbClr val="877F6C"/>
      </a:accent4>
      <a:accent5>
        <a:srgbClr val="972109"/>
      </a:accent5>
      <a:accent6>
        <a:srgbClr val="AEB795"/>
      </a:accent6>
      <a:hlink>
        <a:srgbClr val="CC9900"/>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cap="flat" cmpd="sng" algn="ctr">
          <a:solidFill>
            <a:schemeClr val="accent1"/>
          </a:solidFill>
          <a:prstDash val="solid"/>
          <a:round/>
          <a:headEnd type="none" w="med" len="med"/>
          <a:tailEnd type="none" w="med" len="med"/>
        </a:ln>
        <a:effectLst/>
      </a:spPr>
      <a:bodyPr vert="horz" wrap="square" lIns="91440" tIns="45720" rIns="91440" bIns="45720" numCol="1" rtlCol="0"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sz="1200" b="0" i="0" u="none" strike="noStrike" cap="none" normalizeH="0" baseline="0" dirty="0" smtClean="0">
            <a:ln>
              <a:noFill/>
            </a:ln>
            <a:solidFill>
              <a:schemeClr val="tx1"/>
            </a:solidFill>
            <a:effectLst/>
            <a:latin typeface="Arial Narrow" pitchFamily="34" charset="0"/>
          </a:defRPr>
        </a:defPPr>
      </a:lstStyle>
    </a:spDef>
    <a:lnDef>
      <a:spPr bwMode="auto">
        <a:noFill/>
        <a:ln w="25400" cap="flat" cmpd="sng" algn="ctr">
          <a:solidFill>
            <a:schemeClr val="accent1"/>
          </a:solidFill>
          <a:prstDash val="solid"/>
          <a:round/>
          <a:headEnd type="none" w="med" len="med"/>
          <a:tailEnd type="none" w="med" len="med"/>
        </a:ln>
        <a:effectLst/>
      </a:spPr>
      <a:bodyPr/>
      <a:lstStyle/>
    </a:lnDef>
  </a:objectDefaults>
  <a:extraClrSchemeLst>
    <a:extraClrScheme>
      <a:clrScheme name="MSL_CDR_PPT_Template_V5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MSL_CDR_PPT_Template_V5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MSL_CDR_PPT_Template_V5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MSL_CDR_PPT_Template_V5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MSL_CDR_PPT_Template_V5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MSL_CDR_PPT_Template_V5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MSL_CDR_PPT_Template_V5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MSL_CDR_PPT_Template_V5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MSL_CDR_PPT_Template_V5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MSL_CDR_PPT_Template_V5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MSL_CDR_PPT_Template_V5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MSL_CDR_PPT_Template_V5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59BC2E982C6CC4E93915529A9DC6163" ma:contentTypeVersion="2" ma:contentTypeDescription="Create a new document." ma:contentTypeScope="" ma:versionID="a453ff8c88f14ff05065b471dda84c95">
  <xsd:schema xmlns:xsd="http://www.w3.org/2001/XMLSchema" xmlns:xs="http://www.w3.org/2001/XMLSchema" xmlns:p="http://schemas.microsoft.com/office/2006/metadata/properties" xmlns:ns2="c50f00e8-08d2-4fcd-8835-d0a2723971c9" targetNamespace="http://schemas.microsoft.com/office/2006/metadata/properties" ma:root="true" ma:fieldsID="c54cb3cc351574ad75aefd3cf057920c" ns2:_="">
    <xsd:import namespace="c50f00e8-08d2-4fcd-8835-d0a2723971c9"/>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50f00e8-08d2-4fcd-8835-d0a2723971c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4669DF6-A632-4009-9F78-6DA88FF61F95}">
  <ds:schemaRefs>
    <ds:schemaRef ds:uri="http://schemas.microsoft.com/office/2006/metadata/properties"/>
    <ds:schemaRef ds:uri="http://purl.org/dc/elements/1.1/"/>
    <ds:schemaRef ds:uri="http://purl.org/dc/dcmitype/"/>
    <ds:schemaRef ds:uri="c50f00e8-08d2-4fcd-8835-d0a2723971c9"/>
    <ds:schemaRef ds:uri="http://www.w3.org/XML/1998/namespace"/>
    <ds:schemaRef ds:uri="http://schemas.openxmlformats.org/package/2006/metadata/core-properties"/>
    <ds:schemaRef ds:uri="http://purl.org/dc/terms/"/>
    <ds:schemaRef ds:uri="http://schemas.microsoft.com/office/2006/documentManagement/types"/>
    <ds:schemaRef ds:uri="http://schemas.microsoft.com/office/infopath/2007/PartnerControls"/>
  </ds:schemaRefs>
</ds:datastoreItem>
</file>

<file path=customXml/itemProps2.xml><?xml version="1.0" encoding="utf-8"?>
<ds:datastoreItem xmlns:ds="http://schemas.openxmlformats.org/officeDocument/2006/customXml" ds:itemID="{FFD51EFE-CEC9-4C20-92B7-9CCF67417691}">
  <ds:schemaRefs>
    <ds:schemaRef ds:uri="c50f00e8-08d2-4fcd-8835-d0a2723971c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C802D593-E41D-4AAB-B2B8-74EA8ED190C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1654</TotalTime>
  <Words>3427</Words>
  <Application>Microsoft Office PowerPoint</Application>
  <PresentationFormat>Widescreen</PresentationFormat>
  <Paragraphs>399</Paragraphs>
  <Slides>21</Slides>
  <Notes>3</Notes>
  <HiddenSlides>0</HiddenSlides>
  <MMClips>1</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21</vt:i4>
      </vt:variant>
    </vt:vector>
  </HeadingPairs>
  <TitlesOfParts>
    <vt:vector size="34" baseType="lpstr">
      <vt:lpstr>Aptos</vt:lpstr>
      <vt:lpstr>Arial</vt:lpstr>
      <vt:lpstr>Arial Narrow</vt:lpstr>
      <vt:lpstr>Calibri</vt:lpstr>
      <vt:lpstr>Cambria Math</vt:lpstr>
      <vt:lpstr>Helvetica Light</vt:lpstr>
      <vt:lpstr>Helvetica Neue</vt:lpstr>
      <vt:lpstr>Helvetica Neue Light</vt:lpstr>
      <vt:lpstr>Helvetica Neue Thin</vt:lpstr>
      <vt:lpstr>Inter Regular</vt:lpstr>
      <vt:lpstr>Microgramma D Extended</vt:lpstr>
      <vt:lpstr>MSR SRL Thermal Theme</vt:lpstr>
      <vt:lpstr>JPL-MFO</vt:lpstr>
      <vt:lpstr>ICM ConOps &amp; Budgets Update</vt:lpstr>
      <vt:lpstr>Contents: ICM ConOps &amp; Budgets Update</vt:lpstr>
      <vt:lpstr>Joel Model Progress</vt:lpstr>
      <vt:lpstr>Joel Model Progress</vt:lpstr>
      <vt:lpstr>Preston Model Progress</vt:lpstr>
      <vt:lpstr>Current Budget Status: RGA-OS Insertion Sleeve 7</vt:lpstr>
      <vt:lpstr>Asimov C6 Agile Initial Results</vt:lpstr>
      <vt:lpstr>Model Validation Plan thru TTR</vt:lpstr>
      <vt:lpstr>Updated Peg-in-Hole ConOps</vt:lpstr>
      <vt:lpstr>Updated Peg-in-Hole ConOps: New Behavior: Chamfer Find</vt:lpstr>
      <vt:lpstr>High Level Summary</vt:lpstr>
      <vt:lpstr>Backup</vt:lpstr>
      <vt:lpstr>Operational Solution: New Capability: Chamfer Find</vt:lpstr>
      <vt:lpstr>Joseph C’s take on how to do this *mostly* operationally</vt:lpstr>
      <vt:lpstr>Joel Shields Actuator Model</vt:lpstr>
      <vt:lpstr>Velocity Command Step Input</vt:lpstr>
      <vt:lpstr>Position Command Step Input</vt:lpstr>
      <vt:lpstr>RGA-OS Insertion</vt:lpstr>
      <vt:lpstr>Active Compliance – Tolerable Control Rate</vt:lpstr>
      <vt:lpstr>Simulink Results</vt:lpstr>
      <vt:lpstr>BACKUP – Simulink Model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Bowkett, Joseph J (347G)</cp:lastModifiedBy>
  <cp:revision>67</cp:revision>
  <dcterms:created xsi:type="dcterms:W3CDTF">2022-06-15T17:56:49Z</dcterms:created>
  <dcterms:modified xsi:type="dcterms:W3CDTF">2023-12-08T02:44:49Z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0x010100359BC2E982C6CC4E93915529A9DC6163</vt:lpwstr>
  </property>
  <property fmtid="{D5CDD505-2E9C-101B-9397-08002B2CF9AE}" pid="3" name="MediaServiceImageTags">
    <vt:lpwstr/>
  </property>
  <property fmtid="{D5CDD505-2E9C-101B-9397-08002B2CF9AE}" pid="4" name="_dlc_DocIdItemGuid">
    <vt:lpwstr>18d7a7f9-8841-4d02-8660-31d7f93dc83a</vt:lpwstr>
  </property>
</Properties>
</file>